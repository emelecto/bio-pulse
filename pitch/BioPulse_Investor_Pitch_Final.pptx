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y="6858000" cx="12192000"/>
  <p:notesSz cx="6858000" cy="12192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8" roundtripDataSignature="AMtx7miK4d6ySPOccLmAQncfElpBZuCas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15BA76EF-C4B4-4CDB-B27F-99C1A2F30C75}">
  <a:tblStyle styleId="{15BA76EF-C4B4-4CDB-B27F-99C1A2F30C75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18" Type="http://customschemas.google.com/relationships/presentationmetadata" Target="meta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" name="Google Shape;14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" name="Google Shape;15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3" name="Google Shape;33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" name="Google Shape;34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1" name="Google Shape;61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" name="Google Shape;62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8" name="Google Shape;88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" name="Google Shape;89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8" name="Google Shape;128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4" name="Google Shape;154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" name="Google Shape;155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6" name="Google Shape;186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" name="Google Shape;187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3" name="Google Shape;223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4" name="Google Shape;224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7" name="Google Shape;257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8" name="Google Shape;258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1" name="Google Shape;271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2" name="Google Shape;272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4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6" name="Google Shape;306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7" name="Google Shape;307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9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41" name="Google Shape;341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2" name="Google Shape;342;p1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bg>
      <p:bgPr>
        <a:solidFill>
          <a:srgbClr val="050A10"/>
        </a:solidFill>
      </p:bgPr>
    </p:bg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0.png"/><Relationship Id="rId4" Type="http://schemas.openxmlformats.org/officeDocument/2006/relationships/image" Target="../media/image1.png"/><Relationship Id="rId5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5.png"/><Relationship Id="rId4" Type="http://schemas.openxmlformats.org/officeDocument/2006/relationships/image" Target="../media/image6.png"/><Relationship Id="rId5" Type="http://schemas.openxmlformats.org/officeDocument/2006/relationships/image" Target="../media/image4.png"/><Relationship Id="rId6" Type="http://schemas.openxmlformats.org/officeDocument/2006/relationships/image" Target="../media/image8.png"/><Relationship Id="rId7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5.png"/><Relationship Id="rId4" Type="http://schemas.openxmlformats.org/officeDocument/2006/relationships/image" Target="../media/image5.png"/><Relationship Id="rId5" Type="http://schemas.openxmlformats.org/officeDocument/2006/relationships/image" Target="../media/image1.png"/><Relationship Id="rId6" Type="http://schemas.openxmlformats.org/officeDocument/2006/relationships/image" Target="../media/image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5.png"/><Relationship Id="rId4" Type="http://schemas.openxmlformats.org/officeDocument/2006/relationships/image" Target="../media/image7.png"/><Relationship Id="rId9" Type="http://schemas.openxmlformats.org/officeDocument/2006/relationships/image" Target="../media/image1.png"/><Relationship Id="rId5" Type="http://schemas.openxmlformats.org/officeDocument/2006/relationships/image" Target="../media/image10.png"/><Relationship Id="rId6" Type="http://schemas.openxmlformats.org/officeDocument/2006/relationships/image" Target="../media/image9.png"/><Relationship Id="rId7" Type="http://schemas.openxmlformats.org/officeDocument/2006/relationships/image" Target="../media/image24.png"/><Relationship Id="rId8" Type="http://schemas.openxmlformats.org/officeDocument/2006/relationships/image" Target="../media/image1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5.png"/><Relationship Id="rId4" Type="http://schemas.openxmlformats.org/officeDocument/2006/relationships/image" Target="../media/image1.png"/><Relationship Id="rId5" Type="http://schemas.openxmlformats.org/officeDocument/2006/relationships/image" Target="../media/image35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5.png"/><Relationship Id="rId4" Type="http://schemas.openxmlformats.org/officeDocument/2006/relationships/image" Target="../media/image16.png"/><Relationship Id="rId5" Type="http://schemas.openxmlformats.org/officeDocument/2006/relationships/image" Target="../media/image11.png"/><Relationship Id="rId6" Type="http://schemas.openxmlformats.org/officeDocument/2006/relationships/image" Target="../media/image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5.png"/><Relationship Id="rId4" Type="http://schemas.openxmlformats.org/officeDocument/2006/relationships/image" Target="../media/image7.png"/><Relationship Id="rId9" Type="http://schemas.openxmlformats.org/officeDocument/2006/relationships/image" Target="../media/image1.png"/><Relationship Id="rId5" Type="http://schemas.openxmlformats.org/officeDocument/2006/relationships/image" Target="../media/image19.png"/><Relationship Id="rId6" Type="http://schemas.openxmlformats.org/officeDocument/2006/relationships/image" Target="../media/image14.png"/><Relationship Id="rId7" Type="http://schemas.openxmlformats.org/officeDocument/2006/relationships/image" Target="../media/image25.png"/><Relationship Id="rId8" Type="http://schemas.openxmlformats.org/officeDocument/2006/relationships/image" Target="../media/image2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5.png"/><Relationship Id="rId4" Type="http://schemas.openxmlformats.org/officeDocument/2006/relationships/image" Target="../media/image18.png"/><Relationship Id="rId5" Type="http://schemas.openxmlformats.org/officeDocument/2006/relationships/image" Target="../media/image27.png"/><Relationship Id="rId6" Type="http://schemas.openxmlformats.org/officeDocument/2006/relationships/image" Target="../media/image29.png"/><Relationship Id="rId7" Type="http://schemas.openxmlformats.org/officeDocument/2006/relationships/image" Target="../media/image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5.png"/><Relationship Id="rId4" Type="http://schemas.openxmlformats.org/officeDocument/2006/relationships/image" Target="../media/image1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5.png"/><Relationship Id="rId4" Type="http://schemas.openxmlformats.org/officeDocument/2006/relationships/image" Target="../media/image1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5.png"/><Relationship Id="rId4" Type="http://schemas.openxmlformats.org/officeDocument/2006/relationships/image" Target="../media/image37.png"/><Relationship Id="rId9" Type="http://schemas.openxmlformats.org/officeDocument/2006/relationships/image" Target="../media/image1.png"/><Relationship Id="rId5" Type="http://schemas.openxmlformats.org/officeDocument/2006/relationships/image" Target="../media/image36.png"/><Relationship Id="rId6" Type="http://schemas.openxmlformats.org/officeDocument/2006/relationships/image" Target="../media/image7.png"/><Relationship Id="rId7" Type="http://schemas.openxmlformats.org/officeDocument/2006/relationships/image" Target="../media/image16.png"/><Relationship Id="rId8" Type="http://schemas.openxmlformats.org/officeDocument/2006/relationships/image" Target="../media/image38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0.png"/><Relationship Id="rId4" Type="http://schemas.openxmlformats.org/officeDocument/2006/relationships/image" Target="../media/image19.png"/><Relationship Id="rId5" Type="http://schemas.openxmlformats.org/officeDocument/2006/relationships/image" Target="../media/image39.png"/><Relationship Id="rId6" Type="http://schemas.openxmlformats.org/officeDocument/2006/relationships/image" Target="../media/image18.png"/><Relationship Id="rId7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home/claude/biopulse_pitch/assets/bg_hero.png" id="17" name="Google Shape;17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1695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8" name="Google Shape;18;p1"/>
          <p:cNvSpPr/>
          <p:nvPr/>
        </p:nvSpPr>
        <p:spPr>
          <a:xfrm>
            <a:off x="594355" y="1177245"/>
            <a:ext cx="54864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F5D4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00F5D4"/>
                </a:solidFill>
                <a:latin typeface="Calibri"/>
                <a:ea typeface="Calibri"/>
                <a:cs typeface="Calibri"/>
                <a:sym typeface="Calibri"/>
              </a:rPr>
              <a:t>PITCH DE INVERSIÓN · 2026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Google Shape;19;p1"/>
          <p:cNvSpPr/>
          <p:nvPr/>
        </p:nvSpPr>
        <p:spPr>
          <a:xfrm>
            <a:off x="594360" y="1783080"/>
            <a:ext cx="704088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3F7FA"/>
              </a:buClr>
              <a:buSzPts val="4000"/>
              <a:buFont typeface="Cambria"/>
              <a:buNone/>
            </a:pPr>
            <a:r>
              <a:rPr b="1" i="0" lang="en-US" sz="4000" u="none" cap="none" strike="noStrike">
                <a:solidFill>
                  <a:srgbClr val="F3F7FA"/>
                </a:solidFill>
                <a:latin typeface="Cambria"/>
                <a:ea typeface="Cambria"/>
                <a:cs typeface="Cambria"/>
                <a:sym typeface="Cambria"/>
              </a:rPr>
              <a:t>El laboratorio de recuperación</a:t>
            </a:r>
            <a:endParaRPr b="0" i="0" sz="4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3F7FA"/>
              </a:buClr>
              <a:buSzPts val="4000"/>
              <a:buFont typeface="Cambria"/>
              <a:buNone/>
            </a:pPr>
            <a:r>
              <a:rPr b="1" i="0" lang="en-US" sz="4000" u="none" cap="none" strike="noStrike">
                <a:solidFill>
                  <a:srgbClr val="F3F7FA"/>
                </a:solidFill>
                <a:latin typeface="Cambria"/>
                <a:ea typeface="Cambria"/>
                <a:cs typeface="Cambria"/>
                <a:sym typeface="Cambria"/>
              </a:rPr>
              <a:t>que le falta a tu wearable.</a:t>
            </a:r>
            <a:endParaRPr b="0" i="0" sz="4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" name="Google Shape;20;p1"/>
          <p:cNvSpPr/>
          <p:nvPr/>
        </p:nvSpPr>
        <p:spPr>
          <a:xfrm>
            <a:off x="640080" y="3537628"/>
            <a:ext cx="6126600" cy="82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41935"/>
              </a:lnSpc>
              <a:spcBef>
                <a:spcPts val="0"/>
              </a:spcBef>
              <a:spcAft>
                <a:spcPts val="0"/>
              </a:spcAft>
              <a:buClr>
                <a:srgbClr val="91A8BE"/>
              </a:buClr>
              <a:buSzPts val="1550"/>
              <a:buFont typeface="Calibri"/>
              <a:buNone/>
            </a:pPr>
            <a:r>
              <a:rPr b="0" i="0" lang="en-US" sz="1550" u="none" cap="none" strike="noStrike">
                <a:solidFill>
                  <a:srgbClr val="91A8BE"/>
                </a:solidFill>
                <a:latin typeface="Calibri"/>
                <a:ea typeface="Calibri"/>
                <a:cs typeface="Calibri"/>
                <a:sym typeface="Calibri"/>
              </a:rPr>
              <a:t>Ciencia de datos real sobre tu sueño, HRV y energía — con un coach IA que te dice qué hacer mañana.</a:t>
            </a:r>
            <a:endParaRPr b="0" i="0" sz="1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" name="Google Shape;21;p1"/>
          <p:cNvSpPr/>
          <p:nvPr/>
        </p:nvSpPr>
        <p:spPr>
          <a:xfrm>
            <a:off x="640080" y="4434840"/>
            <a:ext cx="18288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F5D4"/>
              </a:buClr>
              <a:buSzPts val="2600"/>
              <a:buFont typeface="Courier New"/>
              <a:buNone/>
            </a:pPr>
            <a:r>
              <a:rPr b="1" i="0" lang="en-US" sz="2600" u="none" cap="none" strike="noStrike">
                <a:solidFill>
                  <a:srgbClr val="00F5D4"/>
                </a:solidFill>
                <a:latin typeface="Courier New"/>
                <a:ea typeface="Courier New"/>
                <a:cs typeface="Courier New"/>
                <a:sym typeface="Courier New"/>
              </a:rPr>
              <a:t>150K+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" name="Google Shape;22;p1"/>
          <p:cNvSpPr/>
          <p:nvPr/>
        </p:nvSpPr>
        <p:spPr>
          <a:xfrm>
            <a:off x="640080" y="4956048"/>
            <a:ext cx="18288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3809"/>
              </a:lnSpc>
              <a:spcBef>
                <a:spcPts val="0"/>
              </a:spcBef>
              <a:spcAft>
                <a:spcPts val="0"/>
              </a:spcAft>
              <a:buClr>
                <a:srgbClr val="91A8BE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91A8BE"/>
                </a:solidFill>
                <a:latin typeface="Calibri"/>
                <a:ea typeface="Calibri"/>
                <a:cs typeface="Calibri"/>
                <a:sym typeface="Calibri"/>
              </a:rPr>
              <a:t>registros reales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3809"/>
              </a:lnSpc>
              <a:spcBef>
                <a:spcPts val="0"/>
              </a:spcBef>
              <a:spcAft>
                <a:spcPts val="0"/>
              </a:spcAft>
              <a:buClr>
                <a:srgbClr val="91A8BE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91A8BE"/>
                </a:solidFill>
                <a:latin typeface="Calibri"/>
                <a:ea typeface="Calibri"/>
                <a:cs typeface="Calibri"/>
                <a:sym typeface="Calibri"/>
              </a:rPr>
              <a:t>de Whoop analizados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" name="Google Shape;23;p1"/>
          <p:cNvSpPr/>
          <p:nvPr/>
        </p:nvSpPr>
        <p:spPr>
          <a:xfrm>
            <a:off x="2606040" y="4434840"/>
            <a:ext cx="18288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F5D4"/>
              </a:buClr>
              <a:buSzPts val="2600"/>
              <a:buFont typeface="Courier New"/>
              <a:buNone/>
            </a:pPr>
            <a:r>
              <a:rPr b="1" i="0" lang="en-US" sz="2600" u="none" cap="none" strike="noStrike">
                <a:solidFill>
                  <a:srgbClr val="00F5D4"/>
                </a:solidFill>
                <a:latin typeface="Courier New"/>
                <a:ea typeface="Courier New"/>
                <a:cs typeface="Courier New"/>
                <a:sym typeface="Courier New"/>
              </a:rPr>
              <a:t>$0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" name="Google Shape;24;p1"/>
          <p:cNvSpPr/>
          <p:nvPr/>
        </p:nvSpPr>
        <p:spPr>
          <a:xfrm>
            <a:off x="2606040" y="4956048"/>
            <a:ext cx="18288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3809"/>
              </a:lnSpc>
              <a:spcBef>
                <a:spcPts val="0"/>
              </a:spcBef>
              <a:spcAft>
                <a:spcPts val="0"/>
              </a:spcAft>
              <a:buClr>
                <a:srgbClr val="91A8BE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91A8BE"/>
                </a:solidFill>
                <a:latin typeface="Calibri"/>
                <a:ea typeface="Calibri"/>
                <a:cs typeface="Calibri"/>
                <a:sym typeface="Calibri"/>
              </a:rPr>
              <a:t>costo para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3809"/>
              </a:lnSpc>
              <a:spcBef>
                <a:spcPts val="0"/>
              </a:spcBef>
              <a:spcAft>
                <a:spcPts val="0"/>
              </a:spcAft>
              <a:buClr>
                <a:srgbClr val="91A8BE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91A8BE"/>
                </a:solidFill>
                <a:latin typeface="Calibri"/>
                <a:ea typeface="Calibri"/>
                <a:cs typeface="Calibri"/>
                <a:sym typeface="Calibri"/>
              </a:rPr>
              <a:t>el usuario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" name="Google Shape;25;p1"/>
          <p:cNvSpPr/>
          <p:nvPr/>
        </p:nvSpPr>
        <p:spPr>
          <a:xfrm>
            <a:off x="4572000" y="4434840"/>
            <a:ext cx="18288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F5D4"/>
              </a:buClr>
              <a:buSzPts val="2600"/>
              <a:buFont typeface="Courier New"/>
              <a:buNone/>
            </a:pPr>
            <a:r>
              <a:rPr b="1" i="0" lang="en-US" sz="2600" u="none" cap="none" strike="noStrike">
                <a:solidFill>
                  <a:srgbClr val="00F5D4"/>
                </a:solidFill>
                <a:latin typeface="Courier New"/>
                <a:ea typeface="Courier New"/>
                <a:cs typeface="Courier New"/>
                <a:sym typeface="Courier New"/>
              </a:rPr>
              <a:t>MVP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" name="Google Shape;26;p1"/>
          <p:cNvSpPr/>
          <p:nvPr/>
        </p:nvSpPr>
        <p:spPr>
          <a:xfrm>
            <a:off x="4572000" y="4956048"/>
            <a:ext cx="18288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3809"/>
              </a:lnSpc>
              <a:spcBef>
                <a:spcPts val="0"/>
              </a:spcBef>
              <a:spcAft>
                <a:spcPts val="0"/>
              </a:spcAft>
              <a:buClr>
                <a:srgbClr val="91A8BE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91A8BE"/>
                </a:solidFill>
                <a:latin typeface="Calibri"/>
                <a:ea typeface="Calibri"/>
                <a:cs typeface="Calibri"/>
                <a:sym typeface="Calibri"/>
              </a:rPr>
              <a:t>en producción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3809"/>
              </a:lnSpc>
              <a:spcBef>
                <a:spcPts val="0"/>
              </a:spcBef>
              <a:spcAft>
                <a:spcPts val="0"/>
              </a:spcAft>
              <a:buClr>
                <a:srgbClr val="91A8BE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91A8BE"/>
                </a:solidFill>
                <a:latin typeface="Calibri"/>
                <a:ea typeface="Calibri"/>
                <a:cs typeface="Calibri"/>
                <a:sym typeface="Calibri"/>
              </a:rPr>
              <a:t>sobre Vercel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" name="Google Shape;27;p1"/>
          <p:cNvSpPr/>
          <p:nvPr/>
        </p:nvSpPr>
        <p:spPr>
          <a:xfrm>
            <a:off x="640080" y="6400800"/>
            <a:ext cx="4572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6728C"/>
              </a:buClr>
              <a:buSzPts val="900"/>
              <a:buFont typeface="Calibri"/>
              <a:buNone/>
            </a:pPr>
            <a:r>
              <a:rPr b="0" i="1" lang="en-US" sz="900" u="none" cap="none" strike="noStrike">
                <a:solidFill>
                  <a:srgbClr val="56728C"/>
                </a:solidFill>
                <a:latin typeface="Calibri"/>
                <a:ea typeface="Calibri"/>
                <a:cs typeface="Calibri"/>
                <a:sym typeface="Calibri"/>
              </a:rPr>
              <a:t>bio-pulse-six.vercel.app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claude/biopulse_pitch/assets/icons/activity_teal.png" id="28" name="Google Shape;28;p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3900" y="157748"/>
            <a:ext cx="237744" cy="237744"/>
          </a:xfrm>
          <a:prstGeom prst="rect">
            <a:avLst/>
          </a:prstGeom>
          <a:noFill/>
          <a:ln>
            <a:noFill/>
          </a:ln>
        </p:spPr>
      </p:pic>
      <p:sp>
        <p:nvSpPr>
          <p:cNvPr id="29" name="Google Shape;29;p1"/>
          <p:cNvSpPr/>
          <p:nvPr/>
        </p:nvSpPr>
        <p:spPr>
          <a:xfrm>
            <a:off x="386508" y="121172"/>
            <a:ext cx="2743200" cy="31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3F7FA"/>
              </a:buClr>
              <a:buSzPts val="1500"/>
              <a:buFont typeface="Cambria"/>
              <a:buNone/>
            </a:pPr>
            <a:r>
              <a:rPr b="1" i="0" lang="en-US" sz="1500" u="none" cap="none" strike="noStrike">
                <a:solidFill>
                  <a:srgbClr val="F3F7FA"/>
                </a:solidFill>
                <a:latin typeface="Cambria"/>
                <a:ea typeface="Cambria"/>
                <a:cs typeface="Cambria"/>
                <a:sym typeface="Cambria"/>
              </a:rPr>
              <a:t>BIOPULSE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0" name="Google Shape;30;p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951899" y="494624"/>
            <a:ext cx="2965175" cy="5868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home/claude/biopulse_pitch/assets/bg_content.png" id="36" name="Google Shape;36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1695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7" name="Google Shape;37;p2"/>
          <p:cNvSpPr/>
          <p:nvPr/>
        </p:nvSpPr>
        <p:spPr>
          <a:xfrm>
            <a:off x="640080" y="502920"/>
            <a:ext cx="73152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F5D4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00F5D4"/>
                </a:solidFill>
                <a:latin typeface="Calibri"/>
                <a:ea typeface="Calibri"/>
                <a:cs typeface="Calibri"/>
                <a:sym typeface="Calibri"/>
              </a:rPr>
              <a:t>EL PROBLEMA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" name="Google Shape;38;p2"/>
          <p:cNvSpPr/>
          <p:nvPr/>
        </p:nvSpPr>
        <p:spPr>
          <a:xfrm>
            <a:off x="640080" y="804672"/>
            <a:ext cx="1088136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F3F7FA"/>
              </a:buClr>
              <a:buSzPts val="2900"/>
              <a:buFont typeface="Cambria"/>
              <a:buNone/>
            </a:pPr>
            <a:r>
              <a:rPr b="1" i="0" lang="en-US" sz="2900" u="none" cap="none" strike="noStrike">
                <a:solidFill>
                  <a:srgbClr val="F3F7FA"/>
                </a:solidFill>
                <a:latin typeface="Cambria"/>
                <a:ea typeface="Cambria"/>
                <a:cs typeface="Cambria"/>
                <a:sym typeface="Cambria"/>
              </a:rPr>
              <a:t>Los wearables premium te venden un número.</a:t>
            </a:r>
            <a:endParaRPr b="0" i="0" sz="2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F3F7FA"/>
              </a:buClr>
              <a:buSzPts val="2900"/>
              <a:buFont typeface="Cambria"/>
              <a:buNone/>
            </a:pPr>
            <a:r>
              <a:rPr b="1" i="0" lang="en-US" sz="2900" u="none" cap="none" strike="noStrike">
                <a:solidFill>
                  <a:srgbClr val="F3F7FA"/>
                </a:solidFill>
                <a:latin typeface="Cambria"/>
                <a:ea typeface="Cambria"/>
                <a:cs typeface="Cambria"/>
                <a:sym typeface="Cambria"/>
              </a:rPr>
              <a:t>No una respuesta.</a:t>
            </a:r>
            <a:endParaRPr b="0" i="0" sz="2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" name="Google Shape;39;p2"/>
          <p:cNvSpPr/>
          <p:nvPr/>
        </p:nvSpPr>
        <p:spPr>
          <a:xfrm>
            <a:off x="640080" y="2148840"/>
            <a:ext cx="1088136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37931"/>
              </a:lnSpc>
              <a:spcBef>
                <a:spcPts val="0"/>
              </a:spcBef>
              <a:spcAft>
                <a:spcPts val="0"/>
              </a:spcAft>
              <a:buClr>
                <a:srgbClr val="91A8BE"/>
              </a:buClr>
              <a:buSzPts val="1450"/>
              <a:buFont typeface="Calibri"/>
              <a:buNone/>
            </a:pPr>
            <a:r>
              <a:rPr b="0" i="0" lang="en-US" sz="1450" u="none" cap="none" strike="noStrike">
                <a:solidFill>
                  <a:srgbClr val="91A8BE"/>
                </a:solidFill>
                <a:latin typeface="Calibri"/>
                <a:ea typeface="Calibri"/>
                <a:cs typeface="Calibri"/>
                <a:sym typeface="Calibri"/>
              </a:rPr>
              <a:t>Millones de personas usan Whoop, Oura o Apple Watch y terminan mirando un score que no saben interpretar — o pagando una suscripción cara para “quizás” entenderlo.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" name="Google Shape;40;p2"/>
          <p:cNvSpPr/>
          <p:nvPr/>
        </p:nvSpPr>
        <p:spPr>
          <a:xfrm>
            <a:off x="640080" y="3063240"/>
            <a:ext cx="3429000" cy="2834640"/>
          </a:xfrm>
          <a:prstGeom prst="roundRect">
            <a:avLst>
              <a:gd fmla="val 3871" name="adj"/>
            </a:avLst>
          </a:prstGeom>
          <a:solidFill>
            <a:srgbClr val="0D1B2A">
              <a:alpha val="81961"/>
            </a:srgbClr>
          </a:solidFill>
          <a:ln cap="flat" cmpd="sng" w="12700">
            <a:solidFill>
              <a:srgbClr val="1C304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38100">
              <a:srgbClr val="000000">
                <a:alpha val="3490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" name="Google Shape;41;p2"/>
          <p:cNvSpPr/>
          <p:nvPr/>
        </p:nvSpPr>
        <p:spPr>
          <a:xfrm>
            <a:off x="960120" y="3429000"/>
            <a:ext cx="658368" cy="658368"/>
          </a:xfrm>
          <a:prstGeom prst="ellipse">
            <a:avLst/>
          </a:prstGeom>
          <a:solidFill>
            <a:srgbClr val="0D1B2A">
              <a:alpha val="90196"/>
            </a:srgbClr>
          </a:solidFill>
          <a:ln cap="flat" cmpd="sng" w="12700">
            <a:solidFill>
              <a:srgbClr val="1C304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biopulse_pitch/assets/icons/dollarsign_rose.png" id="42" name="Google Shape;42;p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31296" y="3600176"/>
            <a:ext cx="316017" cy="316017"/>
          </a:xfrm>
          <a:prstGeom prst="rect">
            <a:avLst/>
          </a:prstGeom>
          <a:noFill/>
          <a:ln>
            <a:noFill/>
          </a:ln>
        </p:spPr>
      </p:pic>
      <p:sp>
        <p:nvSpPr>
          <p:cNvPr id="43" name="Google Shape;43;p2"/>
          <p:cNvSpPr/>
          <p:nvPr/>
        </p:nvSpPr>
        <p:spPr>
          <a:xfrm>
            <a:off x="960120" y="4297680"/>
            <a:ext cx="278892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7647"/>
              </a:lnSpc>
              <a:spcBef>
                <a:spcPts val="0"/>
              </a:spcBef>
              <a:spcAft>
                <a:spcPts val="0"/>
              </a:spcAft>
              <a:buClr>
                <a:srgbClr val="F3F7FA"/>
              </a:buClr>
              <a:buSzPts val="1700"/>
              <a:buFont typeface="Cambria"/>
              <a:buNone/>
            </a:pPr>
            <a:r>
              <a:rPr b="1" i="0" lang="en-US" sz="1700" u="none" cap="none" strike="noStrike">
                <a:solidFill>
                  <a:srgbClr val="F3F7FA"/>
                </a:solidFill>
                <a:latin typeface="Cambria"/>
                <a:ea typeface="Cambria"/>
                <a:cs typeface="Cambria"/>
                <a:sym typeface="Cambria"/>
              </a:rPr>
              <a:t>Suscripciones de $30+/mes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" name="Google Shape;44;p2"/>
          <p:cNvSpPr/>
          <p:nvPr/>
        </p:nvSpPr>
        <p:spPr>
          <a:xfrm>
            <a:off x="960120" y="4937760"/>
            <a:ext cx="2788920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36000"/>
              </a:lnSpc>
              <a:spcBef>
                <a:spcPts val="0"/>
              </a:spcBef>
              <a:spcAft>
                <a:spcPts val="0"/>
              </a:spcAft>
              <a:buClr>
                <a:srgbClr val="91A8BE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91A8BE"/>
                </a:solidFill>
                <a:latin typeface="Calibri"/>
                <a:ea typeface="Calibri"/>
                <a:cs typeface="Calibri"/>
                <a:sym typeface="Calibri"/>
              </a:rPr>
              <a:t>Whoop y Oura cobran mes a mes por leer tus propios datos biométricos.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" name="Google Shape;45;p2"/>
          <p:cNvSpPr/>
          <p:nvPr/>
        </p:nvSpPr>
        <p:spPr>
          <a:xfrm>
            <a:off x="4343400" y="3063240"/>
            <a:ext cx="3429000" cy="2834640"/>
          </a:xfrm>
          <a:prstGeom prst="roundRect">
            <a:avLst>
              <a:gd fmla="val 3871" name="adj"/>
            </a:avLst>
          </a:prstGeom>
          <a:solidFill>
            <a:srgbClr val="0D1B2A">
              <a:alpha val="81961"/>
            </a:srgbClr>
          </a:solidFill>
          <a:ln cap="flat" cmpd="sng" w="12700">
            <a:solidFill>
              <a:srgbClr val="1C304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38100">
              <a:srgbClr val="000000">
                <a:alpha val="3490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" name="Google Shape;46;p2"/>
          <p:cNvSpPr/>
          <p:nvPr/>
        </p:nvSpPr>
        <p:spPr>
          <a:xfrm>
            <a:off x="4663440" y="3429000"/>
            <a:ext cx="658368" cy="658368"/>
          </a:xfrm>
          <a:prstGeom prst="ellipse">
            <a:avLst/>
          </a:prstGeom>
          <a:solidFill>
            <a:srgbClr val="0D1B2A">
              <a:alpha val="90196"/>
            </a:srgbClr>
          </a:solidFill>
          <a:ln cap="flat" cmpd="sng" w="12700">
            <a:solidFill>
              <a:srgbClr val="1C304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biopulse_pitch/assets/icons/eyeoff_amber.png" id="47" name="Google Shape;47;p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834616" y="3600176"/>
            <a:ext cx="316017" cy="316017"/>
          </a:xfrm>
          <a:prstGeom prst="rect">
            <a:avLst/>
          </a:prstGeom>
          <a:noFill/>
          <a:ln>
            <a:noFill/>
          </a:ln>
        </p:spPr>
      </p:pic>
      <p:sp>
        <p:nvSpPr>
          <p:cNvPr id="48" name="Google Shape;48;p2"/>
          <p:cNvSpPr/>
          <p:nvPr/>
        </p:nvSpPr>
        <p:spPr>
          <a:xfrm>
            <a:off x="4663440" y="4297680"/>
            <a:ext cx="278892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7647"/>
              </a:lnSpc>
              <a:spcBef>
                <a:spcPts val="0"/>
              </a:spcBef>
              <a:spcAft>
                <a:spcPts val="0"/>
              </a:spcAft>
              <a:buClr>
                <a:srgbClr val="F3F7FA"/>
              </a:buClr>
              <a:buSzPts val="1700"/>
              <a:buFont typeface="Cambria"/>
              <a:buNone/>
            </a:pPr>
            <a:r>
              <a:rPr b="1" i="0" lang="en-US" sz="1700" u="none" cap="none" strike="noStrike">
                <a:solidFill>
                  <a:srgbClr val="F3F7FA"/>
                </a:solidFill>
                <a:latin typeface="Cambria"/>
                <a:ea typeface="Cambria"/>
                <a:cs typeface="Cambria"/>
                <a:sym typeface="Cambria"/>
              </a:rPr>
              <a:t>Cajas negras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" name="Google Shape;49;p2"/>
          <p:cNvSpPr/>
          <p:nvPr/>
        </p:nvSpPr>
        <p:spPr>
          <a:xfrm>
            <a:off x="4663440" y="4937760"/>
            <a:ext cx="2788920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36000"/>
              </a:lnSpc>
              <a:spcBef>
                <a:spcPts val="0"/>
              </a:spcBef>
              <a:spcAft>
                <a:spcPts val="0"/>
              </a:spcAft>
              <a:buClr>
                <a:srgbClr val="91A8BE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91A8BE"/>
                </a:solidFill>
                <a:latin typeface="Calibri"/>
                <a:ea typeface="Calibri"/>
                <a:cs typeface="Calibri"/>
                <a:sym typeface="Calibri"/>
              </a:rPr>
              <a:t>Un score sin explicación no cambia tu comportamiento. Solo genera ansiedad.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" name="Google Shape;50;p2"/>
          <p:cNvSpPr/>
          <p:nvPr/>
        </p:nvSpPr>
        <p:spPr>
          <a:xfrm>
            <a:off x="8046720" y="3063240"/>
            <a:ext cx="3429000" cy="2834640"/>
          </a:xfrm>
          <a:prstGeom prst="roundRect">
            <a:avLst>
              <a:gd fmla="val 3871" name="adj"/>
            </a:avLst>
          </a:prstGeom>
          <a:solidFill>
            <a:srgbClr val="0D1B2A">
              <a:alpha val="81961"/>
            </a:srgbClr>
          </a:solidFill>
          <a:ln cap="flat" cmpd="sng" w="12700">
            <a:solidFill>
              <a:srgbClr val="1C304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38100">
              <a:srgbClr val="000000">
                <a:alpha val="3490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" name="Google Shape;51;p2"/>
          <p:cNvSpPr/>
          <p:nvPr/>
        </p:nvSpPr>
        <p:spPr>
          <a:xfrm>
            <a:off x="8366760" y="3429000"/>
            <a:ext cx="658368" cy="658368"/>
          </a:xfrm>
          <a:prstGeom prst="ellipse">
            <a:avLst/>
          </a:prstGeom>
          <a:solidFill>
            <a:srgbClr val="0D1B2A">
              <a:alpha val="90196"/>
            </a:srgbClr>
          </a:solidFill>
          <a:ln cap="flat" cmpd="sng" w="12700">
            <a:solidFill>
              <a:srgbClr val="1C304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biopulse_pitch/assets/icons/alert_purple.png" id="52" name="Google Shape;52;p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537936" y="3600176"/>
            <a:ext cx="316017" cy="316017"/>
          </a:xfrm>
          <a:prstGeom prst="rect">
            <a:avLst/>
          </a:prstGeom>
          <a:noFill/>
          <a:ln>
            <a:noFill/>
          </a:ln>
        </p:spPr>
      </p:pic>
      <p:sp>
        <p:nvSpPr>
          <p:cNvPr id="53" name="Google Shape;53;p2"/>
          <p:cNvSpPr/>
          <p:nvPr/>
        </p:nvSpPr>
        <p:spPr>
          <a:xfrm>
            <a:off x="8366760" y="4297680"/>
            <a:ext cx="278892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7647"/>
              </a:lnSpc>
              <a:spcBef>
                <a:spcPts val="0"/>
              </a:spcBef>
              <a:spcAft>
                <a:spcPts val="0"/>
              </a:spcAft>
              <a:buClr>
                <a:srgbClr val="F3F7FA"/>
              </a:buClr>
              <a:buSzPts val="1700"/>
              <a:buFont typeface="Cambria"/>
              <a:buNone/>
            </a:pPr>
            <a:r>
              <a:rPr b="1" i="0" lang="en-US" sz="1700" u="none" cap="none" strike="noStrike">
                <a:solidFill>
                  <a:srgbClr val="F3F7FA"/>
                </a:solidFill>
                <a:latin typeface="Cambria"/>
                <a:ea typeface="Cambria"/>
                <a:cs typeface="Cambria"/>
                <a:sym typeface="Cambria"/>
              </a:rPr>
              <a:t>Cero prevención real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" name="Google Shape;54;p2"/>
          <p:cNvSpPr/>
          <p:nvPr/>
        </p:nvSpPr>
        <p:spPr>
          <a:xfrm>
            <a:off x="8366760" y="4937760"/>
            <a:ext cx="2788920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36000"/>
              </a:lnSpc>
              <a:spcBef>
                <a:spcPts val="0"/>
              </a:spcBef>
              <a:spcAft>
                <a:spcPts val="0"/>
              </a:spcAft>
              <a:buClr>
                <a:srgbClr val="91A8BE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91A8BE"/>
                </a:solidFill>
                <a:latin typeface="Calibri"/>
                <a:ea typeface="Calibri"/>
                <a:cs typeface="Calibri"/>
                <a:sym typeface="Calibri"/>
              </a:rPr>
              <a:t>Ningún wearable de consumo detecta patrones tempranos de fatiga con ciencia estadística real.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" name="Google Shape;55;p2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6728C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6728C"/>
                </a:solidFill>
                <a:latin typeface="Calibri"/>
                <a:ea typeface="Calibri"/>
                <a:cs typeface="Calibri"/>
                <a:sym typeface="Calibri"/>
              </a:rPr>
              <a:t>El problema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" name="Google Shape;56;p2"/>
          <p:cNvSpPr/>
          <p:nvPr/>
        </p:nvSpPr>
        <p:spPr>
          <a:xfrm>
            <a:off x="8991295" y="6473952"/>
            <a:ext cx="2743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6728C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6728C"/>
                </a:solidFill>
                <a:latin typeface="Calibri"/>
                <a:ea typeface="Calibri"/>
                <a:cs typeface="Calibri"/>
                <a:sym typeface="Calibri"/>
              </a:rPr>
              <a:t>BIOPULSE · 02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claude/biopulse_pitch/assets/icons/activity_teal.png" id="57" name="Google Shape;57;p2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93900" y="157748"/>
            <a:ext cx="237744" cy="237744"/>
          </a:xfrm>
          <a:prstGeom prst="rect">
            <a:avLst/>
          </a:prstGeom>
          <a:noFill/>
          <a:ln>
            <a:noFill/>
          </a:ln>
        </p:spPr>
      </p:pic>
      <p:sp>
        <p:nvSpPr>
          <p:cNvPr id="58" name="Google Shape;58;p2"/>
          <p:cNvSpPr/>
          <p:nvPr/>
        </p:nvSpPr>
        <p:spPr>
          <a:xfrm>
            <a:off x="386508" y="121172"/>
            <a:ext cx="2743200" cy="31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3F7FA"/>
              </a:buClr>
              <a:buSzPts val="1500"/>
              <a:buFont typeface="Cambria"/>
              <a:buNone/>
            </a:pPr>
            <a:r>
              <a:rPr b="1" i="0" lang="en-US" sz="1500" u="none" cap="none" strike="noStrike">
                <a:solidFill>
                  <a:srgbClr val="F3F7FA"/>
                </a:solidFill>
                <a:latin typeface="Cambria"/>
                <a:ea typeface="Cambria"/>
                <a:cs typeface="Cambria"/>
                <a:sym typeface="Cambria"/>
              </a:rPr>
              <a:t>BIOPULSE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home/claude/biopulse_pitch/assets/bg_content.png" id="64" name="Google Shape;64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1695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65" name="Google Shape;65;p3"/>
          <p:cNvSpPr/>
          <p:nvPr/>
        </p:nvSpPr>
        <p:spPr>
          <a:xfrm>
            <a:off x="640080" y="502920"/>
            <a:ext cx="7315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F5D4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00F5D4"/>
                </a:solidFill>
                <a:latin typeface="Calibri"/>
                <a:ea typeface="Calibri"/>
                <a:cs typeface="Calibri"/>
                <a:sym typeface="Calibri"/>
              </a:rPr>
              <a:t>LA SOLUCIÓN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" name="Google Shape;66;p3"/>
          <p:cNvSpPr/>
          <p:nvPr/>
        </p:nvSpPr>
        <p:spPr>
          <a:xfrm>
            <a:off x="640080" y="804672"/>
            <a:ext cx="10881360" cy="1417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F3F7FA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F3F7FA"/>
                </a:solidFill>
                <a:latin typeface="Cambria"/>
                <a:ea typeface="Cambria"/>
                <a:cs typeface="Cambria"/>
                <a:sym typeface="Cambria"/>
              </a:rPr>
              <a:t>BioPulse: el laboratorio de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F3F7FA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F3F7FA"/>
                </a:solidFill>
                <a:latin typeface="Cambria"/>
                <a:ea typeface="Cambria"/>
                <a:cs typeface="Cambria"/>
                <a:sym typeface="Cambria"/>
              </a:rPr>
              <a:t>recuperación personal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" name="Google Shape;67;p3"/>
          <p:cNvSpPr/>
          <p:nvPr/>
        </p:nvSpPr>
        <p:spPr>
          <a:xfrm>
            <a:off x="640080" y="2240280"/>
            <a:ext cx="384048" cy="384048"/>
          </a:xfrm>
          <a:prstGeom prst="ellipse">
            <a:avLst/>
          </a:prstGeom>
          <a:solidFill>
            <a:srgbClr val="0D1B2A">
              <a:alpha val="90196"/>
            </a:srgbClr>
          </a:solidFill>
          <a:ln cap="flat" cmpd="sng" w="12700">
            <a:solidFill>
              <a:srgbClr val="1C304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biopulse_pitch/assets/icons/check_teal.png" id="68" name="Google Shape;68;p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39932" y="2340132"/>
            <a:ext cx="184343" cy="184343"/>
          </a:xfrm>
          <a:prstGeom prst="rect">
            <a:avLst/>
          </a:prstGeom>
          <a:noFill/>
          <a:ln>
            <a:noFill/>
          </a:ln>
        </p:spPr>
      </p:pic>
      <p:sp>
        <p:nvSpPr>
          <p:cNvPr id="69" name="Google Shape;69;p3"/>
          <p:cNvSpPr/>
          <p:nvPr/>
        </p:nvSpPr>
        <p:spPr>
          <a:xfrm>
            <a:off x="1207008" y="2185416"/>
            <a:ext cx="598932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rgbClr val="F3F7FA"/>
              </a:buClr>
              <a:buSzPts val="1350"/>
              <a:buFont typeface="Calibri"/>
              <a:buNone/>
            </a:pPr>
            <a:r>
              <a:rPr b="0" i="0" lang="en-US" sz="1350" u="none" cap="none" strike="noStrike">
                <a:solidFill>
                  <a:srgbClr val="F3F7FA"/>
                </a:solidFill>
                <a:latin typeface="Calibri"/>
                <a:ea typeface="Calibri"/>
                <a:cs typeface="Calibri"/>
                <a:sym typeface="Calibri"/>
              </a:rPr>
              <a:t>Motor de ciencia de datos real: control estadístico + entropía aproximada (ApEn) + Random Forest — no promedios de marketing.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" name="Google Shape;70;p3"/>
          <p:cNvSpPr/>
          <p:nvPr/>
        </p:nvSpPr>
        <p:spPr>
          <a:xfrm>
            <a:off x="640080" y="3090672"/>
            <a:ext cx="384048" cy="384048"/>
          </a:xfrm>
          <a:prstGeom prst="ellipse">
            <a:avLst/>
          </a:prstGeom>
          <a:solidFill>
            <a:srgbClr val="0D1B2A">
              <a:alpha val="90196"/>
            </a:srgbClr>
          </a:solidFill>
          <a:ln cap="flat" cmpd="sng" w="12700">
            <a:solidFill>
              <a:srgbClr val="1C304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biopulse_pitch/assets/icons/check_teal.png" id="71" name="Google Shape;71;p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39932" y="3190524"/>
            <a:ext cx="184343" cy="184343"/>
          </a:xfrm>
          <a:prstGeom prst="rect">
            <a:avLst/>
          </a:prstGeom>
          <a:noFill/>
          <a:ln>
            <a:noFill/>
          </a:ln>
        </p:spPr>
      </p:pic>
      <p:sp>
        <p:nvSpPr>
          <p:cNvPr id="72" name="Google Shape;72;p3"/>
          <p:cNvSpPr/>
          <p:nvPr/>
        </p:nvSpPr>
        <p:spPr>
          <a:xfrm>
            <a:off x="1207008" y="3035808"/>
            <a:ext cx="598932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rgbClr val="F3F7FA"/>
              </a:buClr>
              <a:buSzPts val="1350"/>
              <a:buFont typeface="Calibri"/>
              <a:buNone/>
            </a:pPr>
            <a:r>
              <a:rPr b="0" i="0" lang="en-US" sz="1350" u="none" cap="none" strike="noStrike">
                <a:solidFill>
                  <a:srgbClr val="F3F7FA"/>
                </a:solidFill>
                <a:latin typeface="Calibri"/>
                <a:ea typeface="Calibri"/>
                <a:cs typeface="Calibri"/>
                <a:sym typeface="Calibri"/>
              </a:rPr>
              <a:t>Coach IA que traduce tus métricas en UNA acción clara para mañana, en dos frases, sin jerga.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" name="Google Shape;73;p3"/>
          <p:cNvSpPr/>
          <p:nvPr/>
        </p:nvSpPr>
        <p:spPr>
          <a:xfrm>
            <a:off x="640080" y="3941064"/>
            <a:ext cx="384048" cy="384048"/>
          </a:xfrm>
          <a:prstGeom prst="ellipse">
            <a:avLst/>
          </a:prstGeom>
          <a:solidFill>
            <a:srgbClr val="0D1B2A">
              <a:alpha val="90196"/>
            </a:srgbClr>
          </a:solidFill>
          <a:ln cap="flat" cmpd="sng" w="12700">
            <a:solidFill>
              <a:srgbClr val="1C304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biopulse_pitch/assets/icons/check_teal.png" id="74" name="Google Shape;74;p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39932" y="4040916"/>
            <a:ext cx="184343" cy="184343"/>
          </a:xfrm>
          <a:prstGeom prst="rect">
            <a:avLst/>
          </a:prstGeom>
          <a:noFill/>
          <a:ln>
            <a:noFill/>
          </a:ln>
        </p:spPr>
      </p:pic>
      <p:sp>
        <p:nvSpPr>
          <p:cNvPr id="75" name="Google Shape;75;p3"/>
          <p:cNvSpPr/>
          <p:nvPr/>
        </p:nvSpPr>
        <p:spPr>
          <a:xfrm>
            <a:off x="1207008" y="3886200"/>
            <a:ext cx="598932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rgbClr val="F3F7FA"/>
              </a:buClr>
              <a:buSzPts val="1350"/>
              <a:buFont typeface="Calibri"/>
              <a:buNone/>
            </a:pPr>
            <a:r>
              <a:rPr b="0" i="0" lang="en-US" sz="1350" u="none" cap="none" strike="noStrike">
                <a:solidFill>
                  <a:srgbClr val="F3F7FA"/>
                </a:solidFill>
                <a:latin typeface="Calibri"/>
                <a:ea typeface="Calibri"/>
                <a:cs typeface="Calibri"/>
                <a:sym typeface="Calibri"/>
              </a:rPr>
              <a:t>100% gratis. Funciona con Whoop, Apple Watch, Garmin, Fitbit — o tu propio CSV.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" name="Google Shape;76;p3"/>
          <p:cNvSpPr/>
          <p:nvPr/>
        </p:nvSpPr>
        <p:spPr>
          <a:xfrm>
            <a:off x="640080" y="4791456"/>
            <a:ext cx="384048" cy="384048"/>
          </a:xfrm>
          <a:prstGeom prst="ellipse">
            <a:avLst/>
          </a:prstGeom>
          <a:solidFill>
            <a:srgbClr val="0D1B2A">
              <a:alpha val="90196"/>
            </a:srgbClr>
          </a:solidFill>
          <a:ln cap="flat" cmpd="sng" w="12700">
            <a:solidFill>
              <a:srgbClr val="1C304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biopulse_pitch/assets/icons/check_teal.png" id="77" name="Google Shape;77;p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39932" y="4891308"/>
            <a:ext cx="184343" cy="184343"/>
          </a:xfrm>
          <a:prstGeom prst="rect">
            <a:avLst/>
          </a:prstGeom>
          <a:noFill/>
          <a:ln>
            <a:noFill/>
          </a:ln>
        </p:spPr>
      </p:pic>
      <p:sp>
        <p:nvSpPr>
          <p:cNvPr id="78" name="Google Shape;78;p3"/>
          <p:cNvSpPr/>
          <p:nvPr/>
        </p:nvSpPr>
        <p:spPr>
          <a:xfrm>
            <a:off x="1207008" y="4736592"/>
            <a:ext cx="598932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rgbClr val="F3F7FA"/>
              </a:buClr>
              <a:buSzPts val="1350"/>
              <a:buFont typeface="Calibri"/>
              <a:buNone/>
            </a:pPr>
            <a:r>
              <a:rPr b="0" i="0" lang="en-US" sz="1350" u="none" cap="none" strike="noStrike">
                <a:solidFill>
                  <a:srgbClr val="F3F7FA"/>
                </a:solidFill>
                <a:latin typeface="Calibri"/>
                <a:ea typeface="Calibri"/>
                <a:cs typeface="Calibri"/>
                <a:sym typeface="Calibri"/>
              </a:rPr>
              <a:t>Honestidad radical: cada score dice de dónde viene y qué es regla clínica vs. predicción aprendida.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" name="Google Shape;79;p3"/>
          <p:cNvSpPr/>
          <p:nvPr/>
        </p:nvSpPr>
        <p:spPr>
          <a:xfrm>
            <a:off x="640080" y="5779008"/>
            <a:ext cx="6537960" cy="512064"/>
          </a:xfrm>
          <a:prstGeom prst="roundRect">
            <a:avLst>
              <a:gd fmla="val 21429" name="adj"/>
            </a:avLst>
          </a:prstGeom>
          <a:solidFill>
            <a:srgbClr val="0D1B2A">
              <a:alpha val="81961"/>
            </a:srgbClr>
          </a:solidFill>
          <a:ln cap="flat" cmpd="sng" w="12700">
            <a:solidFill>
              <a:srgbClr val="1C304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38100">
              <a:srgbClr val="000000">
                <a:alpha val="3490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" name="Google Shape;80;p3"/>
          <p:cNvSpPr/>
          <p:nvPr/>
        </p:nvSpPr>
        <p:spPr>
          <a:xfrm>
            <a:off x="868680" y="5779008"/>
            <a:ext cx="6080760" cy="51206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F5D4"/>
              </a:buClr>
              <a:buSzPts val="1350"/>
              <a:buFont typeface="Cambria"/>
              <a:buNone/>
            </a:pPr>
            <a:r>
              <a:rPr b="0" i="1" lang="en-US" sz="1350" u="none" cap="none" strike="noStrike">
                <a:solidFill>
                  <a:srgbClr val="00F5D4"/>
                </a:solidFill>
                <a:latin typeface="Cambria"/>
                <a:ea typeface="Cambria"/>
                <a:cs typeface="Cambria"/>
                <a:sym typeface="Cambria"/>
              </a:rPr>
              <a:t>“Tu laboratorio de recuperación personal.”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" name="Google Shape;81;p3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6728C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6728C"/>
                </a:solidFill>
                <a:latin typeface="Calibri"/>
                <a:ea typeface="Calibri"/>
                <a:cs typeface="Calibri"/>
                <a:sym typeface="Calibri"/>
              </a:rPr>
              <a:t>La solución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" name="Google Shape;82;p3"/>
          <p:cNvSpPr/>
          <p:nvPr/>
        </p:nvSpPr>
        <p:spPr>
          <a:xfrm>
            <a:off x="8991295" y="6473952"/>
            <a:ext cx="2743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6728C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6728C"/>
                </a:solidFill>
                <a:latin typeface="Calibri"/>
                <a:ea typeface="Calibri"/>
                <a:cs typeface="Calibri"/>
                <a:sym typeface="Calibri"/>
              </a:rPr>
              <a:t>BIOPULSE · 03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claude/biopulse_pitch/assets/icons/activity_teal.png" id="83" name="Google Shape;83;p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3900" y="157748"/>
            <a:ext cx="237744" cy="237744"/>
          </a:xfrm>
          <a:prstGeom prst="rect">
            <a:avLst/>
          </a:prstGeom>
          <a:noFill/>
          <a:ln>
            <a:noFill/>
          </a:ln>
        </p:spPr>
      </p:pic>
      <p:sp>
        <p:nvSpPr>
          <p:cNvPr id="84" name="Google Shape;84;p3"/>
          <p:cNvSpPr/>
          <p:nvPr/>
        </p:nvSpPr>
        <p:spPr>
          <a:xfrm>
            <a:off x="386508" y="121172"/>
            <a:ext cx="2743200" cy="31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3F7FA"/>
              </a:buClr>
              <a:buSzPts val="1500"/>
              <a:buFont typeface="Cambria"/>
              <a:buNone/>
            </a:pPr>
            <a:r>
              <a:rPr b="1" i="0" lang="en-US" sz="1500" u="none" cap="none" strike="noStrike">
                <a:solidFill>
                  <a:srgbClr val="F3F7FA"/>
                </a:solidFill>
                <a:latin typeface="Cambria"/>
                <a:ea typeface="Cambria"/>
                <a:cs typeface="Cambria"/>
                <a:sym typeface="Cambria"/>
              </a:rPr>
              <a:t>BIOPULSE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5" name="Google Shape;85;p3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8444273" y="714291"/>
            <a:ext cx="2743200" cy="542942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home/claude/biopulse_pitch/assets/bg_content.png" id="91" name="Google Shape;91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1695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4"/>
          <p:cNvSpPr/>
          <p:nvPr/>
        </p:nvSpPr>
        <p:spPr>
          <a:xfrm>
            <a:off x="640080" y="502920"/>
            <a:ext cx="7315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F5D4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00F5D4"/>
                </a:solidFill>
                <a:latin typeface="Calibri"/>
                <a:ea typeface="Calibri"/>
                <a:cs typeface="Calibri"/>
                <a:sym typeface="Calibri"/>
              </a:rPr>
              <a:t>CÓMO FUNCIONA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4"/>
          <p:cNvSpPr/>
          <p:nvPr/>
        </p:nvSpPr>
        <p:spPr>
          <a:xfrm>
            <a:off x="640080" y="804672"/>
            <a:ext cx="10881360" cy="960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F3F7FA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F3F7FA"/>
                </a:solidFill>
                <a:latin typeface="Cambria"/>
                <a:ea typeface="Cambria"/>
                <a:cs typeface="Cambria"/>
                <a:sym typeface="Cambria"/>
              </a:rPr>
              <a:t>De datos crudos a una decisión, en 4 pasos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4"/>
          <p:cNvSpPr/>
          <p:nvPr/>
        </p:nvSpPr>
        <p:spPr>
          <a:xfrm>
            <a:off x="640080" y="2331720"/>
            <a:ext cx="2468880" cy="3383280"/>
          </a:xfrm>
          <a:prstGeom prst="roundRect">
            <a:avLst>
              <a:gd fmla="val 4444" name="adj"/>
            </a:avLst>
          </a:prstGeom>
          <a:solidFill>
            <a:srgbClr val="0D1B2A">
              <a:alpha val="81961"/>
            </a:srgbClr>
          </a:solidFill>
          <a:ln cap="flat" cmpd="sng" w="12700">
            <a:solidFill>
              <a:srgbClr val="1C304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38100">
              <a:srgbClr val="000000">
                <a:alpha val="3490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p4"/>
          <p:cNvSpPr/>
          <p:nvPr/>
        </p:nvSpPr>
        <p:spPr>
          <a:xfrm>
            <a:off x="896112" y="2532888"/>
            <a:ext cx="10972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6728C"/>
              </a:buClr>
              <a:buSzPts val="1500"/>
              <a:buFont typeface="Courier New"/>
              <a:buNone/>
            </a:pPr>
            <a:r>
              <a:rPr b="1" i="0" lang="en-US" sz="1500" u="none" cap="none" strike="noStrike">
                <a:solidFill>
                  <a:srgbClr val="56728C"/>
                </a:solidFill>
                <a:latin typeface="Courier New"/>
                <a:ea typeface="Courier New"/>
                <a:cs typeface="Courier New"/>
                <a:sym typeface="Courier New"/>
              </a:rPr>
              <a:t>01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4"/>
          <p:cNvSpPr/>
          <p:nvPr/>
        </p:nvSpPr>
        <p:spPr>
          <a:xfrm>
            <a:off x="896112" y="3017520"/>
            <a:ext cx="594360" cy="594360"/>
          </a:xfrm>
          <a:prstGeom prst="ellipse">
            <a:avLst/>
          </a:prstGeom>
          <a:solidFill>
            <a:srgbClr val="0D1B2A">
              <a:alpha val="90196"/>
            </a:srgbClr>
          </a:solidFill>
          <a:ln cap="flat" cmpd="sng" w="12700">
            <a:solidFill>
              <a:srgbClr val="1C304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biopulse_pitch/assets/icons/database_teal.png" id="97" name="Google Shape;97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50646" y="3172054"/>
            <a:ext cx="285293" cy="285293"/>
          </a:xfrm>
          <a:prstGeom prst="rect">
            <a:avLst/>
          </a:prstGeom>
          <a:noFill/>
          <a:ln>
            <a:noFill/>
          </a:ln>
        </p:spPr>
      </p:pic>
      <p:sp>
        <p:nvSpPr>
          <p:cNvPr id="98" name="Google Shape;98;p4"/>
          <p:cNvSpPr/>
          <p:nvPr/>
        </p:nvSpPr>
        <p:spPr>
          <a:xfrm>
            <a:off x="896112" y="3794760"/>
            <a:ext cx="1956816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3F7FA"/>
              </a:buClr>
              <a:buSzPts val="1650"/>
              <a:buFont typeface="Cambria"/>
              <a:buNone/>
            </a:pPr>
            <a:r>
              <a:rPr b="1" i="0" lang="en-US" sz="1650" u="none" cap="none" strike="noStrike">
                <a:solidFill>
                  <a:srgbClr val="F3F7FA"/>
                </a:solidFill>
                <a:latin typeface="Cambria"/>
                <a:ea typeface="Cambria"/>
                <a:cs typeface="Cambria"/>
                <a:sym typeface="Cambria"/>
              </a:rPr>
              <a:t>Datos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4"/>
          <p:cNvSpPr/>
          <p:nvPr/>
        </p:nvSpPr>
        <p:spPr>
          <a:xfrm>
            <a:off x="896112" y="4270248"/>
            <a:ext cx="1956816" cy="13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34782"/>
              </a:lnSpc>
              <a:spcBef>
                <a:spcPts val="0"/>
              </a:spcBef>
              <a:spcAft>
                <a:spcPts val="0"/>
              </a:spcAft>
              <a:buClr>
                <a:srgbClr val="91A8BE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91A8BE"/>
                </a:solidFill>
                <a:latin typeface="Calibri"/>
                <a:ea typeface="Calibri"/>
                <a:cs typeface="Calibri"/>
                <a:sym typeface="Calibri"/>
              </a:rPr>
              <a:t>Wearable conectado o CSV propio: HRV, RHR, sueño, respiración, temperatura.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claude/biopulse_pitch/assets/icons/arrowright_muted.png" id="100" name="Google Shape;100;p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147365" y="3904488"/>
            <a:ext cx="237744" cy="237744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4"/>
          <p:cNvSpPr/>
          <p:nvPr/>
        </p:nvSpPr>
        <p:spPr>
          <a:xfrm>
            <a:off x="3364992" y="2331720"/>
            <a:ext cx="2468880" cy="3383280"/>
          </a:xfrm>
          <a:prstGeom prst="roundRect">
            <a:avLst>
              <a:gd fmla="val 4444" name="adj"/>
            </a:avLst>
          </a:prstGeom>
          <a:solidFill>
            <a:srgbClr val="0D1B2A">
              <a:alpha val="81961"/>
            </a:srgbClr>
          </a:solidFill>
          <a:ln cap="flat" cmpd="sng" w="12700">
            <a:solidFill>
              <a:srgbClr val="1C304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38100">
              <a:srgbClr val="000000">
                <a:alpha val="3490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" name="Google Shape;102;p4"/>
          <p:cNvSpPr/>
          <p:nvPr/>
        </p:nvSpPr>
        <p:spPr>
          <a:xfrm>
            <a:off x="3621024" y="2532888"/>
            <a:ext cx="10972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6728C"/>
              </a:buClr>
              <a:buSzPts val="1500"/>
              <a:buFont typeface="Courier New"/>
              <a:buNone/>
            </a:pPr>
            <a:r>
              <a:rPr b="1" i="0" lang="en-US" sz="1500" u="none" cap="none" strike="noStrike">
                <a:solidFill>
                  <a:srgbClr val="56728C"/>
                </a:solidFill>
                <a:latin typeface="Courier New"/>
                <a:ea typeface="Courier New"/>
                <a:cs typeface="Courier New"/>
                <a:sym typeface="Courier New"/>
              </a:rPr>
              <a:t>02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4"/>
          <p:cNvSpPr/>
          <p:nvPr/>
        </p:nvSpPr>
        <p:spPr>
          <a:xfrm>
            <a:off x="3621024" y="3017520"/>
            <a:ext cx="594360" cy="594360"/>
          </a:xfrm>
          <a:prstGeom prst="ellipse">
            <a:avLst/>
          </a:prstGeom>
          <a:solidFill>
            <a:srgbClr val="0D1B2A">
              <a:alpha val="90196"/>
            </a:srgbClr>
          </a:solidFill>
          <a:ln cap="flat" cmpd="sng" w="12700">
            <a:solidFill>
              <a:srgbClr val="1C304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biopulse_pitch/assets/icons/cpu_teal.png" id="104" name="Google Shape;104;p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3775558" y="3172054"/>
            <a:ext cx="285293" cy="285293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4"/>
          <p:cNvSpPr/>
          <p:nvPr/>
        </p:nvSpPr>
        <p:spPr>
          <a:xfrm>
            <a:off x="3621024" y="3794760"/>
            <a:ext cx="1956816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3F7FA"/>
              </a:buClr>
              <a:buSzPts val="1650"/>
              <a:buFont typeface="Cambria"/>
              <a:buNone/>
            </a:pPr>
            <a:r>
              <a:rPr b="1" i="0" lang="en-US" sz="1650" u="none" cap="none" strike="noStrike">
                <a:solidFill>
                  <a:srgbClr val="F3F7FA"/>
                </a:solidFill>
                <a:latin typeface="Cambria"/>
                <a:ea typeface="Cambria"/>
                <a:cs typeface="Cambria"/>
                <a:sym typeface="Cambria"/>
              </a:rPr>
              <a:t>Motor de riesgo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4"/>
          <p:cNvSpPr/>
          <p:nvPr/>
        </p:nvSpPr>
        <p:spPr>
          <a:xfrm>
            <a:off x="3621024" y="4270248"/>
            <a:ext cx="1956816" cy="13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34782"/>
              </a:lnSpc>
              <a:spcBef>
                <a:spcPts val="0"/>
              </a:spcBef>
              <a:spcAft>
                <a:spcPts val="0"/>
              </a:spcAft>
              <a:buClr>
                <a:srgbClr val="91A8BE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91A8BE"/>
                </a:solidFill>
                <a:latin typeface="Calibri"/>
                <a:ea typeface="Calibri"/>
                <a:cs typeface="Calibri"/>
                <a:sym typeface="Calibri"/>
              </a:rPr>
              <a:t>Z-scores (25 pts) + entropía ApEn (25 pts) + fatiga aguda (25 pts) + regla clínica (25 pts).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claude/biopulse_pitch/assets/icons/arrowright_muted.png" id="107" name="Google Shape;107;p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872277" y="3904488"/>
            <a:ext cx="237744" cy="237744"/>
          </a:xfrm>
          <a:prstGeom prst="rect">
            <a:avLst/>
          </a:prstGeom>
          <a:noFill/>
          <a:ln>
            <a:noFill/>
          </a:ln>
        </p:spPr>
      </p:pic>
      <p:sp>
        <p:nvSpPr>
          <p:cNvPr id="108" name="Google Shape;108;p4"/>
          <p:cNvSpPr/>
          <p:nvPr/>
        </p:nvSpPr>
        <p:spPr>
          <a:xfrm>
            <a:off x="6089904" y="2331720"/>
            <a:ext cx="2468880" cy="3383280"/>
          </a:xfrm>
          <a:prstGeom prst="roundRect">
            <a:avLst>
              <a:gd fmla="val 4444" name="adj"/>
            </a:avLst>
          </a:prstGeom>
          <a:solidFill>
            <a:srgbClr val="0D1B2A">
              <a:alpha val="81961"/>
            </a:srgbClr>
          </a:solidFill>
          <a:ln cap="flat" cmpd="sng" w="12700">
            <a:solidFill>
              <a:srgbClr val="1C304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38100">
              <a:srgbClr val="000000">
                <a:alpha val="3490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" name="Google Shape;109;p4"/>
          <p:cNvSpPr/>
          <p:nvPr/>
        </p:nvSpPr>
        <p:spPr>
          <a:xfrm>
            <a:off x="6345936" y="2532888"/>
            <a:ext cx="10972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6728C"/>
              </a:buClr>
              <a:buSzPts val="1500"/>
              <a:buFont typeface="Courier New"/>
              <a:buNone/>
            </a:pPr>
            <a:r>
              <a:rPr b="1" i="0" lang="en-US" sz="1500" u="none" cap="none" strike="noStrike">
                <a:solidFill>
                  <a:srgbClr val="56728C"/>
                </a:solidFill>
                <a:latin typeface="Courier New"/>
                <a:ea typeface="Courier New"/>
                <a:cs typeface="Courier New"/>
                <a:sym typeface="Courier New"/>
              </a:rPr>
              <a:t>03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4"/>
          <p:cNvSpPr/>
          <p:nvPr/>
        </p:nvSpPr>
        <p:spPr>
          <a:xfrm>
            <a:off x="6345936" y="3017520"/>
            <a:ext cx="594360" cy="594360"/>
          </a:xfrm>
          <a:prstGeom prst="ellipse">
            <a:avLst/>
          </a:prstGeom>
          <a:solidFill>
            <a:srgbClr val="0D1B2A">
              <a:alpha val="90196"/>
            </a:srgbClr>
          </a:solidFill>
          <a:ln cap="flat" cmpd="sng" w="12700">
            <a:solidFill>
              <a:srgbClr val="1C304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biopulse_pitch/assets/icons/piechart_teal.png" id="111" name="Google Shape;111;p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500470" y="3172054"/>
            <a:ext cx="285293" cy="285293"/>
          </a:xfrm>
          <a:prstGeom prst="rect">
            <a:avLst/>
          </a:prstGeom>
          <a:noFill/>
          <a:ln>
            <a:noFill/>
          </a:ln>
        </p:spPr>
      </p:pic>
      <p:sp>
        <p:nvSpPr>
          <p:cNvPr id="112" name="Google Shape;112;p4"/>
          <p:cNvSpPr/>
          <p:nvPr/>
        </p:nvSpPr>
        <p:spPr>
          <a:xfrm>
            <a:off x="6345936" y="3794760"/>
            <a:ext cx="1956816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3F7FA"/>
              </a:buClr>
              <a:buSzPts val="1650"/>
              <a:buFont typeface="Cambria"/>
              <a:buNone/>
            </a:pPr>
            <a:r>
              <a:rPr b="1" i="0" lang="en-US" sz="1650" u="none" cap="none" strike="noStrike">
                <a:solidFill>
                  <a:srgbClr val="F3F7FA"/>
                </a:solidFill>
                <a:latin typeface="Cambria"/>
                <a:ea typeface="Cambria"/>
                <a:cs typeface="Cambria"/>
                <a:sym typeface="Cambria"/>
              </a:rPr>
              <a:t>Scores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4"/>
          <p:cNvSpPr/>
          <p:nvPr/>
        </p:nvSpPr>
        <p:spPr>
          <a:xfrm>
            <a:off x="6345936" y="4270248"/>
            <a:ext cx="1956816" cy="13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34782"/>
              </a:lnSpc>
              <a:spcBef>
                <a:spcPts val="0"/>
              </a:spcBef>
              <a:spcAft>
                <a:spcPts val="0"/>
              </a:spcAft>
              <a:buClr>
                <a:srgbClr val="91A8BE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91A8BE"/>
                </a:solidFill>
                <a:latin typeface="Calibri"/>
                <a:ea typeface="Calibri"/>
                <a:cs typeface="Calibri"/>
                <a:sym typeface="Calibri"/>
              </a:rPr>
              <a:t>BioScore, Sleep Score y Score de Riesgo (0–100), explicados en lenguaje humano.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claude/biopulse_pitch/assets/icons/arrowright_muted.png" id="114" name="Google Shape;114;p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597189" y="3904488"/>
            <a:ext cx="237744" cy="237744"/>
          </a:xfrm>
          <a:prstGeom prst="rect">
            <a:avLst/>
          </a:prstGeom>
          <a:noFill/>
          <a:ln>
            <a:noFill/>
          </a:ln>
        </p:spPr>
      </p:pic>
      <p:sp>
        <p:nvSpPr>
          <p:cNvPr id="115" name="Google Shape;115;p4"/>
          <p:cNvSpPr/>
          <p:nvPr/>
        </p:nvSpPr>
        <p:spPr>
          <a:xfrm>
            <a:off x="8814816" y="2331720"/>
            <a:ext cx="2468880" cy="3383280"/>
          </a:xfrm>
          <a:prstGeom prst="roundRect">
            <a:avLst>
              <a:gd fmla="val 4444" name="adj"/>
            </a:avLst>
          </a:prstGeom>
          <a:solidFill>
            <a:srgbClr val="0D1B2A">
              <a:alpha val="81961"/>
            </a:srgbClr>
          </a:solidFill>
          <a:ln cap="flat" cmpd="sng" w="12700">
            <a:solidFill>
              <a:srgbClr val="1C304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38100">
              <a:srgbClr val="000000">
                <a:alpha val="3490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" name="Google Shape;116;p4"/>
          <p:cNvSpPr/>
          <p:nvPr/>
        </p:nvSpPr>
        <p:spPr>
          <a:xfrm>
            <a:off x="9070848" y="2532888"/>
            <a:ext cx="10972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6728C"/>
              </a:buClr>
              <a:buSzPts val="1500"/>
              <a:buFont typeface="Courier New"/>
              <a:buNone/>
            </a:pPr>
            <a:r>
              <a:rPr b="1" i="0" lang="en-US" sz="1500" u="none" cap="none" strike="noStrike">
                <a:solidFill>
                  <a:srgbClr val="56728C"/>
                </a:solidFill>
                <a:latin typeface="Courier New"/>
                <a:ea typeface="Courier New"/>
                <a:cs typeface="Courier New"/>
                <a:sym typeface="Courier New"/>
              </a:rPr>
              <a:t>04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4"/>
          <p:cNvSpPr/>
          <p:nvPr/>
        </p:nvSpPr>
        <p:spPr>
          <a:xfrm>
            <a:off x="9070848" y="3017520"/>
            <a:ext cx="594360" cy="594360"/>
          </a:xfrm>
          <a:prstGeom prst="ellipse">
            <a:avLst/>
          </a:prstGeom>
          <a:solidFill>
            <a:srgbClr val="0D1B2A">
              <a:alpha val="90196"/>
            </a:srgbClr>
          </a:solidFill>
          <a:ln cap="flat" cmpd="sng" w="12700">
            <a:solidFill>
              <a:srgbClr val="1C304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biopulse_pitch/assets/icons/message_teal.png" id="118" name="Google Shape;118;p4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9225382" y="3172054"/>
            <a:ext cx="285293" cy="285293"/>
          </a:xfrm>
          <a:prstGeom prst="rect">
            <a:avLst/>
          </a:prstGeom>
          <a:noFill/>
          <a:ln>
            <a:noFill/>
          </a:ln>
        </p:spPr>
      </p:pic>
      <p:sp>
        <p:nvSpPr>
          <p:cNvPr id="119" name="Google Shape;119;p4"/>
          <p:cNvSpPr/>
          <p:nvPr/>
        </p:nvSpPr>
        <p:spPr>
          <a:xfrm>
            <a:off x="9070848" y="3794760"/>
            <a:ext cx="1956816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3F7FA"/>
              </a:buClr>
              <a:buSzPts val="1650"/>
              <a:buFont typeface="Cambria"/>
              <a:buNone/>
            </a:pPr>
            <a:r>
              <a:rPr b="1" i="0" lang="en-US" sz="1650" u="none" cap="none" strike="noStrike">
                <a:solidFill>
                  <a:srgbClr val="F3F7FA"/>
                </a:solidFill>
                <a:latin typeface="Cambria"/>
                <a:ea typeface="Cambria"/>
                <a:cs typeface="Cambria"/>
                <a:sym typeface="Cambria"/>
              </a:rPr>
              <a:t>Coach IA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4"/>
          <p:cNvSpPr/>
          <p:nvPr/>
        </p:nvSpPr>
        <p:spPr>
          <a:xfrm>
            <a:off x="9070848" y="4270248"/>
            <a:ext cx="1956816" cy="13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34782"/>
              </a:lnSpc>
              <a:spcBef>
                <a:spcPts val="0"/>
              </a:spcBef>
              <a:spcAft>
                <a:spcPts val="0"/>
              </a:spcAft>
              <a:buClr>
                <a:srgbClr val="91A8BE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91A8BE"/>
                </a:solidFill>
                <a:latin typeface="Calibri"/>
                <a:ea typeface="Calibri"/>
                <a:cs typeface="Calibri"/>
                <a:sym typeface="Calibri"/>
              </a:rPr>
              <a:t>Una recomendación accionable para hoy — no un número más que ignorar.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4"/>
          <p:cNvSpPr/>
          <p:nvPr/>
        </p:nvSpPr>
        <p:spPr>
          <a:xfrm>
            <a:off x="640080" y="5989320"/>
            <a:ext cx="108813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rgbClr val="56728C"/>
              </a:buClr>
              <a:buSzPts val="1200"/>
              <a:buFont typeface="Calibri"/>
              <a:buNone/>
            </a:pPr>
            <a:r>
              <a:rPr b="0" i="1" lang="en-US" sz="1200" u="none" cap="none" strike="noStrike">
                <a:solidFill>
                  <a:srgbClr val="56728C"/>
                </a:solidFill>
                <a:latin typeface="Calibri"/>
                <a:ea typeface="Calibri"/>
                <a:cs typeface="Calibri"/>
                <a:sym typeface="Calibri"/>
              </a:rPr>
              <a:t>Todo el pipeline corre en cliente/servidor propio — sin depender de la nube cerrada de un fabricante de wearables.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4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6728C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6728C"/>
                </a:solidFill>
                <a:latin typeface="Calibri"/>
                <a:ea typeface="Calibri"/>
                <a:cs typeface="Calibri"/>
                <a:sym typeface="Calibri"/>
              </a:rPr>
              <a:t>Cómo funciona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4"/>
          <p:cNvSpPr/>
          <p:nvPr/>
        </p:nvSpPr>
        <p:spPr>
          <a:xfrm>
            <a:off x="8991295" y="6473952"/>
            <a:ext cx="2743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6728C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6728C"/>
                </a:solidFill>
                <a:latin typeface="Calibri"/>
                <a:ea typeface="Calibri"/>
                <a:cs typeface="Calibri"/>
                <a:sym typeface="Calibri"/>
              </a:rPr>
              <a:t>BIOPULSE · 04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claude/biopulse_pitch/assets/icons/activity_teal.png" id="124" name="Google Shape;124;p4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93900" y="157748"/>
            <a:ext cx="237744" cy="237744"/>
          </a:xfrm>
          <a:prstGeom prst="rect">
            <a:avLst/>
          </a:prstGeom>
          <a:noFill/>
          <a:ln>
            <a:noFill/>
          </a:ln>
        </p:spPr>
      </p:pic>
      <p:sp>
        <p:nvSpPr>
          <p:cNvPr id="125" name="Google Shape;125;p4"/>
          <p:cNvSpPr/>
          <p:nvPr/>
        </p:nvSpPr>
        <p:spPr>
          <a:xfrm>
            <a:off x="386508" y="121172"/>
            <a:ext cx="2743200" cy="31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3F7FA"/>
              </a:buClr>
              <a:buSzPts val="1500"/>
              <a:buFont typeface="Cambria"/>
              <a:buNone/>
            </a:pPr>
            <a:r>
              <a:rPr b="1" i="0" lang="en-US" sz="1500" u="none" cap="none" strike="noStrike">
                <a:solidFill>
                  <a:srgbClr val="F3F7FA"/>
                </a:solidFill>
                <a:latin typeface="Cambria"/>
                <a:ea typeface="Cambria"/>
                <a:cs typeface="Cambria"/>
                <a:sym typeface="Cambria"/>
              </a:rPr>
              <a:t>BIOPULSE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home/claude/biopulse_pitch/assets/bg_content.png" id="131" name="Google Shape;131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0" y="0"/>
            <a:ext cx="12191695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/home/claude/biopulse_pitch/assets/icons/activity_teal.png" id="132" name="Google Shape;132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3900" y="157748"/>
            <a:ext cx="237744" cy="237744"/>
          </a:xfrm>
          <a:prstGeom prst="rect">
            <a:avLst/>
          </a:prstGeom>
          <a:noFill/>
          <a:ln>
            <a:noFill/>
          </a:ln>
        </p:spPr>
      </p:pic>
      <p:sp>
        <p:nvSpPr>
          <p:cNvPr id="133" name="Google Shape;133;p5"/>
          <p:cNvSpPr/>
          <p:nvPr/>
        </p:nvSpPr>
        <p:spPr>
          <a:xfrm>
            <a:off x="386508" y="121172"/>
            <a:ext cx="2743200" cy="31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3F7FA"/>
              </a:buClr>
              <a:buSzPts val="1500"/>
              <a:buFont typeface="Cambria"/>
              <a:buNone/>
            </a:pPr>
            <a:r>
              <a:rPr b="1" i="0" lang="en-US" sz="1500" u="none" cap="none" strike="noStrike">
                <a:solidFill>
                  <a:srgbClr val="F3F7FA"/>
                </a:solidFill>
                <a:latin typeface="Cambria"/>
                <a:ea typeface="Cambria"/>
                <a:cs typeface="Cambria"/>
                <a:sym typeface="Cambria"/>
              </a:rPr>
              <a:t>BIOPULSE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5"/>
          <p:cNvSpPr/>
          <p:nvPr/>
        </p:nvSpPr>
        <p:spPr>
          <a:xfrm>
            <a:off x="640080" y="502920"/>
            <a:ext cx="7315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F5D4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00F5D4"/>
                </a:solidFill>
                <a:latin typeface="Calibri"/>
                <a:ea typeface="Calibri"/>
                <a:cs typeface="Calibri"/>
                <a:sym typeface="Calibri"/>
              </a:rPr>
              <a:t>PRODUCTO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5"/>
          <p:cNvSpPr/>
          <p:nvPr/>
        </p:nvSpPr>
        <p:spPr>
          <a:xfrm>
            <a:off x="640080" y="804672"/>
            <a:ext cx="10881360" cy="960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F3F7FA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F3F7FA"/>
                </a:solidFill>
                <a:latin typeface="Cambria"/>
                <a:ea typeface="Cambria"/>
                <a:cs typeface="Cambria"/>
                <a:sym typeface="Cambria"/>
              </a:rPr>
              <a:t>Un producto, </a:t>
            </a:r>
            <a:r>
              <a:rPr b="1" lang="en-US" sz="3000">
                <a:solidFill>
                  <a:srgbClr val="F3F7FA"/>
                </a:solidFill>
                <a:latin typeface="Cambria"/>
                <a:ea typeface="Cambria"/>
                <a:cs typeface="Cambria"/>
                <a:sym typeface="Cambria"/>
              </a:rPr>
              <a:t>cinco </a:t>
            </a:r>
            <a:r>
              <a:rPr b="1" i="0" lang="en-US" sz="3000" u="none" cap="none" strike="noStrike">
                <a:solidFill>
                  <a:srgbClr val="F3F7FA"/>
                </a:solidFill>
                <a:latin typeface="Cambria"/>
                <a:ea typeface="Cambria"/>
                <a:cs typeface="Cambria"/>
                <a:sym typeface="Cambria"/>
              </a:rPr>
              <a:t>vistas de tu cuerpo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5"/>
          <p:cNvSpPr/>
          <p:nvPr/>
        </p:nvSpPr>
        <p:spPr>
          <a:xfrm>
            <a:off x="484830" y="6282056"/>
            <a:ext cx="82296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6728C"/>
              </a:buClr>
              <a:buSzPts val="900"/>
              <a:buFont typeface="Calibri"/>
              <a:buNone/>
            </a:pPr>
            <a:r>
              <a:rPr b="0" i="1" lang="en-US" sz="900" u="none" cap="none" strike="noStrike">
                <a:solidFill>
                  <a:srgbClr val="56728C"/>
                </a:solidFill>
                <a:latin typeface="Calibri"/>
                <a:ea typeface="Calibri"/>
                <a:cs typeface="Calibri"/>
                <a:sym typeface="Calibri"/>
              </a:rPr>
              <a:t>Cinco pestañas: Técnico · Live · Inicio · Sueño · Ajustes — mobile-first, estética “liquid glass”.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5"/>
          <p:cNvSpPr/>
          <p:nvPr/>
        </p:nvSpPr>
        <p:spPr>
          <a:xfrm>
            <a:off x="457200" y="6473952"/>
            <a:ext cx="54864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6728C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6728C"/>
                </a:solidFill>
                <a:latin typeface="Calibri"/>
                <a:ea typeface="Calibri"/>
                <a:cs typeface="Calibri"/>
                <a:sym typeface="Calibri"/>
              </a:rPr>
              <a:t>Producto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5"/>
          <p:cNvSpPr/>
          <p:nvPr/>
        </p:nvSpPr>
        <p:spPr>
          <a:xfrm>
            <a:off x="8991295" y="6473952"/>
            <a:ext cx="2743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6728C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6728C"/>
                </a:solidFill>
                <a:latin typeface="Calibri"/>
                <a:ea typeface="Calibri"/>
                <a:cs typeface="Calibri"/>
                <a:sym typeface="Calibri"/>
              </a:rPr>
              <a:t>BIOPULSE · 05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5"/>
          <p:cNvSpPr/>
          <p:nvPr/>
        </p:nvSpPr>
        <p:spPr>
          <a:xfrm>
            <a:off x="640075" y="2570750"/>
            <a:ext cx="2469000" cy="3071100"/>
          </a:xfrm>
          <a:prstGeom prst="roundRect">
            <a:avLst>
              <a:gd fmla="val 4444" name="adj"/>
            </a:avLst>
          </a:prstGeom>
          <a:solidFill>
            <a:srgbClr val="0D1B2A">
              <a:alpha val="81960"/>
            </a:srgbClr>
          </a:solidFill>
          <a:ln cap="flat" cmpd="sng" w="12700">
            <a:solidFill>
              <a:srgbClr val="1C304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38100">
              <a:srgbClr val="000000">
                <a:alpha val="349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" name="Google Shape;140;p5"/>
          <p:cNvSpPr/>
          <p:nvPr/>
        </p:nvSpPr>
        <p:spPr>
          <a:xfrm>
            <a:off x="640100" y="3017525"/>
            <a:ext cx="2469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3F7FA"/>
              </a:buClr>
              <a:buSzPts val="1650"/>
              <a:buFont typeface="Cambria"/>
              <a:buNone/>
            </a:pPr>
            <a:r>
              <a:rPr b="1" lang="en-US" sz="1650">
                <a:solidFill>
                  <a:srgbClr val="F3F7FA"/>
                </a:solidFill>
                <a:latin typeface="Cambria"/>
                <a:ea typeface="Cambria"/>
                <a:cs typeface="Cambria"/>
                <a:sym typeface="Cambria"/>
              </a:rPr>
              <a:t>Main Dashboard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5"/>
          <p:cNvSpPr/>
          <p:nvPr/>
        </p:nvSpPr>
        <p:spPr>
          <a:xfrm>
            <a:off x="640075" y="4192600"/>
            <a:ext cx="246900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34782"/>
              </a:lnSpc>
              <a:spcBef>
                <a:spcPts val="0"/>
              </a:spcBef>
              <a:spcAft>
                <a:spcPts val="0"/>
              </a:spcAft>
              <a:buClr>
                <a:srgbClr val="91A8BE"/>
              </a:buClr>
              <a:buSzPts val="1150"/>
              <a:buFont typeface="Calibri"/>
              <a:buNone/>
            </a:pPr>
            <a:r>
              <a:rPr lang="en-US" sz="1150">
                <a:solidFill>
                  <a:srgbClr val="91A8BE"/>
                </a:solidFill>
                <a:latin typeface="Calibri"/>
                <a:ea typeface="Calibri"/>
                <a:cs typeface="Calibri"/>
                <a:sym typeface="Calibri"/>
              </a:rPr>
              <a:t>Bioscore, riesgo del dia, Coach asistente IA, respiración y mucho más.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5"/>
          <p:cNvSpPr/>
          <p:nvPr/>
        </p:nvSpPr>
        <p:spPr>
          <a:xfrm>
            <a:off x="3364991" y="2570750"/>
            <a:ext cx="2469000" cy="3071100"/>
          </a:xfrm>
          <a:prstGeom prst="roundRect">
            <a:avLst>
              <a:gd fmla="val 4444" name="adj"/>
            </a:avLst>
          </a:prstGeom>
          <a:solidFill>
            <a:srgbClr val="0D1B2A">
              <a:alpha val="81960"/>
            </a:srgbClr>
          </a:solidFill>
          <a:ln cap="flat" cmpd="sng" w="12700">
            <a:solidFill>
              <a:srgbClr val="1C304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38100">
              <a:srgbClr val="000000">
                <a:alpha val="349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p5"/>
          <p:cNvSpPr/>
          <p:nvPr/>
        </p:nvSpPr>
        <p:spPr>
          <a:xfrm>
            <a:off x="3365025" y="2980950"/>
            <a:ext cx="2469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3F7FA"/>
              </a:buClr>
              <a:buSzPts val="1650"/>
              <a:buFont typeface="Cambria"/>
              <a:buNone/>
            </a:pPr>
            <a:r>
              <a:rPr b="1" lang="en-US" sz="1650">
                <a:solidFill>
                  <a:srgbClr val="F3F7FA"/>
                </a:solidFill>
                <a:latin typeface="Cambria"/>
                <a:ea typeface="Cambria"/>
                <a:cs typeface="Cambria"/>
                <a:sym typeface="Cambria"/>
              </a:rPr>
              <a:t>Sueño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5"/>
          <p:cNvSpPr/>
          <p:nvPr/>
        </p:nvSpPr>
        <p:spPr>
          <a:xfrm>
            <a:off x="3365125" y="4270250"/>
            <a:ext cx="246900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6315"/>
              </a:lnSpc>
              <a:spcBef>
                <a:spcPts val="0"/>
              </a:spcBef>
              <a:spcAft>
                <a:spcPts val="0"/>
              </a:spcAft>
              <a:buClr>
                <a:srgbClr val="91A8BE"/>
              </a:buClr>
              <a:buSzPts val="950"/>
              <a:buFont typeface="Calibri"/>
              <a:buNone/>
            </a:pPr>
            <a:r>
              <a:rPr lang="en-US" sz="1150">
                <a:solidFill>
                  <a:srgbClr val="91A8BE"/>
                </a:solidFill>
                <a:latin typeface="Calibri"/>
                <a:ea typeface="Calibri"/>
                <a:cs typeface="Calibri"/>
                <a:sym typeface="Calibri"/>
              </a:rPr>
              <a:t>Sleep score, eficiencia,</a:t>
            </a:r>
            <a:r>
              <a:rPr lang="en-US" sz="11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150">
                <a:solidFill>
                  <a:srgbClr val="91A8BE"/>
                </a:solidFill>
                <a:latin typeface="Calibri"/>
                <a:ea typeface="Calibri"/>
                <a:cs typeface="Calibri"/>
                <a:sym typeface="Calibri"/>
              </a:rPr>
              <a:t>HRV, HRH y mas metricas nocturnas.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34782"/>
              </a:lnSpc>
              <a:spcBef>
                <a:spcPts val="0"/>
              </a:spcBef>
              <a:spcAft>
                <a:spcPts val="0"/>
              </a:spcAft>
              <a:buClr>
                <a:srgbClr val="91A8BE"/>
              </a:buClr>
              <a:buSzPts val="1150"/>
              <a:buFont typeface="Calibri"/>
              <a:buNone/>
            </a:pPr>
            <a:r>
              <a:t/>
            </a:r>
            <a:endParaRPr sz="1150">
              <a:solidFill>
                <a:srgbClr val="91A8BE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5"/>
          <p:cNvSpPr/>
          <p:nvPr/>
        </p:nvSpPr>
        <p:spPr>
          <a:xfrm>
            <a:off x="6089908" y="2570750"/>
            <a:ext cx="2469000" cy="3071100"/>
          </a:xfrm>
          <a:prstGeom prst="roundRect">
            <a:avLst>
              <a:gd fmla="val 4444" name="adj"/>
            </a:avLst>
          </a:prstGeom>
          <a:solidFill>
            <a:srgbClr val="0D1B2A">
              <a:alpha val="81960"/>
            </a:srgbClr>
          </a:solidFill>
          <a:ln cap="flat" cmpd="sng" w="12700">
            <a:solidFill>
              <a:srgbClr val="1C304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38100">
              <a:srgbClr val="000000">
                <a:alpha val="349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" name="Google Shape;146;p5"/>
          <p:cNvSpPr/>
          <p:nvPr/>
        </p:nvSpPr>
        <p:spPr>
          <a:xfrm>
            <a:off x="6089913" y="3017525"/>
            <a:ext cx="2469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3F7FA"/>
              </a:buClr>
              <a:buSzPts val="1650"/>
              <a:buFont typeface="Cambria"/>
              <a:buNone/>
            </a:pPr>
            <a:r>
              <a:rPr b="1" lang="en-US" sz="1650">
                <a:solidFill>
                  <a:srgbClr val="F3F7FA"/>
                </a:solidFill>
                <a:latin typeface="Cambria"/>
                <a:ea typeface="Cambria"/>
                <a:cs typeface="Cambria"/>
                <a:sym typeface="Cambria"/>
              </a:rPr>
              <a:t>Técnico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5"/>
          <p:cNvSpPr/>
          <p:nvPr/>
        </p:nvSpPr>
        <p:spPr>
          <a:xfrm>
            <a:off x="6086300" y="4270250"/>
            <a:ext cx="246900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6315"/>
              </a:lnSpc>
              <a:spcBef>
                <a:spcPts val="0"/>
              </a:spcBef>
              <a:spcAft>
                <a:spcPts val="0"/>
              </a:spcAft>
              <a:buClr>
                <a:srgbClr val="91A8BE"/>
              </a:buClr>
              <a:buSzPts val="950"/>
              <a:buFont typeface="Calibri"/>
              <a:buNone/>
            </a:pPr>
            <a:r>
              <a:rPr lang="en-US" sz="1150">
                <a:solidFill>
                  <a:srgbClr val="91A8BE"/>
                </a:solidFill>
                <a:latin typeface="Calibri"/>
                <a:ea typeface="Calibri"/>
                <a:cs typeface="Calibri"/>
                <a:sym typeface="Calibri"/>
              </a:rPr>
              <a:t>Curva de energía,</a:t>
            </a:r>
            <a:r>
              <a:rPr lang="en-US" sz="11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150">
                <a:solidFill>
                  <a:srgbClr val="91A8BE"/>
                </a:solidFill>
                <a:latin typeface="Calibri"/>
                <a:ea typeface="Calibri"/>
                <a:cs typeface="Calibri"/>
                <a:sym typeface="Calibri"/>
              </a:rPr>
              <a:t>proyección de riesgo y modelos de predicción avanzados.</a:t>
            </a:r>
            <a:endParaRPr sz="1150">
              <a:solidFill>
                <a:srgbClr val="91A8BE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34782"/>
              </a:lnSpc>
              <a:spcBef>
                <a:spcPts val="0"/>
              </a:spcBef>
              <a:spcAft>
                <a:spcPts val="0"/>
              </a:spcAft>
              <a:buClr>
                <a:srgbClr val="91A8BE"/>
              </a:buClr>
              <a:buSzPts val="1150"/>
              <a:buFont typeface="Calibri"/>
              <a:buNone/>
            </a:pPr>
            <a:r>
              <a:t/>
            </a:r>
            <a:endParaRPr sz="1150">
              <a:solidFill>
                <a:srgbClr val="91A8BE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5"/>
          <p:cNvSpPr/>
          <p:nvPr/>
        </p:nvSpPr>
        <p:spPr>
          <a:xfrm>
            <a:off x="8814824" y="2570750"/>
            <a:ext cx="2469000" cy="3071100"/>
          </a:xfrm>
          <a:prstGeom prst="roundRect">
            <a:avLst>
              <a:gd fmla="val 4444" name="adj"/>
            </a:avLst>
          </a:prstGeom>
          <a:solidFill>
            <a:srgbClr val="0D1B2A">
              <a:alpha val="81960"/>
            </a:srgbClr>
          </a:solidFill>
          <a:ln cap="flat" cmpd="sng" w="12700">
            <a:solidFill>
              <a:srgbClr val="1C304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38100">
              <a:srgbClr val="000000">
                <a:alpha val="349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" name="Google Shape;149;p5"/>
          <p:cNvSpPr/>
          <p:nvPr/>
        </p:nvSpPr>
        <p:spPr>
          <a:xfrm>
            <a:off x="8814825" y="2980950"/>
            <a:ext cx="2469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3F7FA"/>
              </a:buClr>
              <a:buSzPts val="1650"/>
              <a:buFont typeface="Cambria"/>
              <a:buNone/>
            </a:pPr>
            <a:r>
              <a:rPr b="1" lang="en-US" sz="1650">
                <a:solidFill>
                  <a:srgbClr val="F3F7FA"/>
                </a:solidFill>
                <a:latin typeface="Cambria"/>
                <a:ea typeface="Cambria"/>
                <a:cs typeface="Cambria"/>
                <a:sym typeface="Cambria"/>
              </a:rPr>
              <a:t>Live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5"/>
          <p:cNvSpPr/>
          <p:nvPr/>
        </p:nvSpPr>
        <p:spPr>
          <a:xfrm>
            <a:off x="8814825" y="4270250"/>
            <a:ext cx="246900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6315"/>
              </a:lnSpc>
              <a:spcBef>
                <a:spcPts val="0"/>
              </a:spcBef>
              <a:spcAft>
                <a:spcPts val="0"/>
              </a:spcAft>
              <a:buClr>
                <a:srgbClr val="91A8BE"/>
              </a:buClr>
              <a:buSzPts val="1178"/>
              <a:buFont typeface="Calibri"/>
              <a:buNone/>
            </a:pPr>
            <a:r>
              <a:rPr lang="en-US" sz="1178">
                <a:solidFill>
                  <a:srgbClr val="91A8BE"/>
                </a:solidFill>
                <a:latin typeface="Calibri"/>
                <a:ea typeface="Calibri"/>
                <a:cs typeface="Calibri"/>
                <a:sym typeface="Calibri"/>
              </a:rPr>
              <a:t>HR, HRV, Frec. respiratoria y muchas más métricas en vivo.</a:t>
            </a:r>
            <a:endParaRPr sz="1178">
              <a:solidFill>
                <a:srgbClr val="91A8BE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4782"/>
              </a:lnSpc>
              <a:spcBef>
                <a:spcPts val="0"/>
              </a:spcBef>
              <a:spcAft>
                <a:spcPts val="0"/>
              </a:spcAft>
              <a:buClr>
                <a:srgbClr val="91A8BE"/>
              </a:buClr>
              <a:buSzPts val="1150"/>
              <a:buFont typeface="Calibri"/>
              <a:buNone/>
            </a:pPr>
            <a:r>
              <a:t/>
            </a:r>
            <a:endParaRPr sz="1150">
              <a:solidFill>
                <a:srgbClr val="91A8BE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51" name="Google Shape;151;p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50" y="2381700"/>
            <a:ext cx="12176476" cy="3308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home/claude/biopulse_pitch/assets/bg_content.png" id="157" name="Google Shape;157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1695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8" name="Google Shape;158;p6"/>
          <p:cNvSpPr/>
          <p:nvPr/>
        </p:nvSpPr>
        <p:spPr>
          <a:xfrm>
            <a:off x="640080" y="502920"/>
            <a:ext cx="7315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F5D4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00F5D4"/>
                </a:solidFill>
                <a:latin typeface="Calibri"/>
                <a:ea typeface="Calibri"/>
                <a:cs typeface="Calibri"/>
                <a:sym typeface="Calibri"/>
              </a:rPr>
              <a:t>DIFERENCIAL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6"/>
          <p:cNvSpPr/>
          <p:nvPr/>
        </p:nvSpPr>
        <p:spPr>
          <a:xfrm>
            <a:off x="640080" y="804672"/>
            <a:ext cx="10881360" cy="960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F3F7FA"/>
              </a:buClr>
              <a:buSzPts val="2900"/>
              <a:buFont typeface="Cambria"/>
              <a:buNone/>
            </a:pPr>
            <a:r>
              <a:rPr b="1" i="0" lang="en-US" sz="2900" u="none" cap="none" strike="noStrike">
                <a:solidFill>
                  <a:srgbClr val="F3F7FA"/>
                </a:solidFill>
                <a:latin typeface="Cambria"/>
                <a:ea typeface="Cambria"/>
                <a:cs typeface="Cambria"/>
                <a:sym typeface="Cambria"/>
              </a:rPr>
              <a:t>El coach IA: tu hermano mayor biohacker</a:t>
            </a:r>
            <a:endParaRPr b="0" i="0" sz="2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6"/>
          <p:cNvSpPr/>
          <p:nvPr/>
        </p:nvSpPr>
        <p:spPr>
          <a:xfrm>
            <a:off x="640080" y="2148840"/>
            <a:ext cx="5394960" cy="4160520"/>
          </a:xfrm>
          <a:prstGeom prst="roundRect">
            <a:avLst>
              <a:gd fmla="val 2637" name="adj"/>
            </a:avLst>
          </a:prstGeom>
          <a:solidFill>
            <a:srgbClr val="0D1B2A">
              <a:alpha val="81961"/>
            </a:srgbClr>
          </a:solidFill>
          <a:ln cap="flat" cmpd="sng" w="12700">
            <a:solidFill>
              <a:srgbClr val="1C304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38100">
              <a:srgbClr val="000000">
                <a:alpha val="3490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" name="Google Shape;161;p6"/>
          <p:cNvSpPr/>
          <p:nvPr/>
        </p:nvSpPr>
        <p:spPr>
          <a:xfrm>
            <a:off x="960120" y="2441448"/>
            <a:ext cx="502920" cy="502920"/>
          </a:xfrm>
          <a:prstGeom prst="ellipse">
            <a:avLst/>
          </a:prstGeom>
          <a:solidFill>
            <a:srgbClr val="0D1B2A">
              <a:alpha val="90196"/>
            </a:srgbClr>
          </a:solidFill>
          <a:ln cap="flat" cmpd="sng" w="12700">
            <a:solidFill>
              <a:srgbClr val="1C304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biopulse_pitch/assets/icons/code_teal.png" id="162" name="Google Shape;162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90879" y="2572207"/>
            <a:ext cx="241402" cy="241402"/>
          </a:xfrm>
          <a:prstGeom prst="rect">
            <a:avLst/>
          </a:prstGeom>
          <a:noFill/>
          <a:ln>
            <a:noFill/>
          </a:ln>
        </p:spPr>
      </p:pic>
      <p:sp>
        <p:nvSpPr>
          <p:cNvPr id="163" name="Google Shape;163;p6"/>
          <p:cNvSpPr/>
          <p:nvPr/>
        </p:nvSpPr>
        <p:spPr>
          <a:xfrm>
            <a:off x="1600200" y="2423160"/>
            <a:ext cx="42062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3F7FA"/>
              </a:buClr>
              <a:buSzPts val="1650"/>
              <a:buFont typeface="Cambria"/>
              <a:buNone/>
            </a:pPr>
            <a:r>
              <a:rPr b="1" i="0" lang="en-US" sz="1650" u="none" cap="none" strike="noStrike">
                <a:solidFill>
                  <a:srgbClr val="F3F7FA"/>
                </a:solidFill>
                <a:latin typeface="Cambria"/>
                <a:ea typeface="Cambria"/>
                <a:cs typeface="Cambria"/>
                <a:sym typeface="Cambria"/>
              </a:rPr>
              <a:t>Cómo está construido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6"/>
          <p:cNvSpPr/>
          <p:nvPr/>
        </p:nvSpPr>
        <p:spPr>
          <a:xfrm>
            <a:off x="987552" y="3227832"/>
            <a:ext cx="82296" cy="82296"/>
          </a:xfrm>
          <a:prstGeom prst="ellipse">
            <a:avLst/>
          </a:prstGeom>
          <a:solidFill>
            <a:srgbClr val="00F5D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" name="Google Shape;165;p6"/>
          <p:cNvSpPr/>
          <p:nvPr/>
        </p:nvSpPr>
        <p:spPr>
          <a:xfrm>
            <a:off x="1207008" y="3081528"/>
            <a:ext cx="452628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9166"/>
              </a:lnSpc>
              <a:spcBef>
                <a:spcPts val="0"/>
              </a:spcBef>
              <a:spcAft>
                <a:spcPts val="0"/>
              </a:spcAft>
              <a:buClr>
                <a:srgbClr val="91A8BE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91A8BE"/>
                </a:solidFill>
                <a:latin typeface="Calibri"/>
                <a:ea typeface="Calibri"/>
                <a:cs typeface="Calibri"/>
                <a:sym typeface="Calibri"/>
              </a:rPr>
              <a:t>Motor Groq (Llama 3.3 70B) con streaming en vivo (SSE) — respuesta que se “escribe” en tiempo real.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6"/>
          <p:cNvSpPr/>
          <p:nvPr/>
        </p:nvSpPr>
        <p:spPr>
          <a:xfrm>
            <a:off x="987552" y="4014216"/>
            <a:ext cx="82296" cy="82296"/>
          </a:xfrm>
          <a:prstGeom prst="ellipse">
            <a:avLst/>
          </a:prstGeom>
          <a:solidFill>
            <a:srgbClr val="00F5D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" name="Google Shape;167;p6"/>
          <p:cNvSpPr/>
          <p:nvPr/>
        </p:nvSpPr>
        <p:spPr>
          <a:xfrm>
            <a:off x="1207008" y="3867912"/>
            <a:ext cx="452628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9166"/>
              </a:lnSpc>
              <a:spcBef>
                <a:spcPts val="0"/>
              </a:spcBef>
              <a:spcAft>
                <a:spcPts val="0"/>
              </a:spcAft>
              <a:buClr>
                <a:srgbClr val="91A8BE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91A8BE"/>
                </a:solidFill>
                <a:latin typeface="Calibri"/>
                <a:ea typeface="Calibri"/>
                <a:cs typeface="Calibri"/>
                <a:sym typeface="Calibri"/>
              </a:rPr>
              <a:t>Contexto por pestaña: entiende en qué pantalla está el usuario y adapta su respuesta.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6"/>
          <p:cNvSpPr/>
          <p:nvPr/>
        </p:nvSpPr>
        <p:spPr>
          <a:xfrm>
            <a:off x="987552" y="4800600"/>
            <a:ext cx="82296" cy="82296"/>
          </a:xfrm>
          <a:prstGeom prst="ellipse">
            <a:avLst/>
          </a:prstGeom>
          <a:solidFill>
            <a:srgbClr val="00F5D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" name="Google Shape;169;p6"/>
          <p:cNvSpPr/>
          <p:nvPr/>
        </p:nvSpPr>
        <p:spPr>
          <a:xfrm>
            <a:off x="1207008" y="4654296"/>
            <a:ext cx="452628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9166"/>
              </a:lnSpc>
              <a:spcBef>
                <a:spcPts val="0"/>
              </a:spcBef>
              <a:spcAft>
                <a:spcPts val="0"/>
              </a:spcAft>
              <a:buClr>
                <a:srgbClr val="91A8BE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91A8BE"/>
                </a:solidFill>
                <a:latin typeface="Calibri"/>
                <a:ea typeface="Calibri"/>
                <a:cs typeface="Calibri"/>
                <a:sym typeface="Calibri"/>
              </a:rPr>
              <a:t>Seguridad multicapa: rate-limit por IP, validación anti-inyección, cero persistencia de datos de salud.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6"/>
          <p:cNvSpPr/>
          <p:nvPr/>
        </p:nvSpPr>
        <p:spPr>
          <a:xfrm>
            <a:off x="987552" y="5586984"/>
            <a:ext cx="82296" cy="82296"/>
          </a:xfrm>
          <a:prstGeom prst="ellipse">
            <a:avLst/>
          </a:prstGeom>
          <a:solidFill>
            <a:srgbClr val="00F5D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" name="Google Shape;171;p6"/>
          <p:cNvSpPr/>
          <p:nvPr/>
        </p:nvSpPr>
        <p:spPr>
          <a:xfrm>
            <a:off x="1207008" y="5440680"/>
            <a:ext cx="452628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9166"/>
              </a:lnSpc>
              <a:spcBef>
                <a:spcPts val="0"/>
              </a:spcBef>
              <a:spcAft>
                <a:spcPts val="0"/>
              </a:spcAft>
              <a:buClr>
                <a:srgbClr val="91A8BE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91A8BE"/>
                </a:solidFill>
                <a:latin typeface="Calibri"/>
                <a:ea typeface="Calibri"/>
                <a:cs typeface="Calibri"/>
                <a:sym typeface="Calibri"/>
              </a:rPr>
              <a:t>Fallback local: si no hay red o API key, sigue funcionando con un motor de reglas propio.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6"/>
          <p:cNvSpPr/>
          <p:nvPr/>
        </p:nvSpPr>
        <p:spPr>
          <a:xfrm>
            <a:off x="6263640" y="2148840"/>
            <a:ext cx="5285232" cy="4160520"/>
          </a:xfrm>
          <a:prstGeom prst="roundRect">
            <a:avLst>
              <a:gd fmla="val 2637" name="adj"/>
            </a:avLst>
          </a:prstGeom>
          <a:solidFill>
            <a:srgbClr val="112436">
              <a:alpha val="81961"/>
            </a:srgbClr>
          </a:solidFill>
          <a:ln cap="flat" cmpd="sng" w="12700">
            <a:solidFill>
              <a:srgbClr val="1C304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38100">
              <a:srgbClr val="000000">
                <a:alpha val="3490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" name="Google Shape;173;p6"/>
          <p:cNvSpPr/>
          <p:nvPr/>
        </p:nvSpPr>
        <p:spPr>
          <a:xfrm>
            <a:off x="6583680" y="2441448"/>
            <a:ext cx="502920" cy="502920"/>
          </a:xfrm>
          <a:prstGeom prst="ellipse">
            <a:avLst/>
          </a:prstGeom>
          <a:solidFill>
            <a:srgbClr val="0D1B2A">
              <a:alpha val="90196"/>
            </a:srgbClr>
          </a:solidFill>
          <a:ln cap="flat" cmpd="sng" w="12700">
            <a:solidFill>
              <a:srgbClr val="1C304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biopulse_pitch/assets/icons/message_teal.png" id="174" name="Google Shape;174;p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714439" y="2572207"/>
            <a:ext cx="241402" cy="241402"/>
          </a:xfrm>
          <a:prstGeom prst="rect">
            <a:avLst/>
          </a:prstGeom>
          <a:noFill/>
          <a:ln>
            <a:noFill/>
          </a:ln>
        </p:spPr>
      </p:pic>
      <p:sp>
        <p:nvSpPr>
          <p:cNvPr id="175" name="Google Shape;175;p6"/>
          <p:cNvSpPr/>
          <p:nvPr/>
        </p:nvSpPr>
        <p:spPr>
          <a:xfrm>
            <a:off x="7223760" y="2423160"/>
            <a:ext cx="4096512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3F7FA"/>
              </a:buClr>
              <a:buSzPts val="1650"/>
              <a:buFont typeface="Cambria"/>
              <a:buNone/>
            </a:pPr>
            <a:r>
              <a:rPr b="1" i="0" lang="en-US" sz="1650" u="none" cap="none" strike="noStrike">
                <a:solidFill>
                  <a:srgbClr val="F3F7FA"/>
                </a:solidFill>
                <a:latin typeface="Cambria"/>
                <a:ea typeface="Cambria"/>
                <a:cs typeface="Cambria"/>
                <a:sym typeface="Cambria"/>
              </a:rPr>
              <a:t>Cómo se siente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6"/>
          <p:cNvSpPr/>
          <p:nvPr/>
        </p:nvSpPr>
        <p:spPr>
          <a:xfrm>
            <a:off x="6629400" y="3200400"/>
            <a:ext cx="4553712" cy="1691640"/>
          </a:xfrm>
          <a:prstGeom prst="roundRect">
            <a:avLst>
              <a:gd fmla="val 5405" name="adj"/>
            </a:avLst>
          </a:prstGeom>
          <a:solidFill>
            <a:srgbClr val="050A10">
              <a:alpha val="74902"/>
            </a:srgbClr>
          </a:solidFill>
          <a:ln cap="flat" cmpd="sng" w="12700">
            <a:solidFill>
              <a:srgbClr val="00F5D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" name="Google Shape;177;p6"/>
          <p:cNvSpPr/>
          <p:nvPr/>
        </p:nvSpPr>
        <p:spPr>
          <a:xfrm>
            <a:off x="6903720" y="3200400"/>
            <a:ext cx="4005072" cy="1691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35483"/>
              </a:lnSpc>
              <a:spcBef>
                <a:spcPts val="0"/>
              </a:spcBef>
              <a:spcAft>
                <a:spcPts val="0"/>
              </a:spcAft>
              <a:buClr>
                <a:srgbClr val="F3F7FA"/>
              </a:buClr>
              <a:buSzPts val="1550"/>
              <a:buFont typeface="Cambria"/>
              <a:buNone/>
            </a:pPr>
            <a:r>
              <a:rPr b="0" i="1" lang="en-US" sz="1550" u="none" cap="none" strike="noStrike">
                <a:solidFill>
                  <a:srgbClr val="F3F7FA"/>
                </a:solidFill>
                <a:latin typeface="Cambria"/>
                <a:ea typeface="Cambria"/>
                <a:cs typeface="Cambria"/>
                <a:sym typeface="Cambria"/>
              </a:rPr>
              <a:t>“Dormiste bien, pero tu HRV bajó. Hoy entrena suave y prioriza cenar temprano.”</a:t>
            </a:r>
            <a:endParaRPr b="0" i="0" sz="1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6"/>
          <p:cNvSpPr/>
          <p:nvPr/>
        </p:nvSpPr>
        <p:spPr>
          <a:xfrm>
            <a:off x="6629400" y="5001768"/>
            <a:ext cx="4553712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6728C"/>
              </a:buClr>
              <a:buSzPts val="1100"/>
              <a:buFont typeface="Calibri"/>
              <a:buNone/>
            </a:pPr>
            <a:r>
              <a:rPr b="0" i="1" lang="en-US" sz="1100" u="none" cap="none" strike="noStrike">
                <a:solidFill>
                  <a:srgbClr val="56728C"/>
                </a:solidFill>
                <a:latin typeface="Calibri"/>
                <a:ea typeface="Calibri"/>
                <a:cs typeface="Calibri"/>
                <a:sym typeface="Calibri"/>
              </a:rPr>
              <a:t>— Coach BioPulse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6"/>
          <p:cNvSpPr/>
          <p:nvPr/>
        </p:nvSpPr>
        <p:spPr>
          <a:xfrm>
            <a:off x="6629400" y="5486400"/>
            <a:ext cx="4553712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rgbClr val="91A8BE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91A8BE"/>
                </a:solidFill>
                <a:latin typeface="Calibri"/>
                <a:ea typeface="Calibri"/>
                <a:cs typeface="Calibri"/>
                <a:sym typeface="Calibri"/>
              </a:rPr>
              <a:t>Máximo dos frases. Sin diagnósticos. Sin leer números crudos. Siempre disponible — con o sin conexión.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6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6728C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6728C"/>
                </a:solidFill>
                <a:latin typeface="Calibri"/>
                <a:ea typeface="Calibri"/>
                <a:cs typeface="Calibri"/>
                <a:sym typeface="Calibri"/>
              </a:rPr>
              <a:t>Diferencial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6"/>
          <p:cNvSpPr/>
          <p:nvPr/>
        </p:nvSpPr>
        <p:spPr>
          <a:xfrm>
            <a:off x="8991295" y="6473952"/>
            <a:ext cx="2743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6728C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6728C"/>
                </a:solidFill>
                <a:latin typeface="Calibri"/>
                <a:ea typeface="Calibri"/>
                <a:cs typeface="Calibri"/>
                <a:sym typeface="Calibri"/>
              </a:rPr>
              <a:t>BIOPULSE · 06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claude/biopulse_pitch/assets/icons/activity_teal.png" id="182" name="Google Shape;182;p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3900" y="157748"/>
            <a:ext cx="237744" cy="237744"/>
          </a:xfrm>
          <a:prstGeom prst="rect">
            <a:avLst/>
          </a:prstGeom>
          <a:noFill/>
          <a:ln>
            <a:noFill/>
          </a:ln>
        </p:spPr>
      </p:pic>
      <p:sp>
        <p:nvSpPr>
          <p:cNvPr id="183" name="Google Shape;183;p6"/>
          <p:cNvSpPr/>
          <p:nvPr/>
        </p:nvSpPr>
        <p:spPr>
          <a:xfrm>
            <a:off x="386508" y="121172"/>
            <a:ext cx="2743200" cy="31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3F7FA"/>
              </a:buClr>
              <a:buSzPts val="1500"/>
              <a:buFont typeface="Cambria"/>
              <a:buNone/>
            </a:pPr>
            <a:r>
              <a:rPr b="1" i="0" lang="en-US" sz="1500" u="none" cap="none" strike="noStrike">
                <a:solidFill>
                  <a:srgbClr val="F3F7FA"/>
                </a:solidFill>
                <a:latin typeface="Cambria"/>
                <a:ea typeface="Cambria"/>
                <a:cs typeface="Cambria"/>
                <a:sym typeface="Cambria"/>
              </a:rPr>
              <a:t>BIOPULSE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home/claude/biopulse_pitch/assets/bg_content.png" id="189" name="Google Shape;189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1695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90" name="Google Shape;190;p7"/>
          <p:cNvSpPr/>
          <p:nvPr/>
        </p:nvSpPr>
        <p:spPr>
          <a:xfrm>
            <a:off x="640080" y="502920"/>
            <a:ext cx="7315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F5D4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00F5D4"/>
                </a:solidFill>
                <a:latin typeface="Calibri"/>
                <a:ea typeface="Calibri"/>
                <a:cs typeface="Calibri"/>
                <a:sym typeface="Calibri"/>
              </a:rPr>
              <a:t>RIGOR CIENTÍFICO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7"/>
          <p:cNvSpPr/>
          <p:nvPr/>
        </p:nvSpPr>
        <p:spPr>
          <a:xfrm>
            <a:off x="640080" y="804672"/>
            <a:ext cx="10881360" cy="960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F3F7FA"/>
              </a:buClr>
              <a:buSzPts val="2900"/>
              <a:buFont typeface="Cambria"/>
              <a:buNone/>
            </a:pPr>
            <a:r>
              <a:rPr b="1" i="0" lang="en-US" sz="2900" u="none" cap="none" strike="noStrike">
                <a:solidFill>
                  <a:srgbClr val="F3F7FA"/>
                </a:solidFill>
                <a:latin typeface="Cambria"/>
                <a:ea typeface="Cambria"/>
                <a:cs typeface="Cambria"/>
                <a:sym typeface="Cambria"/>
              </a:rPr>
              <a:t>Ciencia de datos real, no wellness genérico</a:t>
            </a:r>
            <a:endParaRPr b="0" i="0" sz="2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7"/>
          <p:cNvSpPr/>
          <p:nvPr/>
        </p:nvSpPr>
        <p:spPr>
          <a:xfrm>
            <a:off x="640080" y="2148840"/>
            <a:ext cx="2542032" cy="2331720"/>
          </a:xfrm>
          <a:prstGeom prst="roundRect">
            <a:avLst>
              <a:gd fmla="val 4706" name="adj"/>
            </a:avLst>
          </a:prstGeom>
          <a:solidFill>
            <a:srgbClr val="0D1B2A">
              <a:alpha val="81961"/>
            </a:srgbClr>
          </a:solidFill>
          <a:ln cap="flat" cmpd="sng" w="12700">
            <a:solidFill>
              <a:srgbClr val="1C304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38100">
              <a:srgbClr val="000000">
                <a:alpha val="3490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3" name="Google Shape;193;p7"/>
          <p:cNvSpPr/>
          <p:nvPr/>
        </p:nvSpPr>
        <p:spPr>
          <a:xfrm>
            <a:off x="914400" y="2423160"/>
            <a:ext cx="548640" cy="548640"/>
          </a:xfrm>
          <a:prstGeom prst="ellipse">
            <a:avLst/>
          </a:prstGeom>
          <a:solidFill>
            <a:srgbClr val="0D1B2A">
              <a:alpha val="90196"/>
            </a:srgbClr>
          </a:solidFill>
          <a:ln cap="flat" cmpd="sng" w="12700">
            <a:solidFill>
              <a:srgbClr val="1C304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biopulse_pitch/assets/icons/database_teal.png" id="194" name="Google Shape;194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57046" y="2565806"/>
            <a:ext cx="263347" cy="263347"/>
          </a:xfrm>
          <a:prstGeom prst="rect">
            <a:avLst/>
          </a:prstGeom>
          <a:noFill/>
          <a:ln>
            <a:noFill/>
          </a:ln>
        </p:spPr>
      </p:pic>
      <p:sp>
        <p:nvSpPr>
          <p:cNvPr id="195" name="Google Shape;195;p7"/>
          <p:cNvSpPr/>
          <p:nvPr/>
        </p:nvSpPr>
        <p:spPr>
          <a:xfrm>
            <a:off x="896112" y="3154680"/>
            <a:ext cx="2029968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0526"/>
              </a:lnSpc>
              <a:spcBef>
                <a:spcPts val="0"/>
              </a:spcBef>
              <a:spcAft>
                <a:spcPts val="0"/>
              </a:spcAft>
              <a:buClr>
                <a:srgbClr val="F3F7FA"/>
              </a:buClr>
              <a:buSzPts val="1900"/>
              <a:buFont typeface="Courier New"/>
              <a:buNone/>
            </a:pPr>
            <a:r>
              <a:rPr b="1" i="0" lang="en-US" sz="1900" u="none" cap="none" strike="noStrike">
                <a:solidFill>
                  <a:srgbClr val="F3F7FA"/>
                </a:solidFill>
                <a:latin typeface="Courier New"/>
                <a:ea typeface="Courier New"/>
                <a:cs typeface="Courier New"/>
                <a:sym typeface="Courier New"/>
              </a:rPr>
              <a:t>100,000+</a:t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7"/>
          <p:cNvSpPr/>
          <p:nvPr/>
        </p:nvSpPr>
        <p:spPr>
          <a:xfrm>
            <a:off x="896112" y="3776472"/>
            <a:ext cx="2029968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8571"/>
              </a:lnSpc>
              <a:spcBef>
                <a:spcPts val="0"/>
              </a:spcBef>
              <a:spcAft>
                <a:spcPts val="0"/>
              </a:spcAft>
              <a:buClr>
                <a:srgbClr val="91A8BE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91A8BE"/>
                </a:solidFill>
                <a:latin typeface="Calibri"/>
                <a:ea typeface="Calibri"/>
                <a:cs typeface="Calibri"/>
                <a:sym typeface="Calibri"/>
              </a:rPr>
              <a:t>registros reales de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8571"/>
              </a:lnSpc>
              <a:spcBef>
                <a:spcPts val="0"/>
              </a:spcBef>
              <a:spcAft>
                <a:spcPts val="0"/>
              </a:spcAft>
              <a:buClr>
                <a:srgbClr val="91A8BE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91A8BE"/>
                </a:solidFill>
                <a:latin typeface="Calibri"/>
                <a:ea typeface="Calibri"/>
                <a:cs typeface="Calibri"/>
                <a:sym typeface="Calibri"/>
              </a:rPr>
              <a:t>Whoop analizados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7"/>
          <p:cNvSpPr/>
          <p:nvPr/>
        </p:nvSpPr>
        <p:spPr>
          <a:xfrm>
            <a:off x="3401568" y="2148840"/>
            <a:ext cx="2542032" cy="2331720"/>
          </a:xfrm>
          <a:prstGeom prst="roundRect">
            <a:avLst>
              <a:gd fmla="val 4706" name="adj"/>
            </a:avLst>
          </a:prstGeom>
          <a:solidFill>
            <a:srgbClr val="0D1B2A">
              <a:alpha val="81961"/>
            </a:srgbClr>
          </a:solidFill>
          <a:ln cap="flat" cmpd="sng" w="12700">
            <a:solidFill>
              <a:srgbClr val="1C304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38100">
              <a:srgbClr val="000000">
                <a:alpha val="3490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8" name="Google Shape;198;p7"/>
          <p:cNvSpPr/>
          <p:nvPr/>
        </p:nvSpPr>
        <p:spPr>
          <a:xfrm>
            <a:off x="3675888" y="2423160"/>
            <a:ext cx="548640" cy="548640"/>
          </a:xfrm>
          <a:prstGeom prst="ellipse">
            <a:avLst/>
          </a:prstGeom>
          <a:solidFill>
            <a:srgbClr val="0D1B2A">
              <a:alpha val="90196"/>
            </a:srgbClr>
          </a:solidFill>
          <a:ln cap="flat" cmpd="sng" w="12700">
            <a:solidFill>
              <a:srgbClr val="1C304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biopulse_pitch/assets/icons/layers_teal.png" id="199" name="Google Shape;199;p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818534" y="2565806"/>
            <a:ext cx="263347" cy="263347"/>
          </a:xfrm>
          <a:prstGeom prst="rect">
            <a:avLst/>
          </a:prstGeom>
          <a:noFill/>
          <a:ln>
            <a:noFill/>
          </a:ln>
        </p:spPr>
      </p:pic>
      <p:sp>
        <p:nvSpPr>
          <p:cNvPr id="200" name="Google Shape;200;p7"/>
          <p:cNvSpPr/>
          <p:nvPr/>
        </p:nvSpPr>
        <p:spPr>
          <a:xfrm>
            <a:off x="3657600" y="3154680"/>
            <a:ext cx="2029968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0526"/>
              </a:lnSpc>
              <a:spcBef>
                <a:spcPts val="0"/>
              </a:spcBef>
              <a:spcAft>
                <a:spcPts val="0"/>
              </a:spcAft>
              <a:buClr>
                <a:srgbClr val="F3F7FA"/>
              </a:buClr>
              <a:buSzPts val="1900"/>
              <a:buFont typeface="Courier New"/>
              <a:buNone/>
            </a:pPr>
            <a:r>
              <a:rPr b="1" i="0" lang="en-US" sz="1900" u="none" cap="none" strike="noStrike">
                <a:solidFill>
                  <a:srgbClr val="F3F7FA"/>
                </a:solidFill>
                <a:latin typeface="Courier New"/>
                <a:ea typeface="Courier New"/>
                <a:cs typeface="Courier New"/>
                <a:sym typeface="Courier New"/>
              </a:rPr>
              <a:t>4 señales</a:t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7"/>
          <p:cNvSpPr/>
          <p:nvPr/>
        </p:nvSpPr>
        <p:spPr>
          <a:xfrm>
            <a:off x="3657600" y="3776472"/>
            <a:ext cx="2029968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8571"/>
              </a:lnSpc>
              <a:spcBef>
                <a:spcPts val="0"/>
              </a:spcBef>
              <a:spcAft>
                <a:spcPts val="0"/>
              </a:spcAft>
              <a:buClr>
                <a:srgbClr val="91A8BE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91A8BE"/>
                </a:solidFill>
                <a:latin typeface="Calibri"/>
                <a:ea typeface="Calibri"/>
                <a:cs typeface="Calibri"/>
                <a:sym typeface="Calibri"/>
              </a:rPr>
              <a:t>estadísticas combinadas: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8571"/>
              </a:lnSpc>
              <a:spcBef>
                <a:spcPts val="0"/>
              </a:spcBef>
              <a:spcAft>
                <a:spcPts val="0"/>
              </a:spcAft>
              <a:buClr>
                <a:srgbClr val="91A8BE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91A8BE"/>
                </a:solidFill>
                <a:latin typeface="Calibri"/>
                <a:ea typeface="Calibri"/>
                <a:cs typeface="Calibri"/>
                <a:sym typeface="Calibri"/>
              </a:rPr>
              <a:t>z-score, ApEn, fatiga aguda, regla clínica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7"/>
          <p:cNvSpPr/>
          <p:nvPr/>
        </p:nvSpPr>
        <p:spPr>
          <a:xfrm>
            <a:off x="6163056" y="2148840"/>
            <a:ext cx="2542032" cy="2331720"/>
          </a:xfrm>
          <a:prstGeom prst="roundRect">
            <a:avLst>
              <a:gd fmla="val 4706" name="adj"/>
            </a:avLst>
          </a:prstGeom>
          <a:solidFill>
            <a:srgbClr val="0D1B2A">
              <a:alpha val="81961"/>
            </a:srgbClr>
          </a:solidFill>
          <a:ln cap="flat" cmpd="sng" w="12700">
            <a:solidFill>
              <a:srgbClr val="1C304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38100">
              <a:srgbClr val="000000">
                <a:alpha val="3490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3" name="Google Shape;203;p7"/>
          <p:cNvSpPr/>
          <p:nvPr/>
        </p:nvSpPr>
        <p:spPr>
          <a:xfrm>
            <a:off x="6437376" y="2423160"/>
            <a:ext cx="548640" cy="548640"/>
          </a:xfrm>
          <a:prstGeom prst="ellipse">
            <a:avLst/>
          </a:prstGeom>
          <a:solidFill>
            <a:srgbClr val="0D1B2A">
              <a:alpha val="90196"/>
            </a:srgbClr>
          </a:solidFill>
          <a:ln cap="flat" cmpd="sng" w="12700">
            <a:solidFill>
              <a:srgbClr val="1C304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biopulse_pitch/assets/icons/trendingup_teal.png" id="204" name="Google Shape;204;p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580022" y="2565806"/>
            <a:ext cx="263347" cy="263347"/>
          </a:xfrm>
          <a:prstGeom prst="rect">
            <a:avLst/>
          </a:prstGeom>
          <a:noFill/>
          <a:ln>
            <a:noFill/>
          </a:ln>
        </p:spPr>
      </p:pic>
      <p:sp>
        <p:nvSpPr>
          <p:cNvPr id="205" name="Google Shape;205;p7"/>
          <p:cNvSpPr/>
          <p:nvPr/>
        </p:nvSpPr>
        <p:spPr>
          <a:xfrm>
            <a:off x="6419088" y="3154680"/>
            <a:ext cx="2029968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0526"/>
              </a:lnSpc>
              <a:spcBef>
                <a:spcPts val="0"/>
              </a:spcBef>
              <a:spcAft>
                <a:spcPts val="0"/>
              </a:spcAft>
              <a:buClr>
                <a:srgbClr val="F3F7FA"/>
              </a:buClr>
              <a:buSzPts val="1900"/>
              <a:buFont typeface="Courier New"/>
              <a:buNone/>
            </a:pPr>
            <a:r>
              <a:rPr b="1" i="0" lang="en-US" sz="1900" u="none" cap="none" strike="noStrike">
                <a:solidFill>
                  <a:srgbClr val="F3F7FA"/>
                </a:solidFill>
                <a:latin typeface="Courier New"/>
                <a:ea typeface="Courier New"/>
                <a:cs typeface="Courier New"/>
                <a:sym typeface="Courier New"/>
              </a:rPr>
              <a:t>ROC + 5-fold CV</a:t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7"/>
          <p:cNvSpPr/>
          <p:nvPr/>
        </p:nvSpPr>
        <p:spPr>
          <a:xfrm>
            <a:off x="6419088" y="3776472"/>
            <a:ext cx="2029968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8571"/>
              </a:lnSpc>
              <a:spcBef>
                <a:spcPts val="0"/>
              </a:spcBef>
              <a:spcAft>
                <a:spcPts val="0"/>
              </a:spcAft>
              <a:buClr>
                <a:srgbClr val="91A8BE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91A8BE"/>
                </a:solidFill>
                <a:latin typeface="Calibri"/>
                <a:ea typeface="Calibri"/>
                <a:cs typeface="Calibri"/>
                <a:sym typeface="Calibri"/>
              </a:rPr>
              <a:t>validación rigurosa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8571"/>
              </a:lnSpc>
              <a:spcBef>
                <a:spcPts val="0"/>
              </a:spcBef>
              <a:spcAft>
                <a:spcPts val="0"/>
              </a:spcAft>
              <a:buClr>
                <a:srgbClr val="91A8BE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91A8BE"/>
                </a:solidFill>
                <a:latin typeface="Calibri"/>
                <a:ea typeface="Calibri"/>
                <a:cs typeface="Calibri"/>
                <a:sym typeface="Calibri"/>
              </a:rPr>
              <a:t>del modelo de riesgo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7"/>
          <p:cNvSpPr/>
          <p:nvPr/>
        </p:nvSpPr>
        <p:spPr>
          <a:xfrm>
            <a:off x="8924544" y="2148840"/>
            <a:ext cx="2542032" cy="2331720"/>
          </a:xfrm>
          <a:prstGeom prst="roundRect">
            <a:avLst>
              <a:gd fmla="val 4706" name="adj"/>
            </a:avLst>
          </a:prstGeom>
          <a:solidFill>
            <a:srgbClr val="0D1B2A">
              <a:alpha val="81961"/>
            </a:srgbClr>
          </a:solidFill>
          <a:ln cap="flat" cmpd="sng" w="12700">
            <a:solidFill>
              <a:srgbClr val="1C304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38100">
              <a:srgbClr val="000000">
                <a:alpha val="3490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8" name="Google Shape;208;p7"/>
          <p:cNvSpPr/>
          <p:nvPr/>
        </p:nvSpPr>
        <p:spPr>
          <a:xfrm>
            <a:off x="9198864" y="2423160"/>
            <a:ext cx="548640" cy="548640"/>
          </a:xfrm>
          <a:prstGeom prst="ellipse">
            <a:avLst/>
          </a:prstGeom>
          <a:solidFill>
            <a:srgbClr val="0D1B2A">
              <a:alpha val="90196"/>
            </a:srgbClr>
          </a:solidFill>
          <a:ln cap="flat" cmpd="sng" w="12700">
            <a:solidFill>
              <a:srgbClr val="1C304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biopulse_pitch/assets/icons/barchart_teal.png" id="209" name="Google Shape;209;p7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9341510" y="2565806"/>
            <a:ext cx="263347" cy="263347"/>
          </a:xfrm>
          <a:prstGeom prst="rect">
            <a:avLst/>
          </a:prstGeom>
          <a:noFill/>
          <a:ln>
            <a:noFill/>
          </a:ln>
        </p:spPr>
      </p:pic>
      <p:sp>
        <p:nvSpPr>
          <p:cNvPr id="210" name="Google Shape;210;p7"/>
          <p:cNvSpPr/>
          <p:nvPr/>
        </p:nvSpPr>
        <p:spPr>
          <a:xfrm>
            <a:off x="9180576" y="3154680"/>
            <a:ext cx="2029968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0526"/>
              </a:lnSpc>
              <a:spcBef>
                <a:spcPts val="0"/>
              </a:spcBef>
              <a:spcAft>
                <a:spcPts val="0"/>
              </a:spcAft>
              <a:buClr>
                <a:srgbClr val="F3F7FA"/>
              </a:buClr>
              <a:buSzPts val="1900"/>
              <a:buFont typeface="Courier New"/>
              <a:buNone/>
            </a:pPr>
            <a:r>
              <a:rPr b="1" i="0" lang="en-US" sz="1900" u="none" cap="none" strike="noStrike">
                <a:solidFill>
                  <a:srgbClr val="F3F7FA"/>
                </a:solidFill>
                <a:latin typeface="Courier New"/>
                <a:ea typeface="Courier New"/>
                <a:cs typeface="Courier New"/>
                <a:sym typeface="Courier New"/>
              </a:rPr>
              <a:t>Random Forest</a:t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7"/>
          <p:cNvSpPr/>
          <p:nvPr/>
        </p:nvSpPr>
        <p:spPr>
          <a:xfrm>
            <a:off x="9180576" y="3776472"/>
            <a:ext cx="2029968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8571"/>
              </a:lnSpc>
              <a:spcBef>
                <a:spcPts val="0"/>
              </a:spcBef>
              <a:spcAft>
                <a:spcPts val="0"/>
              </a:spcAft>
              <a:buClr>
                <a:srgbClr val="91A8BE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91A8BE"/>
                </a:solidFill>
                <a:latin typeface="Calibri"/>
                <a:ea typeface="Calibri"/>
                <a:cs typeface="Calibri"/>
                <a:sym typeface="Calibri"/>
              </a:rPr>
              <a:t>importancia real de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8571"/>
              </a:lnSpc>
              <a:spcBef>
                <a:spcPts val="0"/>
              </a:spcBef>
              <a:spcAft>
                <a:spcPts val="0"/>
              </a:spcAft>
              <a:buClr>
                <a:srgbClr val="91A8BE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91A8BE"/>
                </a:solidFill>
                <a:latin typeface="Calibri"/>
                <a:ea typeface="Calibri"/>
                <a:cs typeface="Calibri"/>
                <a:sym typeface="Calibri"/>
              </a:rPr>
              <a:t>variables fisiológicas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7"/>
          <p:cNvSpPr/>
          <p:nvPr/>
        </p:nvSpPr>
        <p:spPr>
          <a:xfrm>
            <a:off x="640080" y="4800600"/>
            <a:ext cx="10908792" cy="1417320"/>
          </a:xfrm>
          <a:prstGeom prst="roundRect">
            <a:avLst>
              <a:gd fmla="val 7742" name="adj"/>
            </a:avLst>
          </a:prstGeom>
          <a:solidFill>
            <a:srgbClr val="112436">
              <a:alpha val="81961"/>
            </a:srgbClr>
          </a:solidFill>
          <a:ln cap="flat" cmpd="sng" w="12700">
            <a:solidFill>
              <a:srgbClr val="1C304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38100">
              <a:srgbClr val="000000">
                <a:alpha val="3490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3" name="Google Shape;213;p7"/>
          <p:cNvSpPr/>
          <p:nvPr/>
        </p:nvSpPr>
        <p:spPr>
          <a:xfrm>
            <a:off x="960120" y="5189220"/>
            <a:ext cx="640080" cy="640080"/>
          </a:xfrm>
          <a:prstGeom prst="ellipse">
            <a:avLst/>
          </a:prstGeom>
          <a:solidFill>
            <a:srgbClr val="0D1B2A">
              <a:alpha val="90196"/>
            </a:srgbClr>
          </a:solidFill>
          <a:ln cap="flat" cmpd="sng" w="12700">
            <a:solidFill>
              <a:srgbClr val="1C304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biopulse_pitch/assets/icons/shield_teal.png" id="214" name="Google Shape;214;p7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1126541" y="5355641"/>
            <a:ext cx="307238" cy="307238"/>
          </a:xfrm>
          <a:prstGeom prst="rect">
            <a:avLst/>
          </a:prstGeom>
          <a:noFill/>
          <a:ln>
            <a:noFill/>
          </a:ln>
        </p:spPr>
      </p:pic>
      <p:sp>
        <p:nvSpPr>
          <p:cNvPr id="215" name="Google Shape;215;p7"/>
          <p:cNvSpPr/>
          <p:nvPr/>
        </p:nvSpPr>
        <p:spPr>
          <a:xfrm>
            <a:off x="1828800" y="5001768"/>
            <a:ext cx="86868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F5D4"/>
              </a:buClr>
              <a:buSzPts val="1500"/>
              <a:buFont typeface="Cambria"/>
              <a:buNone/>
            </a:pPr>
            <a:r>
              <a:rPr b="1" i="0" lang="en-US" sz="1500" u="none" cap="none" strike="noStrike">
                <a:solidFill>
                  <a:srgbClr val="00F5D4"/>
                </a:solidFill>
                <a:latin typeface="Cambria"/>
                <a:ea typeface="Cambria"/>
                <a:cs typeface="Cambria"/>
                <a:sym typeface="Cambria"/>
              </a:rPr>
              <a:t>Honestidad por diseño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7"/>
          <p:cNvSpPr/>
          <p:nvPr/>
        </p:nvSpPr>
        <p:spPr>
          <a:xfrm>
            <a:off x="1828800" y="5367528"/>
            <a:ext cx="859536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36000"/>
              </a:lnSpc>
              <a:spcBef>
                <a:spcPts val="0"/>
              </a:spcBef>
              <a:spcAft>
                <a:spcPts val="0"/>
              </a:spcAft>
              <a:buClr>
                <a:srgbClr val="91A8BE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91A8BE"/>
                </a:solidFill>
                <a:latin typeface="Calibri"/>
                <a:ea typeface="Calibri"/>
                <a:cs typeface="Calibri"/>
                <a:sym typeface="Calibri"/>
              </a:rPr>
              <a:t>Cada predicción distingue entre regla clínica (temperatura + respiración) y modelo aprendido (z-scores, ApEn, Random Forest). Sin cajas negras. Sin diagnósticos médicos falsos — el disclaimer de no-diagnóstico está siempre visible.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7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6728C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6728C"/>
                </a:solidFill>
                <a:latin typeface="Calibri"/>
                <a:ea typeface="Calibri"/>
                <a:cs typeface="Calibri"/>
                <a:sym typeface="Calibri"/>
              </a:rPr>
              <a:t>Rigor científico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7"/>
          <p:cNvSpPr/>
          <p:nvPr/>
        </p:nvSpPr>
        <p:spPr>
          <a:xfrm>
            <a:off x="8991295" y="6473952"/>
            <a:ext cx="2743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6728C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6728C"/>
                </a:solidFill>
                <a:latin typeface="Calibri"/>
                <a:ea typeface="Calibri"/>
                <a:cs typeface="Calibri"/>
                <a:sym typeface="Calibri"/>
              </a:rPr>
              <a:t>BIOPULSE · 07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claude/biopulse_pitch/assets/icons/activity_teal.png" id="219" name="Google Shape;219;p7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93900" y="157748"/>
            <a:ext cx="237744" cy="237744"/>
          </a:xfrm>
          <a:prstGeom prst="rect">
            <a:avLst/>
          </a:prstGeom>
          <a:noFill/>
          <a:ln>
            <a:noFill/>
          </a:ln>
        </p:spPr>
      </p:pic>
      <p:sp>
        <p:nvSpPr>
          <p:cNvPr id="220" name="Google Shape;220;p7"/>
          <p:cNvSpPr/>
          <p:nvPr/>
        </p:nvSpPr>
        <p:spPr>
          <a:xfrm>
            <a:off x="386508" y="121172"/>
            <a:ext cx="2743200" cy="31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3F7FA"/>
              </a:buClr>
              <a:buSzPts val="1500"/>
              <a:buFont typeface="Cambria"/>
              <a:buNone/>
            </a:pPr>
            <a:r>
              <a:rPr b="1" i="0" lang="en-US" sz="1500" u="none" cap="none" strike="noStrike">
                <a:solidFill>
                  <a:srgbClr val="F3F7FA"/>
                </a:solidFill>
                <a:latin typeface="Cambria"/>
                <a:ea typeface="Cambria"/>
                <a:cs typeface="Cambria"/>
                <a:sym typeface="Cambria"/>
              </a:rPr>
              <a:t>BIOPULSE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home/claude/biopulse_pitch/assets/bg_content.png" id="226" name="Google Shape;226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1695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27" name="Google Shape;227;p8"/>
          <p:cNvSpPr/>
          <p:nvPr/>
        </p:nvSpPr>
        <p:spPr>
          <a:xfrm>
            <a:off x="640080" y="502920"/>
            <a:ext cx="7315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F5D4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00F5D4"/>
                </a:solidFill>
                <a:latin typeface="Calibri"/>
                <a:ea typeface="Calibri"/>
                <a:cs typeface="Calibri"/>
                <a:sym typeface="Calibri"/>
              </a:rPr>
              <a:t>MERCADO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8"/>
          <p:cNvSpPr/>
          <p:nvPr/>
        </p:nvSpPr>
        <p:spPr>
          <a:xfrm>
            <a:off x="640080" y="804672"/>
            <a:ext cx="1088136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F3F7FA"/>
              </a:buClr>
              <a:buSzPts val="2250"/>
              <a:buFont typeface="Cambria"/>
              <a:buNone/>
            </a:pPr>
            <a:r>
              <a:rPr b="1" i="0" lang="en-US" sz="2250" u="none" cap="none" strike="noStrike">
                <a:solidFill>
                  <a:srgbClr val="F3F7FA"/>
                </a:solidFill>
                <a:latin typeface="Cambria"/>
                <a:ea typeface="Cambria"/>
                <a:cs typeface="Cambria"/>
                <a:sym typeface="Cambria"/>
              </a:rPr>
              <a:t>Un mercado de más de US$100,000M que sigue premium — y desatendido en español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8"/>
          <p:cNvSpPr/>
          <p:nvPr/>
        </p:nvSpPr>
        <p:spPr>
          <a:xfrm>
            <a:off x="641452" y="1965960"/>
            <a:ext cx="10908792" cy="566928"/>
          </a:xfrm>
          <a:prstGeom prst="roundRect">
            <a:avLst>
              <a:gd fmla="val 14516" name="adj"/>
            </a:avLst>
          </a:prstGeom>
          <a:solidFill>
            <a:srgbClr val="0D1B2A">
              <a:alpha val="87843"/>
            </a:srgbClr>
          </a:solidFill>
          <a:ln cap="flat" cmpd="sng" w="12700">
            <a:solidFill>
              <a:srgbClr val="1C304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0" name="Google Shape;230;p8"/>
          <p:cNvSpPr/>
          <p:nvPr/>
        </p:nvSpPr>
        <p:spPr>
          <a:xfrm>
            <a:off x="641452" y="1965960"/>
            <a:ext cx="10908792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3F7FA"/>
              </a:buClr>
              <a:buSzPts val="1300"/>
              <a:buFont typeface="Courier New"/>
              <a:buNone/>
            </a:pPr>
            <a:r>
              <a:rPr b="1" i="0" lang="en-US" sz="1300" u="none" cap="none" strike="noStrike">
                <a:solidFill>
                  <a:srgbClr val="F3F7FA"/>
                </a:solidFill>
                <a:latin typeface="Courier New"/>
                <a:ea typeface="Courier New"/>
                <a:cs typeface="Courier New"/>
                <a:sym typeface="Courier New"/>
              </a:rPr>
              <a:t>TAM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p8"/>
          <p:cNvSpPr/>
          <p:nvPr/>
        </p:nvSpPr>
        <p:spPr>
          <a:xfrm>
            <a:off x="2392528" y="2660904"/>
            <a:ext cx="7406640" cy="566928"/>
          </a:xfrm>
          <a:prstGeom prst="roundRect">
            <a:avLst>
              <a:gd fmla="val 14516" name="adj"/>
            </a:avLst>
          </a:prstGeom>
          <a:solidFill>
            <a:srgbClr val="112436">
              <a:alpha val="87843"/>
            </a:srgbClr>
          </a:solidFill>
          <a:ln cap="flat" cmpd="sng" w="12700">
            <a:solidFill>
              <a:srgbClr val="818CF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2" name="Google Shape;232;p8"/>
          <p:cNvSpPr/>
          <p:nvPr/>
        </p:nvSpPr>
        <p:spPr>
          <a:xfrm>
            <a:off x="2392528" y="2660904"/>
            <a:ext cx="740664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3F7FA"/>
              </a:buClr>
              <a:buSzPts val="1300"/>
              <a:buFont typeface="Courier New"/>
              <a:buNone/>
            </a:pPr>
            <a:r>
              <a:rPr b="1" i="0" lang="en-US" sz="1300" u="none" cap="none" strike="noStrike">
                <a:solidFill>
                  <a:srgbClr val="F3F7FA"/>
                </a:solidFill>
                <a:latin typeface="Courier New"/>
                <a:ea typeface="Courier New"/>
                <a:cs typeface="Courier New"/>
                <a:sym typeface="Courier New"/>
              </a:rPr>
              <a:t>SAM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8"/>
          <p:cNvSpPr/>
          <p:nvPr/>
        </p:nvSpPr>
        <p:spPr>
          <a:xfrm>
            <a:off x="4084168" y="3355848"/>
            <a:ext cx="4023360" cy="566928"/>
          </a:xfrm>
          <a:prstGeom prst="roundRect">
            <a:avLst>
              <a:gd fmla="val 14516" name="adj"/>
            </a:avLst>
          </a:prstGeom>
          <a:solidFill>
            <a:srgbClr val="00F5D4"/>
          </a:solidFill>
          <a:ln cap="flat" cmpd="sng" w="12700">
            <a:solidFill>
              <a:srgbClr val="00F5D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4" name="Google Shape;234;p8"/>
          <p:cNvSpPr/>
          <p:nvPr/>
        </p:nvSpPr>
        <p:spPr>
          <a:xfrm>
            <a:off x="4084168" y="3355848"/>
            <a:ext cx="402336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50A10"/>
              </a:buClr>
              <a:buSzPts val="1300"/>
              <a:buFont typeface="Courier New"/>
              <a:buNone/>
            </a:pPr>
            <a:r>
              <a:rPr b="1" i="0" lang="en-US" sz="1300" u="none" cap="none" strike="noStrike">
                <a:solidFill>
                  <a:srgbClr val="050A10"/>
                </a:solidFill>
                <a:latin typeface="Courier New"/>
                <a:ea typeface="Courier New"/>
                <a:cs typeface="Courier New"/>
                <a:sym typeface="Courier New"/>
              </a:rPr>
              <a:t>SOM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p8"/>
          <p:cNvSpPr/>
          <p:nvPr/>
        </p:nvSpPr>
        <p:spPr>
          <a:xfrm>
            <a:off x="640080" y="4279392"/>
            <a:ext cx="402336" cy="402336"/>
          </a:xfrm>
          <a:prstGeom prst="ellipse">
            <a:avLst/>
          </a:prstGeom>
          <a:solidFill>
            <a:srgbClr val="0D1B2A">
              <a:alpha val="90196"/>
            </a:srgbClr>
          </a:solidFill>
          <a:ln cap="flat" cmpd="sng" w="12700">
            <a:solidFill>
              <a:srgbClr val="1C304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biopulse_pitch/assets/icons/globe_teal.png" id="236" name="Google Shape;236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44687" y="4383999"/>
            <a:ext cx="193121" cy="193121"/>
          </a:xfrm>
          <a:prstGeom prst="rect">
            <a:avLst/>
          </a:prstGeom>
          <a:noFill/>
          <a:ln>
            <a:noFill/>
          </a:ln>
        </p:spPr>
      </p:pic>
      <p:sp>
        <p:nvSpPr>
          <p:cNvPr id="237" name="Google Shape;237;p8"/>
          <p:cNvSpPr/>
          <p:nvPr/>
        </p:nvSpPr>
        <p:spPr>
          <a:xfrm>
            <a:off x="1170432" y="4261104"/>
            <a:ext cx="2904744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6728C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56728C"/>
                </a:solidFill>
                <a:latin typeface="Calibri"/>
                <a:ea typeface="Calibri"/>
                <a:cs typeface="Calibri"/>
                <a:sym typeface="Calibri"/>
              </a:rPr>
              <a:t>TAM — MERCADO TOTAL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" name="Google Shape;238;p8"/>
          <p:cNvSpPr/>
          <p:nvPr/>
        </p:nvSpPr>
        <p:spPr>
          <a:xfrm>
            <a:off x="1170432" y="4498848"/>
            <a:ext cx="2904744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3F7FA"/>
              </a:buClr>
              <a:buSzPts val="1500"/>
              <a:buFont typeface="Cambria"/>
              <a:buNone/>
            </a:pPr>
            <a:r>
              <a:rPr b="1" i="0" lang="en-US" sz="1500" u="none" cap="none" strike="noStrike">
                <a:solidFill>
                  <a:srgbClr val="F3F7FA"/>
                </a:solidFill>
                <a:latin typeface="Cambria"/>
                <a:ea typeface="Cambria"/>
                <a:cs typeface="Cambria"/>
                <a:sym typeface="Cambria"/>
              </a:rPr>
              <a:t>~US$105,000M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p8"/>
          <p:cNvSpPr/>
          <p:nvPr/>
        </p:nvSpPr>
        <p:spPr>
          <a:xfrm>
            <a:off x="640080" y="4901184"/>
            <a:ext cx="3453384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34259"/>
              </a:lnSpc>
              <a:spcBef>
                <a:spcPts val="0"/>
              </a:spcBef>
              <a:spcAft>
                <a:spcPts val="0"/>
              </a:spcAft>
              <a:buClr>
                <a:srgbClr val="91A8BE"/>
              </a:buClr>
              <a:buSzPts val="1080"/>
              <a:buFont typeface="Calibri"/>
              <a:buNone/>
            </a:pPr>
            <a:r>
              <a:rPr b="0" i="0" lang="en-US" sz="1080" u="none" cap="none" strike="noStrike">
                <a:solidFill>
                  <a:srgbClr val="91A8BE"/>
                </a:solidFill>
                <a:latin typeface="Calibri"/>
                <a:ea typeface="Calibri"/>
                <a:cs typeface="Calibri"/>
                <a:sym typeface="Calibri"/>
              </a:rPr>
              <a:t>Mercado global de tecnología wearable en 2026, creciendo a ~14–15% anual.</a:t>
            </a:r>
            <a:endParaRPr b="0" i="0" sz="10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" name="Google Shape;240;p8"/>
          <p:cNvSpPr/>
          <p:nvPr/>
        </p:nvSpPr>
        <p:spPr>
          <a:xfrm>
            <a:off x="4367784" y="4279392"/>
            <a:ext cx="402336" cy="402336"/>
          </a:xfrm>
          <a:prstGeom prst="ellipse">
            <a:avLst/>
          </a:prstGeom>
          <a:solidFill>
            <a:srgbClr val="0D1B2A">
              <a:alpha val="90196"/>
            </a:srgbClr>
          </a:solidFill>
          <a:ln cap="flat" cmpd="sng" w="12700">
            <a:solidFill>
              <a:srgbClr val="1C304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biopulse_pitch/assets/icons/users_teal.png" id="241" name="Google Shape;241;p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472391" y="4383999"/>
            <a:ext cx="193121" cy="193121"/>
          </a:xfrm>
          <a:prstGeom prst="rect">
            <a:avLst/>
          </a:prstGeom>
          <a:noFill/>
          <a:ln>
            <a:noFill/>
          </a:ln>
        </p:spPr>
      </p:pic>
      <p:sp>
        <p:nvSpPr>
          <p:cNvPr id="242" name="Google Shape;242;p8"/>
          <p:cNvSpPr/>
          <p:nvPr/>
        </p:nvSpPr>
        <p:spPr>
          <a:xfrm>
            <a:off x="4898136" y="4261104"/>
            <a:ext cx="2904744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6728C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56728C"/>
                </a:solidFill>
                <a:latin typeface="Calibri"/>
                <a:ea typeface="Calibri"/>
                <a:cs typeface="Calibri"/>
                <a:sym typeface="Calibri"/>
              </a:rPr>
              <a:t>SAM — MERCADO ALCANZABLE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" name="Google Shape;243;p8"/>
          <p:cNvSpPr/>
          <p:nvPr/>
        </p:nvSpPr>
        <p:spPr>
          <a:xfrm>
            <a:off x="4898136" y="4498848"/>
            <a:ext cx="2904744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3F7FA"/>
              </a:buClr>
              <a:buSzPts val="1500"/>
              <a:buFont typeface="Cambria"/>
              <a:buNone/>
            </a:pPr>
            <a:r>
              <a:rPr b="1" i="0" lang="en-US" sz="1500" u="none" cap="none" strike="noStrike">
                <a:solidFill>
                  <a:srgbClr val="F3F7FA"/>
                </a:solidFill>
                <a:latin typeface="Cambria"/>
                <a:ea typeface="Cambria"/>
                <a:cs typeface="Cambria"/>
                <a:sym typeface="Cambria"/>
              </a:rPr>
              <a:t>LatAm hispanohablante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" name="Google Shape;244;p8"/>
          <p:cNvSpPr/>
          <p:nvPr/>
        </p:nvSpPr>
        <p:spPr>
          <a:xfrm>
            <a:off x="4367784" y="4901184"/>
            <a:ext cx="3453384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34259"/>
              </a:lnSpc>
              <a:spcBef>
                <a:spcPts val="0"/>
              </a:spcBef>
              <a:spcAft>
                <a:spcPts val="0"/>
              </a:spcAft>
              <a:buClr>
                <a:srgbClr val="91A8BE"/>
              </a:buClr>
              <a:buSzPts val="1080"/>
              <a:buFont typeface="Calibri"/>
              <a:buNone/>
            </a:pPr>
            <a:r>
              <a:rPr b="0" i="0" lang="en-US" sz="1080" u="none" cap="none" strike="noStrike">
                <a:solidFill>
                  <a:srgbClr val="91A8BE"/>
                </a:solidFill>
                <a:latin typeface="Calibri"/>
                <a:ea typeface="Calibri"/>
                <a:cs typeface="Calibri"/>
                <a:sym typeface="Calibri"/>
              </a:rPr>
              <a:t>Estudiantes, atletas amateur y biohackers que ya usan wearables y buscan entender su recuperación.</a:t>
            </a:r>
            <a:endParaRPr b="0" i="0" sz="10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p8"/>
          <p:cNvSpPr/>
          <p:nvPr/>
        </p:nvSpPr>
        <p:spPr>
          <a:xfrm>
            <a:off x="8095488" y="4279392"/>
            <a:ext cx="402336" cy="402336"/>
          </a:xfrm>
          <a:prstGeom prst="ellipse">
            <a:avLst/>
          </a:prstGeom>
          <a:solidFill>
            <a:srgbClr val="0D1B2A">
              <a:alpha val="90196"/>
            </a:srgbClr>
          </a:solidFill>
          <a:ln cap="flat" cmpd="sng" w="12700">
            <a:solidFill>
              <a:srgbClr val="1C304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biopulse_pitch/assets/icons/target_teal.png" id="246" name="Google Shape;246;p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200095" y="4383999"/>
            <a:ext cx="193121" cy="193121"/>
          </a:xfrm>
          <a:prstGeom prst="rect">
            <a:avLst/>
          </a:prstGeom>
          <a:noFill/>
          <a:ln>
            <a:noFill/>
          </a:ln>
        </p:spPr>
      </p:pic>
      <p:sp>
        <p:nvSpPr>
          <p:cNvPr id="247" name="Google Shape;247;p8"/>
          <p:cNvSpPr/>
          <p:nvPr/>
        </p:nvSpPr>
        <p:spPr>
          <a:xfrm>
            <a:off x="8625840" y="4261104"/>
            <a:ext cx="2904744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6728C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56728C"/>
                </a:solidFill>
                <a:latin typeface="Calibri"/>
                <a:ea typeface="Calibri"/>
                <a:cs typeface="Calibri"/>
                <a:sym typeface="Calibri"/>
              </a:rPr>
              <a:t>SOM — OBJETIVO A Q3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p8"/>
          <p:cNvSpPr/>
          <p:nvPr/>
        </p:nvSpPr>
        <p:spPr>
          <a:xfrm>
            <a:off x="8625840" y="4498848"/>
            <a:ext cx="2904744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3F7FA"/>
              </a:buClr>
              <a:buSzPts val="1500"/>
              <a:buFont typeface="Cambria"/>
              <a:buNone/>
            </a:pPr>
            <a:r>
              <a:rPr b="1" i="0" lang="en-US" sz="1500" u="none" cap="none" strike="noStrike">
                <a:solidFill>
                  <a:srgbClr val="F3F7FA"/>
                </a:solidFill>
                <a:latin typeface="Cambria"/>
                <a:ea typeface="Cambria"/>
                <a:cs typeface="Cambria"/>
                <a:sym typeface="Cambria"/>
              </a:rPr>
              <a:t>2,000 en waitlist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249;p8"/>
          <p:cNvSpPr/>
          <p:nvPr/>
        </p:nvSpPr>
        <p:spPr>
          <a:xfrm>
            <a:off x="8095488" y="4901184"/>
            <a:ext cx="3453384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34259"/>
              </a:lnSpc>
              <a:spcBef>
                <a:spcPts val="0"/>
              </a:spcBef>
              <a:spcAft>
                <a:spcPts val="0"/>
              </a:spcAft>
              <a:buClr>
                <a:srgbClr val="91A8BE"/>
              </a:buClr>
              <a:buSzPts val="1080"/>
              <a:buFont typeface="Calibri"/>
              <a:buNone/>
            </a:pPr>
            <a:r>
              <a:rPr b="0" i="0" lang="en-US" sz="1080" u="none" cap="none" strike="noStrike">
                <a:solidFill>
                  <a:srgbClr val="91A8BE"/>
                </a:solidFill>
                <a:latin typeface="Calibri"/>
                <a:ea typeface="Calibri"/>
                <a:cs typeface="Calibri"/>
                <a:sym typeface="Calibri"/>
              </a:rPr>
              <a:t>Meta del embudo propio (Reels → landing → waitlist) con conversión web→waitlist &gt;8%.</a:t>
            </a:r>
            <a:endParaRPr b="0" i="0" sz="10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" name="Google Shape;250;p8"/>
          <p:cNvSpPr/>
          <p:nvPr/>
        </p:nvSpPr>
        <p:spPr>
          <a:xfrm>
            <a:off x="640080" y="6144768"/>
            <a:ext cx="10515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6728C"/>
              </a:buClr>
              <a:buSzPts val="900"/>
              <a:buFont typeface="Calibri"/>
              <a:buNone/>
            </a:pPr>
            <a:r>
              <a:rPr b="0" i="1" lang="en-US" sz="900" u="none" cap="none" strike="noStrike">
                <a:solidFill>
                  <a:srgbClr val="56728C"/>
                </a:solidFill>
                <a:latin typeface="Calibri"/>
                <a:ea typeface="Calibri"/>
                <a:cs typeface="Calibri"/>
                <a:sym typeface="Calibri"/>
              </a:rPr>
              <a:t>Fuente: análisis de mercado wearable tech 2026 (MarketsAndMarkets, GrandView Research). Meta SOM: roadmap de marketing propio $0.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" name="Google Shape;251;p8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6728C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6728C"/>
                </a:solidFill>
                <a:latin typeface="Calibri"/>
                <a:ea typeface="Calibri"/>
                <a:cs typeface="Calibri"/>
                <a:sym typeface="Calibri"/>
              </a:rPr>
              <a:t>Mercado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" name="Google Shape;252;p8"/>
          <p:cNvSpPr/>
          <p:nvPr/>
        </p:nvSpPr>
        <p:spPr>
          <a:xfrm>
            <a:off x="8991295" y="6473952"/>
            <a:ext cx="2743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6728C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6728C"/>
                </a:solidFill>
                <a:latin typeface="Calibri"/>
                <a:ea typeface="Calibri"/>
                <a:cs typeface="Calibri"/>
                <a:sym typeface="Calibri"/>
              </a:rPr>
              <a:t>BIOPULSE · 08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claude/biopulse_pitch/assets/icons/activity_teal.png" id="253" name="Google Shape;253;p8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93900" y="157748"/>
            <a:ext cx="237744" cy="237744"/>
          </a:xfrm>
          <a:prstGeom prst="rect">
            <a:avLst/>
          </a:prstGeom>
          <a:noFill/>
          <a:ln>
            <a:noFill/>
          </a:ln>
        </p:spPr>
      </p:pic>
      <p:sp>
        <p:nvSpPr>
          <p:cNvPr id="254" name="Google Shape;254;p8"/>
          <p:cNvSpPr/>
          <p:nvPr/>
        </p:nvSpPr>
        <p:spPr>
          <a:xfrm>
            <a:off x="386508" y="121172"/>
            <a:ext cx="2743200" cy="31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3F7FA"/>
              </a:buClr>
              <a:buSzPts val="1500"/>
              <a:buFont typeface="Cambria"/>
              <a:buNone/>
            </a:pPr>
            <a:r>
              <a:rPr b="1" i="0" lang="en-US" sz="1500" u="none" cap="none" strike="noStrike">
                <a:solidFill>
                  <a:srgbClr val="F3F7FA"/>
                </a:solidFill>
                <a:latin typeface="Cambria"/>
                <a:ea typeface="Cambria"/>
                <a:cs typeface="Cambria"/>
                <a:sym typeface="Cambria"/>
              </a:rPr>
              <a:t>BIOPULSE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home/claude/biopulse_pitch/assets/bg_content.png" id="260" name="Google Shape;260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1695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61" name="Google Shape;261;p9"/>
          <p:cNvSpPr/>
          <p:nvPr/>
        </p:nvSpPr>
        <p:spPr>
          <a:xfrm>
            <a:off x="640080" y="502920"/>
            <a:ext cx="7315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F5D4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00F5D4"/>
                </a:solidFill>
                <a:latin typeface="Calibri"/>
                <a:ea typeface="Calibri"/>
                <a:cs typeface="Calibri"/>
                <a:sym typeface="Calibri"/>
              </a:rPr>
              <a:t>COMPETENCIA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2" name="Google Shape;262;p9"/>
          <p:cNvSpPr/>
          <p:nvPr/>
        </p:nvSpPr>
        <p:spPr>
          <a:xfrm>
            <a:off x="640080" y="804672"/>
            <a:ext cx="10881360" cy="960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F3F7FA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F3F7FA"/>
                </a:solidFill>
                <a:latin typeface="Cambria"/>
                <a:ea typeface="Cambria"/>
                <a:cs typeface="Cambria"/>
                <a:sym typeface="Cambria"/>
              </a:rPr>
              <a:t>Mismo problema, enfoque distinto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263" name="Google Shape;263;p9"/>
          <p:cNvGraphicFramePr/>
          <p:nvPr/>
        </p:nvGraphicFramePr>
        <p:xfrm>
          <a:off x="640080" y="201168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{15BA76EF-C4B4-4CDB-B27F-99C1A2F30C75}</a:tableStyleId>
              </a:tblPr>
              <a:tblGrid>
                <a:gridCol w="4114800"/>
                <a:gridCol w="2267700"/>
                <a:gridCol w="2267700"/>
                <a:gridCol w="2258575"/>
              </a:tblGrid>
              <a:tr h="5422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91A8BE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91A8BE"/>
                          </a:solidFill>
                        </a:rPr>
                        <a:t>Criterio</a:t>
                      </a:r>
                      <a:endParaRPr sz="1200" u="none" cap="none" strike="noStrike"/>
                    </a:p>
                  </a:txBody>
                  <a:tcPr marT="50800" marB="50800" marR="101600" marL="101600" anchor="ctr">
                    <a:lnL cap="flat" cmpd="sng" w="9525">
                      <a:solidFill>
                        <a:srgbClr val="1C304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C304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C304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C304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50A1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91A8BE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91A8BE"/>
                          </a:solidFill>
                        </a:rPr>
                        <a:t>Whoop / Oura</a:t>
                      </a:r>
                      <a:endParaRPr sz="1200" u="none" cap="none" strike="noStrike"/>
                    </a:p>
                  </a:txBody>
                  <a:tcPr marT="50800" marB="50800" marR="101600" marL="101600" anchor="ctr">
                    <a:lnL cap="flat" cmpd="sng" w="9525">
                      <a:solidFill>
                        <a:srgbClr val="1C304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C304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C304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C304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50A1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91A8BE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91A8BE"/>
                          </a:solidFill>
                        </a:rPr>
                        <a:t>Apple Watch / Garmin</a:t>
                      </a:r>
                      <a:endParaRPr sz="1200" u="none" cap="none" strike="noStrike"/>
                    </a:p>
                  </a:txBody>
                  <a:tcPr marT="50800" marB="50800" marR="101600" marL="101600" anchor="ctr">
                    <a:lnL cap="flat" cmpd="sng" w="9525">
                      <a:solidFill>
                        <a:srgbClr val="1C304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C304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C304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C304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50A1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50A10"/>
                        </a:buClr>
                        <a:buSzPts val="1300"/>
                        <a:buFont typeface="Calibri"/>
                        <a:buNone/>
                      </a:pPr>
                      <a:r>
                        <a:rPr b="1" lang="en-US" sz="1300" u="none" cap="none" strike="noStrike">
                          <a:solidFill>
                            <a:srgbClr val="050A10"/>
                          </a:solidFill>
                        </a:rPr>
                        <a:t>BioPulse</a:t>
                      </a:r>
                      <a:endParaRPr sz="1300" u="none" cap="none" strike="noStrike"/>
                    </a:p>
                  </a:txBody>
                  <a:tcPr marT="50800" marB="50800" marR="101600" marL="101600" anchor="ctr">
                    <a:lnL cap="flat" cmpd="sng" w="9525">
                      <a:solidFill>
                        <a:srgbClr val="1C304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C304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C304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C304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F5D4"/>
                    </a:solidFill>
                  </a:tcPr>
                </a:tc>
              </a:tr>
              <a:tr h="5422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3F7FA"/>
                        </a:buClr>
                        <a:buSzPts val="1250"/>
                        <a:buFont typeface="Calibri"/>
                        <a:buNone/>
                      </a:pPr>
                      <a:r>
                        <a:rPr lang="en-US" sz="1250" u="none" cap="none" strike="noStrike">
                          <a:solidFill>
                            <a:srgbClr val="F3F7FA"/>
                          </a:solidFill>
                        </a:rPr>
                        <a:t>Precio</a:t>
                      </a:r>
                      <a:endParaRPr sz="1250" u="none" cap="none" strike="noStrike"/>
                    </a:p>
                  </a:txBody>
                  <a:tcPr marT="50800" marB="50800" marR="101600" marL="101600" anchor="ctr">
                    <a:lnL cap="flat" cmpd="sng" w="9525">
                      <a:solidFill>
                        <a:srgbClr val="1C304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C304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C304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C304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D1B2A">
                        <a:alpha val="74902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3F7FA"/>
                        </a:buClr>
                        <a:buSzPts val="1250"/>
                        <a:buFont typeface="Calibri"/>
                        <a:buNone/>
                      </a:pPr>
                      <a:r>
                        <a:rPr lang="en-US" sz="1250" u="none" cap="none" strike="noStrike">
                          <a:solidFill>
                            <a:srgbClr val="F3F7FA"/>
                          </a:solidFill>
                        </a:rPr>
                        <a:t>$30+ / mes</a:t>
                      </a:r>
                      <a:endParaRPr sz="1250" u="none" cap="none" strike="noStrike"/>
                    </a:p>
                  </a:txBody>
                  <a:tcPr marT="50800" marB="50800" marR="101600" marL="101600" anchor="ctr">
                    <a:lnL cap="flat" cmpd="sng" w="9525">
                      <a:solidFill>
                        <a:srgbClr val="1C304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C304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C304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C304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D1B2A">
                        <a:alpha val="74902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3F7FA"/>
                        </a:buClr>
                        <a:buSzPts val="1250"/>
                        <a:buFont typeface="Calibri"/>
                        <a:buNone/>
                      </a:pPr>
                      <a:r>
                        <a:rPr lang="en-US" sz="1250" u="none" cap="none" strike="noStrike">
                          <a:solidFill>
                            <a:srgbClr val="F3F7FA"/>
                          </a:solidFill>
                        </a:rPr>
                        <a:t>Hardware US$250–800</a:t>
                      </a:r>
                      <a:endParaRPr sz="1250" u="none" cap="none" strike="noStrike"/>
                    </a:p>
                  </a:txBody>
                  <a:tcPr marT="50800" marB="50800" marR="101600" marL="101600" anchor="ctr">
                    <a:lnL cap="flat" cmpd="sng" w="9525">
                      <a:solidFill>
                        <a:srgbClr val="1C304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C304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C304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C304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D1B2A">
                        <a:alpha val="74902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F5D4"/>
                        </a:buClr>
                        <a:buSzPts val="1250"/>
                        <a:buFont typeface="Calibri"/>
                        <a:buNone/>
                      </a:pPr>
                      <a:r>
                        <a:rPr b="1" lang="en-US" sz="1250" u="none" cap="none" strike="noStrike">
                          <a:solidFill>
                            <a:srgbClr val="00F5D4"/>
                          </a:solidFill>
                        </a:rPr>
                        <a:t>Gratis</a:t>
                      </a:r>
                      <a:endParaRPr sz="1250" u="none" cap="none" strike="noStrike"/>
                    </a:p>
                  </a:txBody>
                  <a:tcPr marT="50800" marB="50800" marR="101600" marL="101600" anchor="ctr">
                    <a:lnL cap="flat" cmpd="sng" w="9525">
                      <a:solidFill>
                        <a:srgbClr val="1C304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C304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C304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C304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D1B2A">
                        <a:alpha val="74902"/>
                      </a:srgbClr>
                    </a:solidFill>
                  </a:tcPr>
                </a:tc>
              </a:tr>
              <a:tr h="5422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3F7FA"/>
                        </a:buClr>
                        <a:buSzPts val="1250"/>
                        <a:buFont typeface="Calibri"/>
                        <a:buNone/>
                      </a:pPr>
                      <a:r>
                        <a:rPr lang="en-US" sz="1250" u="none" cap="none" strike="noStrike">
                          <a:solidFill>
                            <a:srgbClr val="F3F7FA"/>
                          </a:solidFill>
                        </a:rPr>
                        <a:t>Ciencia explicada (el “por qué”)</a:t>
                      </a:r>
                      <a:endParaRPr sz="1250" u="none" cap="none" strike="noStrike"/>
                    </a:p>
                  </a:txBody>
                  <a:tcPr marT="50800" marB="50800" marR="101600" marL="101600" anchor="ctr">
                    <a:lnL cap="flat" cmpd="sng" w="9525">
                      <a:solidFill>
                        <a:srgbClr val="1C304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C304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C304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C304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D1B2A">
                        <a:alpha val="74902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55"/>
                        </a:buClr>
                        <a:buSzPts val="1500"/>
                        <a:buFont typeface="Calibri"/>
                        <a:buNone/>
                      </a:pPr>
                      <a:r>
                        <a:rPr b="1" lang="en-US" sz="1500" u="none" cap="none" strike="noStrike">
                          <a:solidFill>
                            <a:srgbClr val="FF0055"/>
                          </a:solidFill>
                        </a:rPr>
                        <a:t>✕</a:t>
                      </a:r>
                      <a:endParaRPr sz="1500" u="none" cap="none" strike="noStrike"/>
                    </a:p>
                  </a:txBody>
                  <a:tcPr marT="50800" marB="50800" marR="101600" marL="101600" anchor="ctr">
                    <a:lnL cap="flat" cmpd="sng" w="9525">
                      <a:solidFill>
                        <a:srgbClr val="1C304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C304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C304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C304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D1B2A">
                        <a:alpha val="74902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55"/>
                        </a:buClr>
                        <a:buSzPts val="1500"/>
                        <a:buFont typeface="Calibri"/>
                        <a:buNone/>
                      </a:pPr>
                      <a:r>
                        <a:rPr b="1" lang="en-US" sz="1500" u="none" cap="none" strike="noStrike">
                          <a:solidFill>
                            <a:srgbClr val="FF0055"/>
                          </a:solidFill>
                        </a:rPr>
                        <a:t>✕</a:t>
                      </a:r>
                      <a:endParaRPr sz="1500" u="none" cap="none" strike="noStrike"/>
                    </a:p>
                  </a:txBody>
                  <a:tcPr marT="50800" marB="50800" marR="101600" marL="101600" anchor="ctr">
                    <a:lnL cap="flat" cmpd="sng" w="9525">
                      <a:solidFill>
                        <a:srgbClr val="1C304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C304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C304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C304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D1B2A">
                        <a:alpha val="74902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F5D4"/>
                        </a:buClr>
                        <a:buSzPts val="1500"/>
                        <a:buFont typeface="Calibri"/>
                        <a:buNone/>
                      </a:pPr>
                      <a:r>
                        <a:rPr b="1" lang="en-US" sz="1500" u="none" cap="none" strike="noStrike">
                          <a:solidFill>
                            <a:srgbClr val="00F5D4"/>
                          </a:solidFill>
                        </a:rPr>
                        <a:t>✓</a:t>
                      </a:r>
                      <a:endParaRPr sz="1500" u="none" cap="none" strike="noStrike"/>
                    </a:p>
                  </a:txBody>
                  <a:tcPr marT="50800" marB="50800" marR="101600" marL="101600" anchor="ctr">
                    <a:lnL cap="flat" cmpd="sng" w="9525">
                      <a:solidFill>
                        <a:srgbClr val="1C304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C304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C304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C304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D1B2A">
                        <a:alpha val="74902"/>
                      </a:srgbClr>
                    </a:solidFill>
                  </a:tcPr>
                </a:tc>
              </a:tr>
              <a:tr h="5422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3F7FA"/>
                        </a:buClr>
                        <a:buSzPts val="1250"/>
                        <a:buFont typeface="Calibri"/>
                        <a:buNone/>
                      </a:pPr>
                      <a:r>
                        <a:rPr lang="en-US" sz="1250" u="none" cap="none" strike="noStrike">
                          <a:solidFill>
                            <a:srgbClr val="F3F7FA"/>
                          </a:solidFill>
                        </a:rPr>
                        <a:t>Coach IA contextual</a:t>
                      </a:r>
                      <a:endParaRPr sz="1250" u="none" cap="none" strike="noStrike"/>
                    </a:p>
                  </a:txBody>
                  <a:tcPr marT="50800" marB="50800" marR="101600" marL="101600" anchor="ctr">
                    <a:lnL cap="flat" cmpd="sng" w="9525">
                      <a:solidFill>
                        <a:srgbClr val="1C304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C304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C304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C304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D1B2A">
                        <a:alpha val="74902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F5D4"/>
                        </a:buClr>
                        <a:buSzPts val="1500"/>
                        <a:buFont typeface="Calibri"/>
                        <a:buNone/>
                      </a:pPr>
                      <a:r>
                        <a:rPr b="1" lang="en-US" sz="1500">
                          <a:solidFill>
                            <a:srgbClr val="00F5D4"/>
                          </a:solidFill>
                        </a:rPr>
                        <a:t>✓</a:t>
                      </a:r>
                      <a:endParaRPr sz="1500" u="none" cap="none" strike="noStrike"/>
                    </a:p>
                  </a:txBody>
                  <a:tcPr marT="50800" marB="50800" marR="101600" marL="101600" anchor="ctr">
                    <a:lnL cap="flat" cmpd="sng" w="9525">
                      <a:solidFill>
                        <a:srgbClr val="1C304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C304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C304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C304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D1B2A">
                        <a:alpha val="74902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B703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FFB703"/>
                          </a:solidFill>
                        </a:rPr>
                        <a:t>Parcial</a:t>
                      </a:r>
                      <a:endParaRPr sz="1200" u="none" cap="none" strike="noStrike"/>
                    </a:p>
                  </a:txBody>
                  <a:tcPr marT="50800" marB="50800" marR="101600" marL="101600" anchor="ctr">
                    <a:lnL cap="flat" cmpd="sng" w="9525">
                      <a:solidFill>
                        <a:srgbClr val="1C304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C304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C304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C304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D1B2A">
                        <a:alpha val="74902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F5D4"/>
                        </a:buClr>
                        <a:buSzPts val="1500"/>
                        <a:buFont typeface="Calibri"/>
                        <a:buNone/>
                      </a:pPr>
                      <a:r>
                        <a:rPr b="1" lang="en-US" sz="1500" u="none" cap="none" strike="noStrike">
                          <a:solidFill>
                            <a:srgbClr val="00F5D4"/>
                          </a:solidFill>
                        </a:rPr>
                        <a:t>✓</a:t>
                      </a:r>
                      <a:endParaRPr sz="1500" u="none" cap="none" strike="noStrike"/>
                    </a:p>
                  </a:txBody>
                  <a:tcPr marT="50800" marB="50800" marR="101600" marL="101600" anchor="ctr">
                    <a:lnL cap="flat" cmpd="sng" w="9525">
                      <a:solidFill>
                        <a:srgbClr val="1C304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C304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C304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C304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D1B2A">
                        <a:alpha val="74902"/>
                      </a:srgbClr>
                    </a:solidFill>
                  </a:tcPr>
                </a:tc>
              </a:tr>
              <a:tr h="5422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3F7FA"/>
                        </a:buClr>
                        <a:buSzPts val="1250"/>
                        <a:buFont typeface="Calibri"/>
                        <a:buNone/>
                      </a:pPr>
                      <a:r>
                        <a:rPr lang="en-US" sz="1250" u="none" cap="none" strike="noStrike">
                          <a:solidFill>
                            <a:srgbClr val="F3F7FA"/>
                          </a:solidFill>
                        </a:rPr>
                        <a:t>Transparencia (regla clínica vs. IA)</a:t>
                      </a:r>
                      <a:endParaRPr sz="1250" u="none" cap="none" strike="noStrike"/>
                    </a:p>
                  </a:txBody>
                  <a:tcPr marT="50800" marB="50800" marR="101600" marL="101600" anchor="ctr">
                    <a:lnL cap="flat" cmpd="sng" w="9525">
                      <a:solidFill>
                        <a:srgbClr val="1C304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C304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C304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C304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D1B2A">
                        <a:alpha val="74902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55"/>
                        </a:buClr>
                        <a:buSzPts val="1500"/>
                        <a:buFont typeface="Calibri"/>
                        <a:buNone/>
                      </a:pPr>
                      <a:r>
                        <a:rPr b="1" lang="en-US" sz="1500" u="none" cap="none" strike="noStrike">
                          <a:solidFill>
                            <a:srgbClr val="FF0055"/>
                          </a:solidFill>
                        </a:rPr>
                        <a:t>✕</a:t>
                      </a:r>
                      <a:endParaRPr sz="1500" u="none" cap="none" strike="noStrike"/>
                    </a:p>
                  </a:txBody>
                  <a:tcPr marT="50800" marB="50800" marR="101600" marL="101600" anchor="ctr">
                    <a:lnL cap="flat" cmpd="sng" w="9525">
                      <a:solidFill>
                        <a:srgbClr val="1C304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C304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C304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C304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D1B2A">
                        <a:alpha val="74902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55"/>
                        </a:buClr>
                        <a:buSzPts val="1500"/>
                        <a:buFont typeface="Calibri"/>
                        <a:buNone/>
                      </a:pPr>
                      <a:r>
                        <a:rPr b="1" lang="en-US" sz="1500" u="none" cap="none" strike="noStrike">
                          <a:solidFill>
                            <a:srgbClr val="FF0055"/>
                          </a:solidFill>
                        </a:rPr>
                        <a:t>✕</a:t>
                      </a:r>
                      <a:endParaRPr sz="1500" u="none" cap="none" strike="noStrike"/>
                    </a:p>
                  </a:txBody>
                  <a:tcPr marT="50800" marB="50800" marR="101600" marL="101600" anchor="ctr">
                    <a:lnL cap="flat" cmpd="sng" w="9525">
                      <a:solidFill>
                        <a:srgbClr val="1C304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C304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C304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C304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D1B2A">
                        <a:alpha val="74902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F5D4"/>
                        </a:buClr>
                        <a:buSzPts val="1500"/>
                        <a:buFont typeface="Calibri"/>
                        <a:buNone/>
                      </a:pPr>
                      <a:r>
                        <a:rPr b="1" lang="en-US" sz="1500" u="none" cap="none" strike="noStrike">
                          <a:solidFill>
                            <a:srgbClr val="00F5D4"/>
                          </a:solidFill>
                        </a:rPr>
                        <a:t>✓</a:t>
                      </a:r>
                      <a:endParaRPr sz="1500" u="none" cap="none" strike="noStrike"/>
                    </a:p>
                  </a:txBody>
                  <a:tcPr marT="50800" marB="50800" marR="101600" marL="101600" anchor="ctr">
                    <a:lnL cap="flat" cmpd="sng" w="9525">
                      <a:solidFill>
                        <a:srgbClr val="1C304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C304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C304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C304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D1B2A">
                        <a:alpha val="74902"/>
                      </a:srgbClr>
                    </a:solidFill>
                  </a:tcPr>
                </a:tc>
              </a:tr>
              <a:tr h="5422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3F7FA"/>
                        </a:buClr>
                        <a:buSzPts val="1250"/>
                        <a:buFont typeface="Calibri"/>
                        <a:buNone/>
                      </a:pPr>
                      <a:r>
                        <a:rPr lang="en-US" sz="1250" u="none" cap="none" strike="noStrike">
                          <a:solidFill>
                            <a:srgbClr val="F3F7FA"/>
                          </a:solidFill>
                        </a:rPr>
                        <a:t>Importa tu propio CSV</a:t>
                      </a:r>
                      <a:endParaRPr sz="1250" u="none" cap="none" strike="noStrike"/>
                    </a:p>
                  </a:txBody>
                  <a:tcPr marT="50800" marB="50800" marR="101600" marL="101600" anchor="ctr">
                    <a:lnL cap="flat" cmpd="sng" w="9525">
                      <a:solidFill>
                        <a:srgbClr val="1C304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C304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C304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C304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D1B2A">
                        <a:alpha val="74902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55"/>
                        </a:buClr>
                        <a:buSzPts val="1500"/>
                        <a:buFont typeface="Calibri"/>
                        <a:buNone/>
                      </a:pPr>
                      <a:r>
                        <a:rPr b="1" lang="en-US" sz="1500" u="none" cap="none" strike="noStrike">
                          <a:solidFill>
                            <a:srgbClr val="FF0055"/>
                          </a:solidFill>
                        </a:rPr>
                        <a:t>✕</a:t>
                      </a:r>
                      <a:endParaRPr sz="1500" u="none" cap="none" strike="noStrike"/>
                    </a:p>
                  </a:txBody>
                  <a:tcPr marT="50800" marB="50800" marR="101600" marL="101600" anchor="ctr">
                    <a:lnL cap="flat" cmpd="sng" w="9525">
                      <a:solidFill>
                        <a:srgbClr val="1C304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C304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C304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C304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D1B2A">
                        <a:alpha val="74902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55"/>
                        </a:buClr>
                        <a:buSzPts val="1500"/>
                        <a:buFont typeface="Calibri"/>
                        <a:buNone/>
                      </a:pPr>
                      <a:r>
                        <a:rPr b="1" lang="en-US" sz="1500" u="none" cap="none" strike="noStrike">
                          <a:solidFill>
                            <a:srgbClr val="FF0055"/>
                          </a:solidFill>
                        </a:rPr>
                        <a:t>✕</a:t>
                      </a:r>
                      <a:endParaRPr sz="1500" u="none" cap="none" strike="noStrike"/>
                    </a:p>
                  </a:txBody>
                  <a:tcPr marT="50800" marB="50800" marR="101600" marL="101600" anchor="ctr">
                    <a:lnL cap="flat" cmpd="sng" w="9525">
                      <a:solidFill>
                        <a:srgbClr val="1C304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C304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C304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C304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D1B2A">
                        <a:alpha val="74902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F5D4"/>
                        </a:buClr>
                        <a:buSzPts val="1500"/>
                        <a:buFont typeface="Calibri"/>
                        <a:buNone/>
                      </a:pPr>
                      <a:r>
                        <a:rPr b="1" lang="en-US" sz="1500" u="none" cap="none" strike="noStrike">
                          <a:solidFill>
                            <a:srgbClr val="00F5D4"/>
                          </a:solidFill>
                        </a:rPr>
                        <a:t>✓</a:t>
                      </a:r>
                      <a:endParaRPr sz="1500" u="none" cap="none" strike="noStrike"/>
                    </a:p>
                  </a:txBody>
                  <a:tcPr marT="50800" marB="50800" marR="101600" marL="101600" anchor="ctr">
                    <a:lnL cap="flat" cmpd="sng" w="9525">
                      <a:solidFill>
                        <a:srgbClr val="1C304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C304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C304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C304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D1B2A">
                        <a:alpha val="74902"/>
                      </a:srgbClr>
                    </a:solidFill>
                  </a:tcPr>
                </a:tc>
              </a:tr>
              <a:tr h="5422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3F7FA"/>
                        </a:buClr>
                        <a:buSzPts val="1250"/>
                        <a:buFont typeface="Calibri"/>
                        <a:buNone/>
                      </a:pPr>
                      <a:r>
                        <a:rPr lang="en-US" sz="1250" u="none" cap="none" strike="noStrike">
                          <a:solidFill>
                            <a:srgbClr val="F3F7FA"/>
                          </a:solidFill>
                        </a:rPr>
                        <a:t>Enfoque nativo en español / Lat</a:t>
                      </a:r>
                      <a:r>
                        <a:rPr lang="en-US" sz="1250">
                          <a:solidFill>
                            <a:srgbClr val="F3F7FA"/>
                          </a:solidFill>
                        </a:rPr>
                        <a:t>a</a:t>
                      </a:r>
                      <a:r>
                        <a:rPr lang="en-US" sz="1250" u="none" cap="none" strike="noStrike">
                          <a:solidFill>
                            <a:srgbClr val="F3F7FA"/>
                          </a:solidFill>
                        </a:rPr>
                        <a:t>m</a:t>
                      </a:r>
                      <a:endParaRPr sz="1250" u="none" cap="none" strike="noStrike"/>
                    </a:p>
                  </a:txBody>
                  <a:tcPr marT="50800" marB="50800" marR="101600" marL="101600" anchor="ctr">
                    <a:lnL cap="flat" cmpd="sng" w="9525">
                      <a:solidFill>
                        <a:srgbClr val="1C304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C304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C304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C304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D1B2A">
                        <a:alpha val="74902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55"/>
                        </a:buClr>
                        <a:buSzPts val="1500"/>
                        <a:buFont typeface="Calibri"/>
                        <a:buNone/>
                      </a:pPr>
                      <a:r>
                        <a:rPr b="1" lang="en-US" sz="1500" u="none" cap="none" strike="noStrike">
                          <a:solidFill>
                            <a:srgbClr val="FF0055"/>
                          </a:solidFill>
                        </a:rPr>
                        <a:t>✕</a:t>
                      </a:r>
                      <a:endParaRPr sz="1500" u="none" cap="none" strike="noStrike"/>
                    </a:p>
                  </a:txBody>
                  <a:tcPr marT="50800" marB="50800" marR="101600" marL="101600" anchor="ctr">
                    <a:lnL cap="flat" cmpd="sng" w="9525">
                      <a:solidFill>
                        <a:srgbClr val="1C304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C304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C304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C304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D1B2A">
                        <a:alpha val="74902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55"/>
                        </a:buClr>
                        <a:buSzPts val="1500"/>
                        <a:buFont typeface="Calibri"/>
                        <a:buNone/>
                      </a:pPr>
                      <a:r>
                        <a:rPr b="1" lang="en-US" sz="1500" u="none" cap="none" strike="noStrike">
                          <a:solidFill>
                            <a:srgbClr val="FF0055"/>
                          </a:solidFill>
                        </a:rPr>
                        <a:t>✕</a:t>
                      </a:r>
                      <a:endParaRPr sz="1500" u="none" cap="none" strike="noStrike"/>
                    </a:p>
                  </a:txBody>
                  <a:tcPr marT="50800" marB="50800" marR="101600" marL="101600" anchor="ctr">
                    <a:lnL cap="flat" cmpd="sng" w="9525">
                      <a:solidFill>
                        <a:srgbClr val="1C304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C304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C304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C304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D1B2A">
                        <a:alpha val="74902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F5D4"/>
                        </a:buClr>
                        <a:buSzPts val="1500"/>
                        <a:buFont typeface="Calibri"/>
                        <a:buNone/>
                      </a:pPr>
                      <a:r>
                        <a:rPr b="1" lang="en-US" sz="1500" u="none" cap="none" strike="noStrike">
                          <a:solidFill>
                            <a:srgbClr val="00F5D4"/>
                          </a:solidFill>
                        </a:rPr>
                        <a:t>✓</a:t>
                      </a:r>
                      <a:endParaRPr sz="1500" u="none" cap="none" strike="noStrike"/>
                    </a:p>
                  </a:txBody>
                  <a:tcPr marT="50800" marB="50800" marR="101600" marL="101600" anchor="ctr">
                    <a:lnL cap="flat" cmpd="sng" w="9525">
                      <a:solidFill>
                        <a:srgbClr val="1C304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C304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C304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C304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D1B2A">
                        <a:alpha val="74902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264" name="Google Shape;264;p9"/>
          <p:cNvSpPr/>
          <p:nvPr/>
        </p:nvSpPr>
        <p:spPr>
          <a:xfrm>
            <a:off x="640080" y="6144768"/>
            <a:ext cx="10058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6728C"/>
              </a:buClr>
              <a:buSzPts val="900"/>
              <a:buFont typeface="Calibri"/>
              <a:buNone/>
            </a:pPr>
            <a:r>
              <a:rPr b="0" i="1" lang="en-US" sz="900" u="none" cap="none" strike="noStrike">
                <a:solidFill>
                  <a:srgbClr val="56728C"/>
                </a:solidFill>
                <a:latin typeface="Calibri"/>
                <a:ea typeface="Calibri"/>
                <a:cs typeface="Calibri"/>
                <a:sym typeface="Calibri"/>
              </a:rPr>
              <a:t>BioPulse no compite en hardware: convierte los datos que tu wearable ya genera en decisiones explicables.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5" name="Google Shape;265;p9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6728C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6728C"/>
                </a:solidFill>
                <a:latin typeface="Calibri"/>
                <a:ea typeface="Calibri"/>
                <a:cs typeface="Calibri"/>
                <a:sym typeface="Calibri"/>
              </a:rPr>
              <a:t>Competencia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6" name="Google Shape;266;p9"/>
          <p:cNvSpPr/>
          <p:nvPr/>
        </p:nvSpPr>
        <p:spPr>
          <a:xfrm>
            <a:off x="8991295" y="6473952"/>
            <a:ext cx="2743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6728C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6728C"/>
                </a:solidFill>
                <a:latin typeface="Calibri"/>
                <a:ea typeface="Calibri"/>
                <a:cs typeface="Calibri"/>
                <a:sym typeface="Calibri"/>
              </a:rPr>
              <a:t>BIOPULSE · 09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claude/biopulse_pitch/assets/icons/activity_teal.png" id="267" name="Google Shape;267;p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3900" y="157748"/>
            <a:ext cx="237744" cy="237744"/>
          </a:xfrm>
          <a:prstGeom prst="rect">
            <a:avLst/>
          </a:prstGeom>
          <a:noFill/>
          <a:ln>
            <a:noFill/>
          </a:ln>
        </p:spPr>
      </p:pic>
      <p:sp>
        <p:nvSpPr>
          <p:cNvPr id="268" name="Google Shape;268;p9"/>
          <p:cNvSpPr/>
          <p:nvPr/>
        </p:nvSpPr>
        <p:spPr>
          <a:xfrm>
            <a:off x="386508" y="121172"/>
            <a:ext cx="2743200" cy="31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3F7FA"/>
              </a:buClr>
              <a:buSzPts val="1500"/>
              <a:buFont typeface="Cambria"/>
              <a:buNone/>
            </a:pPr>
            <a:r>
              <a:rPr b="1" i="0" lang="en-US" sz="1500" u="none" cap="none" strike="noStrike">
                <a:solidFill>
                  <a:srgbClr val="F3F7FA"/>
                </a:solidFill>
                <a:latin typeface="Cambria"/>
                <a:ea typeface="Cambria"/>
                <a:cs typeface="Cambria"/>
                <a:sym typeface="Cambria"/>
              </a:rPr>
              <a:t>BIOPULSE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home/claude/biopulse_pitch/assets/bg_content.png" id="274" name="Google Shape;274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1695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75" name="Google Shape;275;p10"/>
          <p:cNvSpPr/>
          <p:nvPr/>
        </p:nvSpPr>
        <p:spPr>
          <a:xfrm>
            <a:off x="640080" y="502920"/>
            <a:ext cx="7315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F5D4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00F5D4"/>
                </a:solidFill>
                <a:latin typeface="Calibri"/>
                <a:ea typeface="Calibri"/>
                <a:cs typeface="Calibri"/>
                <a:sym typeface="Calibri"/>
              </a:rPr>
              <a:t>TRACCIÓN Y ROADMAP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6" name="Google Shape;276;p10"/>
          <p:cNvSpPr/>
          <p:nvPr/>
        </p:nvSpPr>
        <p:spPr>
          <a:xfrm>
            <a:off x="640080" y="804672"/>
            <a:ext cx="1088136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F3F7FA"/>
              </a:buClr>
              <a:buSzPts val="2600"/>
              <a:buFont typeface="Cambria"/>
              <a:buNone/>
            </a:pPr>
            <a:r>
              <a:rPr b="1" i="0" lang="en-US" sz="2600" u="none" cap="none" strike="noStrike">
                <a:solidFill>
                  <a:srgbClr val="F3F7FA"/>
                </a:solidFill>
                <a:latin typeface="Cambria"/>
                <a:ea typeface="Cambria"/>
                <a:cs typeface="Cambria"/>
                <a:sym typeface="Cambria"/>
              </a:rPr>
              <a:t>De MVP en Vercel a referente de biohacking en LatAm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77" name="Google Shape;277;p10"/>
          <p:cNvCxnSpPr/>
          <p:nvPr/>
        </p:nvCxnSpPr>
        <p:spPr>
          <a:xfrm>
            <a:off x="1188720" y="3246120"/>
            <a:ext cx="9811512" cy="0"/>
          </a:xfrm>
          <a:prstGeom prst="straightConnector1">
            <a:avLst/>
          </a:prstGeom>
          <a:noFill/>
          <a:ln cap="flat" cmpd="sng" w="19050">
            <a:solidFill>
              <a:srgbClr val="1C3040"/>
            </a:solidFill>
            <a:prstDash val="dash"/>
            <a:round/>
            <a:headEnd len="sm" w="sm" type="none"/>
            <a:tailEnd len="sm" w="sm" type="none"/>
          </a:ln>
        </p:spPr>
      </p:cxnSp>
      <p:sp>
        <p:nvSpPr>
          <p:cNvPr id="278" name="Google Shape;278;p10"/>
          <p:cNvSpPr/>
          <p:nvPr/>
        </p:nvSpPr>
        <p:spPr>
          <a:xfrm>
            <a:off x="640080" y="2587752"/>
            <a:ext cx="2181758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F5D4"/>
              </a:buClr>
              <a:buSzPts val="1300"/>
              <a:buFont typeface="Courier New"/>
              <a:buNone/>
            </a:pPr>
            <a:r>
              <a:rPr b="1" i="0" lang="en-US" sz="1300" u="none" cap="none" strike="noStrike">
                <a:solidFill>
                  <a:srgbClr val="00F5D4"/>
                </a:solidFill>
                <a:latin typeface="Courier New"/>
                <a:ea typeface="Courier New"/>
                <a:cs typeface="Courier New"/>
                <a:sym typeface="Courier New"/>
              </a:rPr>
              <a:t>HOY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9" name="Google Shape;279;p10"/>
          <p:cNvSpPr/>
          <p:nvPr/>
        </p:nvSpPr>
        <p:spPr>
          <a:xfrm>
            <a:off x="1612087" y="3127248"/>
            <a:ext cx="237744" cy="237744"/>
          </a:xfrm>
          <a:prstGeom prst="ellipse">
            <a:avLst/>
          </a:prstGeom>
          <a:solidFill>
            <a:srgbClr val="00F5D4"/>
          </a:solidFill>
          <a:ln cap="flat" cmpd="sng" w="19050">
            <a:solidFill>
              <a:srgbClr val="00F5D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0" name="Google Shape;280;p10"/>
          <p:cNvSpPr/>
          <p:nvPr/>
        </p:nvSpPr>
        <p:spPr>
          <a:xfrm>
            <a:off x="749808" y="3538728"/>
            <a:ext cx="1962302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11111"/>
              </a:lnSpc>
              <a:spcBef>
                <a:spcPts val="0"/>
              </a:spcBef>
              <a:spcAft>
                <a:spcPts val="0"/>
              </a:spcAft>
              <a:buClr>
                <a:srgbClr val="F3F7FA"/>
              </a:buClr>
              <a:buSzPts val="1350"/>
              <a:buFont typeface="Cambria"/>
              <a:buNone/>
            </a:pPr>
            <a:r>
              <a:rPr b="1" i="0" lang="en-US" sz="1350" u="none" cap="none" strike="noStrike">
                <a:solidFill>
                  <a:srgbClr val="F3F7FA"/>
                </a:solidFill>
                <a:latin typeface="Cambria"/>
                <a:ea typeface="Cambria"/>
                <a:cs typeface="Cambria"/>
                <a:sym typeface="Cambria"/>
              </a:rPr>
              <a:t>MVP en producción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1" name="Google Shape;281;p10"/>
          <p:cNvSpPr/>
          <p:nvPr/>
        </p:nvSpPr>
        <p:spPr>
          <a:xfrm>
            <a:off x="731520" y="4087368"/>
            <a:ext cx="1998878" cy="1463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91A8BE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91A8BE"/>
                </a:solidFill>
                <a:latin typeface="Calibri"/>
                <a:ea typeface="Calibri"/>
                <a:cs typeface="Calibri"/>
                <a:sym typeface="Calibri"/>
              </a:rPr>
              <a:t>Motor de riesgo validado y plan de marketing $0 listo para ejecutar.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2" name="Google Shape;282;p10"/>
          <p:cNvSpPr/>
          <p:nvPr/>
        </p:nvSpPr>
        <p:spPr>
          <a:xfrm>
            <a:off x="2821838" y="2587752"/>
            <a:ext cx="2181758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1A8BE"/>
              </a:buClr>
              <a:buSzPts val="1300"/>
              <a:buFont typeface="Courier New"/>
              <a:buNone/>
            </a:pPr>
            <a:r>
              <a:rPr b="1" i="0" lang="en-US" sz="1300" u="none" cap="none" strike="noStrike">
                <a:solidFill>
                  <a:srgbClr val="91A8BE"/>
                </a:solidFill>
                <a:latin typeface="Courier New"/>
                <a:ea typeface="Courier New"/>
                <a:cs typeface="Courier New"/>
                <a:sym typeface="Courier New"/>
              </a:rPr>
              <a:t>Q1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3" name="Google Shape;283;p10"/>
          <p:cNvSpPr/>
          <p:nvPr/>
        </p:nvSpPr>
        <p:spPr>
          <a:xfrm>
            <a:off x="3830422" y="3163824"/>
            <a:ext cx="164592" cy="164592"/>
          </a:xfrm>
          <a:prstGeom prst="ellipse">
            <a:avLst/>
          </a:prstGeom>
          <a:solidFill>
            <a:srgbClr val="0D1B2A"/>
          </a:solidFill>
          <a:ln cap="flat" cmpd="sng" w="19050">
            <a:solidFill>
              <a:srgbClr val="00F5D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4" name="Google Shape;284;p10"/>
          <p:cNvSpPr/>
          <p:nvPr/>
        </p:nvSpPr>
        <p:spPr>
          <a:xfrm>
            <a:off x="2931566" y="3538728"/>
            <a:ext cx="1962302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11111"/>
              </a:lnSpc>
              <a:spcBef>
                <a:spcPts val="0"/>
              </a:spcBef>
              <a:spcAft>
                <a:spcPts val="0"/>
              </a:spcAft>
              <a:buClr>
                <a:srgbClr val="F3F7FA"/>
              </a:buClr>
              <a:buSzPts val="1350"/>
              <a:buFont typeface="Cambria"/>
              <a:buNone/>
            </a:pPr>
            <a:r>
              <a:rPr b="1" i="0" lang="en-US" sz="1350" u="none" cap="none" strike="noStrike">
                <a:solidFill>
                  <a:srgbClr val="F3F7FA"/>
                </a:solidFill>
                <a:latin typeface="Cambria"/>
                <a:ea typeface="Cambria"/>
                <a:cs typeface="Cambria"/>
                <a:sym typeface="Cambria"/>
              </a:rPr>
              <a:t>0 → 100K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5" name="Google Shape;285;p10"/>
          <p:cNvSpPr/>
          <p:nvPr/>
        </p:nvSpPr>
        <p:spPr>
          <a:xfrm>
            <a:off x="2913278" y="4087368"/>
            <a:ext cx="1998878" cy="1463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91A8BE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91A8BE"/>
                </a:solidFill>
                <a:latin typeface="Calibri"/>
                <a:ea typeface="Calibri"/>
                <a:cs typeface="Calibri"/>
                <a:sym typeface="Calibri"/>
              </a:rPr>
              <a:t>Seguidores + embudo de adquisición activo (TikTok, Reels, SEO).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6" name="Google Shape;286;p10"/>
          <p:cNvSpPr/>
          <p:nvPr/>
        </p:nvSpPr>
        <p:spPr>
          <a:xfrm>
            <a:off x="5003597" y="2587752"/>
            <a:ext cx="2181758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1A8BE"/>
              </a:buClr>
              <a:buSzPts val="1300"/>
              <a:buFont typeface="Courier New"/>
              <a:buNone/>
            </a:pPr>
            <a:r>
              <a:rPr b="1" i="0" lang="en-US" sz="1300" u="none" cap="none" strike="noStrike">
                <a:solidFill>
                  <a:srgbClr val="91A8BE"/>
                </a:solidFill>
                <a:latin typeface="Courier New"/>
                <a:ea typeface="Courier New"/>
                <a:cs typeface="Courier New"/>
                <a:sym typeface="Courier New"/>
              </a:rPr>
              <a:t>Q2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7" name="Google Shape;287;p10"/>
          <p:cNvSpPr/>
          <p:nvPr/>
        </p:nvSpPr>
        <p:spPr>
          <a:xfrm>
            <a:off x="6012180" y="3163824"/>
            <a:ext cx="164592" cy="164592"/>
          </a:xfrm>
          <a:prstGeom prst="ellipse">
            <a:avLst/>
          </a:prstGeom>
          <a:solidFill>
            <a:srgbClr val="0D1B2A"/>
          </a:solidFill>
          <a:ln cap="flat" cmpd="sng" w="19050">
            <a:solidFill>
              <a:srgbClr val="00F5D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8" name="Google Shape;288;p10"/>
          <p:cNvSpPr/>
          <p:nvPr/>
        </p:nvSpPr>
        <p:spPr>
          <a:xfrm>
            <a:off x="5113325" y="3538728"/>
            <a:ext cx="1962302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11111"/>
              </a:lnSpc>
              <a:spcBef>
                <a:spcPts val="0"/>
              </a:spcBef>
              <a:spcAft>
                <a:spcPts val="0"/>
              </a:spcAft>
              <a:buClr>
                <a:srgbClr val="F3F7FA"/>
              </a:buClr>
              <a:buSzPts val="1350"/>
              <a:buFont typeface="Cambria"/>
              <a:buNone/>
            </a:pPr>
            <a:r>
              <a:rPr b="1" i="0" lang="en-US" sz="1350" u="none" cap="none" strike="noStrike">
                <a:solidFill>
                  <a:srgbClr val="F3F7FA"/>
                </a:solidFill>
                <a:latin typeface="Cambria"/>
                <a:ea typeface="Cambria"/>
                <a:cs typeface="Cambria"/>
                <a:sym typeface="Cambria"/>
              </a:rPr>
              <a:t>Freemium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9" name="Google Shape;289;p10"/>
          <p:cNvSpPr/>
          <p:nvPr/>
        </p:nvSpPr>
        <p:spPr>
          <a:xfrm>
            <a:off x="5095037" y="4087368"/>
            <a:ext cx="1998878" cy="1463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91A8BE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91A8BE"/>
                </a:solidFill>
                <a:latin typeface="Calibri"/>
                <a:ea typeface="Calibri"/>
                <a:cs typeface="Calibri"/>
                <a:sym typeface="Calibri"/>
              </a:rPr>
              <a:t>Lanzamiento abierto y comunidad activa alrededor del producto.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0" name="Google Shape;290;p10"/>
          <p:cNvSpPr/>
          <p:nvPr/>
        </p:nvSpPr>
        <p:spPr>
          <a:xfrm>
            <a:off x="7185355" y="2587752"/>
            <a:ext cx="2181758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1A8BE"/>
              </a:buClr>
              <a:buSzPts val="1300"/>
              <a:buFont typeface="Courier New"/>
              <a:buNone/>
            </a:pPr>
            <a:r>
              <a:rPr b="1" i="0" lang="en-US" sz="1300" u="none" cap="none" strike="noStrike">
                <a:solidFill>
                  <a:srgbClr val="91A8BE"/>
                </a:solidFill>
                <a:latin typeface="Courier New"/>
                <a:ea typeface="Courier New"/>
                <a:cs typeface="Courier New"/>
                <a:sym typeface="Courier New"/>
              </a:rPr>
              <a:t>Q3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1" name="Google Shape;291;p10"/>
          <p:cNvSpPr/>
          <p:nvPr/>
        </p:nvSpPr>
        <p:spPr>
          <a:xfrm>
            <a:off x="8193938" y="3163824"/>
            <a:ext cx="164592" cy="164592"/>
          </a:xfrm>
          <a:prstGeom prst="ellipse">
            <a:avLst/>
          </a:prstGeom>
          <a:solidFill>
            <a:srgbClr val="0D1B2A"/>
          </a:solidFill>
          <a:ln cap="flat" cmpd="sng" w="19050">
            <a:solidFill>
              <a:srgbClr val="00F5D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2" name="Google Shape;292;p10"/>
          <p:cNvSpPr/>
          <p:nvPr/>
        </p:nvSpPr>
        <p:spPr>
          <a:xfrm>
            <a:off x="7295083" y="3538728"/>
            <a:ext cx="1962302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11111"/>
              </a:lnSpc>
              <a:spcBef>
                <a:spcPts val="0"/>
              </a:spcBef>
              <a:spcAft>
                <a:spcPts val="0"/>
              </a:spcAft>
              <a:buClr>
                <a:srgbClr val="F3F7FA"/>
              </a:buClr>
              <a:buSzPts val="1350"/>
              <a:buFont typeface="Cambria"/>
              <a:buNone/>
            </a:pPr>
            <a:r>
              <a:rPr b="1" i="0" lang="en-US" sz="1350" u="none" cap="none" strike="noStrike">
                <a:solidFill>
                  <a:srgbClr val="F3F7FA"/>
                </a:solidFill>
                <a:latin typeface="Cambria"/>
                <a:ea typeface="Cambria"/>
                <a:cs typeface="Cambria"/>
                <a:sym typeface="Cambria"/>
              </a:rPr>
              <a:t>2,000 en waitlist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3" name="Google Shape;293;p10"/>
          <p:cNvSpPr/>
          <p:nvPr/>
        </p:nvSpPr>
        <p:spPr>
          <a:xfrm>
            <a:off x="7276795" y="4087368"/>
            <a:ext cx="1998878" cy="1463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91A8BE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91A8BE"/>
                </a:solidFill>
                <a:latin typeface="Calibri"/>
                <a:ea typeface="Calibri"/>
                <a:cs typeface="Calibri"/>
                <a:sym typeface="Calibri"/>
              </a:rPr>
              <a:t>Expansión a YouTube + blog SEO; conversión web→waitlist &gt;8%.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4" name="Google Shape;294;p10"/>
          <p:cNvSpPr/>
          <p:nvPr/>
        </p:nvSpPr>
        <p:spPr>
          <a:xfrm>
            <a:off x="9367114" y="2587752"/>
            <a:ext cx="2181758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1A8BE"/>
              </a:buClr>
              <a:buSzPts val="1300"/>
              <a:buFont typeface="Courier New"/>
              <a:buNone/>
            </a:pPr>
            <a:r>
              <a:rPr b="1" i="0" lang="en-US" sz="1300" u="none" cap="none" strike="noStrike">
                <a:solidFill>
                  <a:srgbClr val="91A8BE"/>
                </a:solidFill>
                <a:latin typeface="Courier New"/>
                <a:ea typeface="Courier New"/>
                <a:cs typeface="Courier New"/>
                <a:sym typeface="Courier New"/>
              </a:rPr>
              <a:t>Q4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5" name="Google Shape;295;p10"/>
          <p:cNvSpPr/>
          <p:nvPr/>
        </p:nvSpPr>
        <p:spPr>
          <a:xfrm>
            <a:off x="10375697" y="3163824"/>
            <a:ext cx="164592" cy="164592"/>
          </a:xfrm>
          <a:prstGeom prst="ellipse">
            <a:avLst/>
          </a:prstGeom>
          <a:solidFill>
            <a:srgbClr val="0D1B2A"/>
          </a:solidFill>
          <a:ln cap="flat" cmpd="sng" w="19050">
            <a:solidFill>
              <a:srgbClr val="00F5D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6" name="Google Shape;296;p10"/>
          <p:cNvSpPr/>
          <p:nvPr/>
        </p:nvSpPr>
        <p:spPr>
          <a:xfrm>
            <a:off x="9476842" y="3538728"/>
            <a:ext cx="1962302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11111"/>
              </a:lnSpc>
              <a:spcBef>
                <a:spcPts val="0"/>
              </a:spcBef>
              <a:spcAft>
                <a:spcPts val="0"/>
              </a:spcAft>
              <a:buClr>
                <a:srgbClr val="F3F7FA"/>
              </a:buClr>
              <a:buSzPts val="1350"/>
              <a:buFont typeface="Cambria"/>
              <a:buNone/>
            </a:pPr>
            <a:r>
              <a:rPr b="1" i="0" lang="en-US" sz="1350" u="none" cap="none" strike="noStrike">
                <a:solidFill>
                  <a:srgbClr val="F3F7FA"/>
                </a:solidFill>
                <a:latin typeface="Cambria"/>
                <a:ea typeface="Cambria"/>
                <a:cs typeface="Cambria"/>
                <a:sym typeface="Cambria"/>
              </a:rPr>
              <a:t>Referente Lat</a:t>
            </a:r>
            <a:r>
              <a:rPr b="1" lang="en-US" sz="1350">
                <a:solidFill>
                  <a:srgbClr val="F3F7FA"/>
                </a:solidFill>
                <a:latin typeface="Cambria"/>
                <a:ea typeface="Cambria"/>
                <a:cs typeface="Cambria"/>
                <a:sym typeface="Cambria"/>
              </a:rPr>
              <a:t>a</a:t>
            </a:r>
            <a:r>
              <a:rPr b="1" i="0" lang="en-US" sz="1350" u="none" cap="none" strike="noStrike">
                <a:solidFill>
                  <a:srgbClr val="F3F7FA"/>
                </a:solidFill>
                <a:latin typeface="Cambria"/>
                <a:ea typeface="Cambria"/>
                <a:cs typeface="Cambria"/>
                <a:sym typeface="Cambria"/>
              </a:rPr>
              <a:t>m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7" name="Google Shape;297;p10"/>
          <p:cNvSpPr/>
          <p:nvPr/>
        </p:nvSpPr>
        <p:spPr>
          <a:xfrm>
            <a:off x="9458554" y="4087368"/>
            <a:ext cx="1998878" cy="1463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91A8BE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91A8BE"/>
                </a:solidFill>
                <a:latin typeface="Calibri"/>
                <a:ea typeface="Calibri"/>
                <a:cs typeface="Calibri"/>
                <a:sym typeface="Calibri"/>
              </a:rPr>
              <a:t>Biohacking cuantificado + material de inversión con cifras reales.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8" name="Google Shape;298;p10"/>
          <p:cNvSpPr/>
          <p:nvPr/>
        </p:nvSpPr>
        <p:spPr>
          <a:xfrm>
            <a:off x="640080" y="5715000"/>
            <a:ext cx="10908792" cy="685800"/>
          </a:xfrm>
          <a:prstGeom prst="roundRect">
            <a:avLst>
              <a:gd fmla="val 16000" name="adj"/>
            </a:avLst>
          </a:prstGeom>
          <a:solidFill>
            <a:srgbClr val="112436">
              <a:alpha val="81961"/>
            </a:srgbClr>
          </a:solidFill>
          <a:ln cap="flat" cmpd="sng" w="12700">
            <a:solidFill>
              <a:srgbClr val="1C304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38100">
              <a:srgbClr val="000000">
                <a:alpha val="3490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9" name="Google Shape;299;p10"/>
          <p:cNvSpPr/>
          <p:nvPr/>
        </p:nvSpPr>
        <p:spPr>
          <a:xfrm>
            <a:off x="914400" y="5715000"/>
            <a:ext cx="1033272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30434"/>
              </a:lnSpc>
              <a:spcBef>
                <a:spcPts val="0"/>
              </a:spcBef>
              <a:spcAft>
                <a:spcPts val="0"/>
              </a:spcAft>
              <a:buClr>
                <a:srgbClr val="91A8BE"/>
              </a:buClr>
              <a:buSzPts val="1150"/>
              <a:buFont typeface="Calibri"/>
              <a:buNone/>
            </a:pPr>
            <a:r>
              <a:rPr b="0" i="1" lang="en-US" sz="1150" u="none" cap="none" strike="noStrike">
                <a:solidFill>
                  <a:srgbClr val="91A8BE"/>
                </a:solidFill>
                <a:latin typeface="Calibri"/>
                <a:ea typeface="Calibri"/>
                <a:cs typeface="Calibri"/>
                <a:sym typeface="Calibri"/>
              </a:rPr>
              <a:t>Visión anual: Q1 100K seguidores + embudo · Q2 freemium · Q3 YouTube + blog SEO · Q4 referente LatAm en biohacking cuantificado.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0" name="Google Shape;300;p10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6728C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6728C"/>
                </a:solidFill>
                <a:latin typeface="Calibri"/>
                <a:ea typeface="Calibri"/>
                <a:cs typeface="Calibri"/>
                <a:sym typeface="Calibri"/>
              </a:rPr>
              <a:t>Tracción y roadmap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1" name="Google Shape;301;p10"/>
          <p:cNvSpPr/>
          <p:nvPr/>
        </p:nvSpPr>
        <p:spPr>
          <a:xfrm>
            <a:off x="8991295" y="6473952"/>
            <a:ext cx="2743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6728C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6728C"/>
                </a:solidFill>
                <a:latin typeface="Calibri"/>
                <a:ea typeface="Calibri"/>
                <a:cs typeface="Calibri"/>
                <a:sym typeface="Calibri"/>
              </a:rPr>
              <a:t>BIOPULSE · 10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claude/biopulse_pitch/assets/icons/activity_teal.png" id="302" name="Google Shape;302;p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3900" y="157748"/>
            <a:ext cx="237744" cy="237744"/>
          </a:xfrm>
          <a:prstGeom prst="rect">
            <a:avLst/>
          </a:prstGeom>
          <a:noFill/>
          <a:ln>
            <a:noFill/>
          </a:ln>
        </p:spPr>
      </p:pic>
      <p:sp>
        <p:nvSpPr>
          <p:cNvPr id="303" name="Google Shape;303;p10"/>
          <p:cNvSpPr/>
          <p:nvPr/>
        </p:nvSpPr>
        <p:spPr>
          <a:xfrm>
            <a:off x="386508" y="121172"/>
            <a:ext cx="2743200" cy="31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3F7FA"/>
              </a:buClr>
              <a:buSzPts val="1500"/>
              <a:buFont typeface="Cambria"/>
              <a:buNone/>
            </a:pPr>
            <a:r>
              <a:rPr b="1" i="0" lang="en-US" sz="1500" u="none" cap="none" strike="noStrike">
                <a:solidFill>
                  <a:srgbClr val="F3F7FA"/>
                </a:solidFill>
                <a:latin typeface="Cambria"/>
                <a:ea typeface="Cambria"/>
                <a:cs typeface="Cambria"/>
                <a:sym typeface="Cambria"/>
              </a:rPr>
              <a:t>BIOPULSE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8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home/claude/biopulse_pitch/assets/bg_content.png" id="309" name="Google Shape;309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1695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10" name="Google Shape;310;p11"/>
          <p:cNvSpPr/>
          <p:nvPr/>
        </p:nvSpPr>
        <p:spPr>
          <a:xfrm>
            <a:off x="640080" y="502920"/>
            <a:ext cx="7315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F5D4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00F5D4"/>
                </a:solidFill>
                <a:latin typeface="Calibri"/>
                <a:ea typeface="Calibri"/>
                <a:cs typeface="Calibri"/>
                <a:sym typeface="Calibri"/>
              </a:rPr>
              <a:t>POR QUÉ NOSOTROS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1" name="Google Shape;311;p11"/>
          <p:cNvSpPr/>
          <p:nvPr/>
        </p:nvSpPr>
        <p:spPr>
          <a:xfrm>
            <a:off x="640080" y="804672"/>
            <a:ext cx="10881360" cy="960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F3F7FA"/>
              </a:buClr>
              <a:buSzPts val="2900"/>
              <a:buFont typeface="Cambria"/>
              <a:buNone/>
            </a:pPr>
            <a:r>
              <a:rPr b="1" i="0" lang="en-US" sz="2900" u="none" cap="none" strike="noStrike">
                <a:solidFill>
                  <a:srgbClr val="F3F7FA"/>
                </a:solidFill>
                <a:latin typeface="Cambria"/>
                <a:ea typeface="Cambria"/>
                <a:cs typeface="Cambria"/>
                <a:sym typeface="Cambria"/>
              </a:rPr>
              <a:t>Esto no es una idea más. Ya es un producto.</a:t>
            </a:r>
            <a:endParaRPr b="0" i="0" sz="2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2" name="Google Shape;312;p11"/>
          <p:cNvSpPr/>
          <p:nvPr/>
        </p:nvSpPr>
        <p:spPr>
          <a:xfrm>
            <a:off x="640080" y="2148840"/>
            <a:ext cx="3246120" cy="4114800"/>
          </a:xfrm>
          <a:prstGeom prst="roundRect">
            <a:avLst>
              <a:gd fmla="val 3380" name="adj"/>
            </a:avLst>
          </a:prstGeom>
          <a:solidFill>
            <a:srgbClr val="112436">
              <a:alpha val="81961"/>
            </a:srgbClr>
          </a:solidFill>
          <a:ln cap="flat" cmpd="sng" w="12700">
            <a:solidFill>
              <a:srgbClr val="1C304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38100">
              <a:srgbClr val="000000">
                <a:alpha val="3490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3" name="Google Shape;313;p11"/>
          <p:cNvSpPr/>
          <p:nvPr/>
        </p:nvSpPr>
        <p:spPr>
          <a:xfrm>
            <a:off x="1577340" y="2651760"/>
            <a:ext cx="1371600" cy="1371600"/>
          </a:xfrm>
          <a:prstGeom prst="ellipse">
            <a:avLst/>
          </a:prstGeom>
          <a:solidFill>
            <a:srgbClr val="0D1B2A">
              <a:alpha val="94902"/>
            </a:srgbClr>
          </a:solidFill>
          <a:ln cap="flat" cmpd="sng" w="19050">
            <a:solidFill>
              <a:srgbClr val="00F5D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biopulse_pitch/assets/icons/usercheck_teal.png" id="314" name="Google Shape;314;p1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879092" y="3017520"/>
            <a:ext cx="768096" cy="768096"/>
          </a:xfrm>
          <a:prstGeom prst="rect">
            <a:avLst/>
          </a:prstGeom>
          <a:noFill/>
          <a:ln>
            <a:noFill/>
          </a:ln>
        </p:spPr>
      </p:pic>
      <p:sp>
        <p:nvSpPr>
          <p:cNvPr id="315" name="Google Shape;315;p11"/>
          <p:cNvSpPr/>
          <p:nvPr/>
        </p:nvSpPr>
        <p:spPr>
          <a:xfrm>
            <a:off x="822960" y="4206240"/>
            <a:ext cx="28803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3F7FA"/>
              </a:buClr>
              <a:buSzPts val="1700"/>
              <a:buFont typeface="Cambria"/>
              <a:buNone/>
            </a:pPr>
            <a:r>
              <a:rPr b="1" i="0" lang="en-US" sz="1700" u="none" cap="none" strike="noStrike">
                <a:solidFill>
                  <a:srgbClr val="F3F7FA"/>
                </a:solidFill>
                <a:latin typeface="Cambria"/>
                <a:ea typeface="Cambria"/>
                <a:cs typeface="Cambria"/>
                <a:sym typeface="Cambria"/>
              </a:rPr>
              <a:t>Fundador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6" name="Google Shape;316;p11"/>
          <p:cNvSpPr/>
          <p:nvPr/>
        </p:nvSpPr>
        <p:spPr>
          <a:xfrm>
            <a:off x="822960" y="4599432"/>
            <a:ext cx="288036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30434"/>
              </a:lnSpc>
              <a:spcBef>
                <a:spcPts val="0"/>
              </a:spcBef>
              <a:spcAft>
                <a:spcPts val="0"/>
              </a:spcAft>
              <a:buClr>
                <a:srgbClr val="91A8BE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91A8BE"/>
                </a:solidFill>
                <a:latin typeface="Calibri"/>
                <a:ea typeface="Calibri"/>
                <a:cs typeface="Calibri"/>
                <a:sym typeface="Calibri"/>
              </a:rPr>
              <a:t>Ciencia de Datos · EIA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30434"/>
              </a:lnSpc>
              <a:spcBef>
                <a:spcPts val="0"/>
              </a:spcBef>
              <a:spcAft>
                <a:spcPts val="0"/>
              </a:spcAft>
              <a:buClr>
                <a:srgbClr val="91A8BE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91A8BE"/>
                </a:solidFill>
                <a:latin typeface="Calibri"/>
                <a:ea typeface="Calibri"/>
                <a:cs typeface="Calibri"/>
                <a:sym typeface="Calibri"/>
              </a:rPr>
              <a:t>(Escuela de Ingeniería de Antioquia)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17" name="Google Shape;317;p11"/>
          <p:cNvCxnSpPr/>
          <p:nvPr/>
        </p:nvCxnSpPr>
        <p:spPr>
          <a:xfrm>
            <a:off x="1097280" y="5303520"/>
            <a:ext cx="2331720" cy="0"/>
          </a:xfrm>
          <a:prstGeom prst="straightConnector1">
            <a:avLst/>
          </a:prstGeom>
          <a:noFill/>
          <a:ln cap="flat" cmpd="sng" w="12700">
            <a:solidFill>
              <a:srgbClr val="1C304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18" name="Google Shape;318;p11"/>
          <p:cNvSpPr/>
          <p:nvPr/>
        </p:nvSpPr>
        <p:spPr>
          <a:xfrm>
            <a:off x="960120" y="5486400"/>
            <a:ext cx="260604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36363"/>
              </a:lnSpc>
              <a:spcBef>
                <a:spcPts val="0"/>
              </a:spcBef>
              <a:spcAft>
                <a:spcPts val="0"/>
              </a:spcAft>
              <a:buClr>
                <a:srgbClr val="00F5D4"/>
              </a:buClr>
              <a:buSzPts val="1100"/>
              <a:buFont typeface="Calibri"/>
              <a:buNone/>
            </a:pPr>
            <a:r>
              <a:rPr b="0" i="1" lang="en-US" sz="1100" u="none" cap="none" strike="noStrike">
                <a:solidFill>
                  <a:srgbClr val="00F5D4"/>
                </a:solidFill>
                <a:latin typeface="Calibri"/>
                <a:ea typeface="Calibri"/>
                <a:cs typeface="Calibri"/>
                <a:sym typeface="Calibri"/>
              </a:rPr>
              <a:t>“Construir en público”: cada avance del producto es también contenido y tracción orgánica.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9" name="Google Shape;319;p11"/>
          <p:cNvSpPr/>
          <p:nvPr/>
        </p:nvSpPr>
        <p:spPr>
          <a:xfrm>
            <a:off x="4206240" y="2148840"/>
            <a:ext cx="548640" cy="548640"/>
          </a:xfrm>
          <a:prstGeom prst="ellipse">
            <a:avLst/>
          </a:prstGeom>
          <a:solidFill>
            <a:srgbClr val="0D1B2A">
              <a:alpha val="90196"/>
            </a:srgbClr>
          </a:solidFill>
          <a:ln cap="flat" cmpd="sng" w="12700">
            <a:solidFill>
              <a:srgbClr val="1C304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biopulse_pitch/assets/icons/feather_teal.png" id="320" name="Google Shape;320;p1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48886" y="2291486"/>
            <a:ext cx="263347" cy="263347"/>
          </a:xfrm>
          <a:prstGeom prst="rect">
            <a:avLst/>
          </a:prstGeom>
          <a:noFill/>
          <a:ln>
            <a:noFill/>
          </a:ln>
        </p:spPr>
      </p:pic>
      <p:sp>
        <p:nvSpPr>
          <p:cNvPr id="321" name="Google Shape;321;p11"/>
          <p:cNvSpPr/>
          <p:nvPr/>
        </p:nvSpPr>
        <p:spPr>
          <a:xfrm>
            <a:off x="4919472" y="2130552"/>
            <a:ext cx="6629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3F7FA"/>
              </a:buClr>
              <a:buSzPts val="1450"/>
              <a:buFont typeface="Cambria"/>
              <a:buNone/>
            </a:pPr>
            <a:r>
              <a:rPr b="1" i="0" lang="en-US" sz="1450" u="none" cap="none" strike="noStrike">
                <a:solidFill>
                  <a:srgbClr val="F3F7FA"/>
                </a:solidFill>
                <a:latin typeface="Cambria"/>
                <a:ea typeface="Cambria"/>
                <a:cs typeface="Cambria"/>
                <a:sym typeface="Cambria"/>
              </a:rPr>
              <a:t>Origen real, no un mockup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2" name="Google Shape;322;p11"/>
          <p:cNvSpPr/>
          <p:nvPr/>
        </p:nvSpPr>
        <p:spPr>
          <a:xfrm>
            <a:off x="4919472" y="2514600"/>
            <a:ext cx="66294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30434"/>
              </a:lnSpc>
              <a:spcBef>
                <a:spcPts val="0"/>
              </a:spcBef>
              <a:spcAft>
                <a:spcPts val="0"/>
              </a:spcAft>
              <a:buClr>
                <a:srgbClr val="91A8BE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91A8BE"/>
                </a:solidFill>
                <a:latin typeface="Calibri"/>
                <a:ea typeface="Calibri"/>
                <a:cs typeface="Calibri"/>
                <a:sym typeface="Calibri"/>
              </a:rPr>
              <a:t>Nace como proyecto de ciencia de datos en la EIA, evolucionado a producto de software funcional.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3" name="Google Shape;323;p11"/>
          <p:cNvSpPr/>
          <p:nvPr/>
        </p:nvSpPr>
        <p:spPr>
          <a:xfrm>
            <a:off x="4206240" y="3118104"/>
            <a:ext cx="548640" cy="548640"/>
          </a:xfrm>
          <a:prstGeom prst="ellipse">
            <a:avLst/>
          </a:prstGeom>
          <a:solidFill>
            <a:srgbClr val="0D1B2A">
              <a:alpha val="90196"/>
            </a:srgbClr>
          </a:solidFill>
          <a:ln cap="flat" cmpd="sng" w="12700">
            <a:solidFill>
              <a:srgbClr val="1C304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biopulse_pitch/assets/icons/database_teal.png" id="324" name="Google Shape;324;p1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348886" y="3260750"/>
            <a:ext cx="263347" cy="263347"/>
          </a:xfrm>
          <a:prstGeom prst="rect">
            <a:avLst/>
          </a:prstGeom>
          <a:noFill/>
          <a:ln>
            <a:noFill/>
          </a:ln>
        </p:spPr>
      </p:pic>
      <p:sp>
        <p:nvSpPr>
          <p:cNvPr id="325" name="Google Shape;325;p11"/>
          <p:cNvSpPr/>
          <p:nvPr/>
        </p:nvSpPr>
        <p:spPr>
          <a:xfrm>
            <a:off x="4919472" y="3099816"/>
            <a:ext cx="6629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3F7FA"/>
              </a:buClr>
              <a:buSzPts val="1450"/>
              <a:buFont typeface="Cambria"/>
              <a:buNone/>
            </a:pPr>
            <a:r>
              <a:rPr b="1" i="0" lang="en-US" sz="1450" u="none" cap="none" strike="noStrike">
                <a:solidFill>
                  <a:srgbClr val="F3F7FA"/>
                </a:solidFill>
                <a:latin typeface="Cambria"/>
                <a:ea typeface="Cambria"/>
                <a:cs typeface="Cambria"/>
                <a:sym typeface="Cambria"/>
              </a:rPr>
              <a:t>Motor validado con datos reales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6" name="Google Shape;326;p11"/>
          <p:cNvSpPr/>
          <p:nvPr/>
        </p:nvSpPr>
        <p:spPr>
          <a:xfrm>
            <a:off x="4919472" y="3483864"/>
            <a:ext cx="66294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30434"/>
              </a:lnSpc>
              <a:spcBef>
                <a:spcPts val="0"/>
              </a:spcBef>
              <a:spcAft>
                <a:spcPts val="0"/>
              </a:spcAft>
              <a:buClr>
                <a:srgbClr val="91A8BE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91A8BE"/>
                </a:solidFill>
                <a:latin typeface="Calibri"/>
                <a:ea typeface="Calibri"/>
                <a:cs typeface="Calibri"/>
                <a:sym typeface="Calibri"/>
              </a:rPr>
              <a:t>Entrenado y validado sobre 100,000+ registros reales de Whoop — no datos sintéticos de marketing.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7" name="Google Shape;327;p11"/>
          <p:cNvSpPr/>
          <p:nvPr/>
        </p:nvSpPr>
        <p:spPr>
          <a:xfrm>
            <a:off x="4206240" y="4087368"/>
            <a:ext cx="548640" cy="548640"/>
          </a:xfrm>
          <a:prstGeom prst="ellipse">
            <a:avLst/>
          </a:prstGeom>
          <a:solidFill>
            <a:srgbClr val="0D1B2A">
              <a:alpha val="90196"/>
            </a:srgbClr>
          </a:solidFill>
          <a:ln cap="flat" cmpd="sng" w="12700">
            <a:solidFill>
              <a:srgbClr val="1C304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biopulse_pitch/assets/icons/code_teal.png" id="328" name="Google Shape;328;p11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348886" y="4230014"/>
            <a:ext cx="263347" cy="263347"/>
          </a:xfrm>
          <a:prstGeom prst="rect">
            <a:avLst/>
          </a:prstGeom>
          <a:noFill/>
          <a:ln>
            <a:noFill/>
          </a:ln>
        </p:spPr>
      </p:pic>
      <p:sp>
        <p:nvSpPr>
          <p:cNvPr id="329" name="Google Shape;329;p11"/>
          <p:cNvSpPr/>
          <p:nvPr/>
        </p:nvSpPr>
        <p:spPr>
          <a:xfrm>
            <a:off x="4919472" y="4069080"/>
            <a:ext cx="6629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3F7FA"/>
              </a:buClr>
              <a:buSzPts val="1450"/>
              <a:buFont typeface="Cambria"/>
              <a:buNone/>
            </a:pPr>
            <a:r>
              <a:rPr b="1" i="0" lang="en-US" sz="1450" u="none" cap="none" strike="noStrike">
                <a:solidFill>
                  <a:srgbClr val="F3F7FA"/>
                </a:solidFill>
                <a:latin typeface="Cambria"/>
                <a:ea typeface="Cambria"/>
                <a:cs typeface="Cambria"/>
                <a:sym typeface="Cambria"/>
              </a:rPr>
              <a:t>Producto en producción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0" name="Google Shape;330;p11"/>
          <p:cNvSpPr/>
          <p:nvPr/>
        </p:nvSpPr>
        <p:spPr>
          <a:xfrm>
            <a:off x="4919472" y="4453128"/>
            <a:ext cx="66294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30434"/>
              </a:lnSpc>
              <a:spcBef>
                <a:spcPts val="0"/>
              </a:spcBef>
              <a:spcAft>
                <a:spcPts val="0"/>
              </a:spcAft>
              <a:buClr>
                <a:srgbClr val="91A8BE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91A8BE"/>
                </a:solidFill>
                <a:latin typeface="Calibri"/>
                <a:ea typeface="Calibri"/>
                <a:cs typeface="Calibri"/>
                <a:sym typeface="Calibri"/>
              </a:rPr>
              <a:t>React 18 + Vite + Vercel: código real desplegado, no un pitch deck sin nada detrás.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1" name="Google Shape;331;p11"/>
          <p:cNvSpPr/>
          <p:nvPr/>
        </p:nvSpPr>
        <p:spPr>
          <a:xfrm>
            <a:off x="4206240" y="5056632"/>
            <a:ext cx="548640" cy="548640"/>
          </a:xfrm>
          <a:prstGeom prst="ellipse">
            <a:avLst/>
          </a:prstGeom>
          <a:solidFill>
            <a:srgbClr val="0D1B2A">
              <a:alpha val="90196"/>
            </a:srgbClr>
          </a:solidFill>
          <a:ln cap="flat" cmpd="sng" w="12700">
            <a:solidFill>
              <a:srgbClr val="1C304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biopulse_pitch/assets/icons/bookopen_teal.png" id="332" name="Google Shape;332;p11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4348886" y="5199278"/>
            <a:ext cx="263347" cy="263347"/>
          </a:xfrm>
          <a:prstGeom prst="rect">
            <a:avLst/>
          </a:prstGeom>
          <a:noFill/>
          <a:ln>
            <a:noFill/>
          </a:ln>
        </p:spPr>
      </p:pic>
      <p:sp>
        <p:nvSpPr>
          <p:cNvPr id="333" name="Google Shape;333;p11"/>
          <p:cNvSpPr/>
          <p:nvPr/>
        </p:nvSpPr>
        <p:spPr>
          <a:xfrm>
            <a:off x="4919472" y="5038344"/>
            <a:ext cx="6629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3F7FA"/>
              </a:buClr>
              <a:buSzPts val="1450"/>
              <a:buFont typeface="Cambria"/>
              <a:buNone/>
            </a:pPr>
            <a:r>
              <a:rPr b="1" i="0" lang="en-US" sz="1450" u="none" cap="none" strike="noStrike">
                <a:solidFill>
                  <a:srgbClr val="F3F7FA"/>
                </a:solidFill>
                <a:latin typeface="Cambria"/>
                <a:ea typeface="Cambria"/>
                <a:cs typeface="Cambria"/>
                <a:sym typeface="Cambria"/>
              </a:rPr>
              <a:t>Growth ya documentado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4" name="Google Shape;334;p11"/>
          <p:cNvSpPr/>
          <p:nvPr/>
        </p:nvSpPr>
        <p:spPr>
          <a:xfrm>
            <a:off x="4919472" y="5422392"/>
            <a:ext cx="66294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30434"/>
              </a:lnSpc>
              <a:spcBef>
                <a:spcPts val="0"/>
              </a:spcBef>
              <a:spcAft>
                <a:spcPts val="0"/>
              </a:spcAft>
              <a:buClr>
                <a:srgbClr val="91A8BE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91A8BE"/>
                </a:solidFill>
                <a:latin typeface="Calibri"/>
                <a:ea typeface="Calibri"/>
                <a:cs typeface="Calibri"/>
                <a:sym typeface="Calibri"/>
              </a:rPr>
              <a:t>Plan de marketing orgánico $0 (TikTok + Reels + SEO), con KPIs y calendario de 90 días listo para ejecutar.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5" name="Google Shape;335;p11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6728C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6728C"/>
                </a:solidFill>
                <a:latin typeface="Calibri"/>
                <a:ea typeface="Calibri"/>
                <a:cs typeface="Calibri"/>
                <a:sym typeface="Calibri"/>
              </a:rPr>
              <a:t>Por qué nosotros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6" name="Google Shape;336;p11"/>
          <p:cNvSpPr/>
          <p:nvPr/>
        </p:nvSpPr>
        <p:spPr>
          <a:xfrm>
            <a:off x="8991295" y="6473952"/>
            <a:ext cx="2743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6728C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6728C"/>
                </a:solidFill>
                <a:latin typeface="Calibri"/>
                <a:ea typeface="Calibri"/>
                <a:cs typeface="Calibri"/>
                <a:sym typeface="Calibri"/>
              </a:rPr>
              <a:t>BIOPULSE · 11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claude/biopulse_pitch/assets/icons/activity_teal.png" id="337" name="Google Shape;337;p11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93900" y="157748"/>
            <a:ext cx="237744" cy="237744"/>
          </a:xfrm>
          <a:prstGeom prst="rect">
            <a:avLst/>
          </a:prstGeom>
          <a:noFill/>
          <a:ln>
            <a:noFill/>
          </a:ln>
        </p:spPr>
      </p:pic>
      <p:sp>
        <p:nvSpPr>
          <p:cNvPr id="338" name="Google Shape;338;p11"/>
          <p:cNvSpPr/>
          <p:nvPr/>
        </p:nvSpPr>
        <p:spPr>
          <a:xfrm>
            <a:off x="386508" y="121172"/>
            <a:ext cx="2743200" cy="31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3F7FA"/>
              </a:buClr>
              <a:buSzPts val="1500"/>
              <a:buFont typeface="Cambria"/>
              <a:buNone/>
            </a:pPr>
            <a:r>
              <a:rPr b="1" i="0" lang="en-US" sz="1500" u="none" cap="none" strike="noStrike">
                <a:solidFill>
                  <a:srgbClr val="F3F7FA"/>
                </a:solidFill>
                <a:latin typeface="Cambria"/>
                <a:ea typeface="Cambria"/>
                <a:cs typeface="Cambria"/>
                <a:sym typeface="Cambria"/>
              </a:rPr>
              <a:t>BIOPULSE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3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home/claude/biopulse_pitch/assets/bg_hero.png" id="344" name="Google Shape;344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1695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45" name="Google Shape;345;p12"/>
          <p:cNvSpPr/>
          <p:nvPr/>
        </p:nvSpPr>
        <p:spPr>
          <a:xfrm>
            <a:off x="640080" y="1234440"/>
            <a:ext cx="5486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F5D4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00F5D4"/>
                </a:solidFill>
                <a:latin typeface="Calibri"/>
                <a:ea typeface="Calibri"/>
                <a:cs typeface="Calibri"/>
                <a:sym typeface="Calibri"/>
              </a:rPr>
              <a:t>LA INVERSIÓN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6" name="Google Shape;346;p12"/>
          <p:cNvSpPr/>
          <p:nvPr/>
        </p:nvSpPr>
        <p:spPr>
          <a:xfrm>
            <a:off x="640080" y="1572768"/>
            <a:ext cx="10881360" cy="160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1764"/>
              </a:lnSpc>
              <a:spcBef>
                <a:spcPts val="0"/>
              </a:spcBef>
              <a:spcAft>
                <a:spcPts val="0"/>
              </a:spcAft>
              <a:buClr>
                <a:srgbClr val="F3F7FA"/>
              </a:buClr>
              <a:buSzPts val="3400"/>
              <a:buFont typeface="Cambria"/>
              <a:buNone/>
            </a:pPr>
            <a:r>
              <a:rPr b="1" i="0" lang="en-US" sz="3400" u="none" cap="none" strike="noStrike">
                <a:solidFill>
                  <a:srgbClr val="F3F7FA"/>
                </a:solidFill>
                <a:latin typeface="Cambria"/>
                <a:ea typeface="Cambria"/>
                <a:cs typeface="Cambria"/>
                <a:sym typeface="Cambria"/>
              </a:rPr>
              <a:t>Construyamos el laboratorio de</a:t>
            </a:r>
            <a:endParaRPr b="0" i="0" sz="3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1764"/>
              </a:lnSpc>
              <a:spcBef>
                <a:spcPts val="0"/>
              </a:spcBef>
              <a:spcAft>
                <a:spcPts val="0"/>
              </a:spcAft>
              <a:buClr>
                <a:srgbClr val="F3F7FA"/>
              </a:buClr>
              <a:buSzPts val="3400"/>
              <a:buFont typeface="Cambria"/>
              <a:buNone/>
            </a:pPr>
            <a:r>
              <a:rPr b="1" i="0" lang="en-US" sz="3400" u="none" cap="none" strike="noStrike">
                <a:solidFill>
                  <a:srgbClr val="F3F7FA"/>
                </a:solidFill>
                <a:latin typeface="Cambria"/>
                <a:ea typeface="Cambria"/>
                <a:cs typeface="Cambria"/>
                <a:sym typeface="Cambria"/>
              </a:rPr>
              <a:t>recuperación que </a:t>
            </a:r>
            <a:r>
              <a:rPr b="1" lang="en-US" sz="3400">
                <a:solidFill>
                  <a:srgbClr val="F3F7FA"/>
                </a:solidFill>
                <a:latin typeface="Cambria"/>
                <a:ea typeface="Cambria"/>
                <a:cs typeface="Cambria"/>
                <a:sym typeface="Cambria"/>
              </a:rPr>
              <a:t>Latinoamérica</a:t>
            </a:r>
            <a:r>
              <a:rPr b="1" i="0" lang="en-US" sz="3400" u="none" cap="none" strike="noStrike">
                <a:solidFill>
                  <a:srgbClr val="F3F7FA"/>
                </a:solidFill>
                <a:latin typeface="Cambria"/>
                <a:ea typeface="Cambria"/>
                <a:cs typeface="Cambria"/>
                <a:sym typeface="Cambria"/>
              </a:rPr>
              <a:t> merece.</a:t>
            </a:r>
            <a:endParaRPr b="0" i="0" sz="3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7" name="Google Shape;347;p12"/>
          <p:cNvSpPr/>
          <p:nvPr/>
        </p:nvSpPr>
        <p:spPr>
          <a:xfrm>
            <a:off x="640080" y="3063240"/>
            <a:ext cx="7315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1A8BE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91A8BE"/>
                </a:solidFill>
                <a:latin typeface="Calibri"/>
                <a:ea typeface="Calibri"/>
                <a:cs typeface="Calibri"/>
                <a:sym typeface="Calibri"/>
              </a:rPr>
              <a:t>Buscamos socios para nuestra ronda pre-seed y acelerar tres frentes: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8" name="Google Shape;348;p12"/>
          <p:cNvSpPr/>
          <p:nvPr/>
        </p:nvSpPr>
        <p:spPr>
          <a:xfrm>
            <a:off x="640080" y="3611880"/>
            <a:ext cx="3429000" cy="1783080"/>
          </a:xfrm>
          <a:prstGeom prst="roundRect">
            <a:avLst>
              <a:gd fmla="val 6154" name="adj"/>
            </a:avLst>
          </a:prstGeom>
          <a:solidFill>
            <a:srgbClr val="0D1B2A">
              <a:alpha val="81961"/>
            </a:srgbClr>
          </a:solidFill>
          <a:ln cap="flat" cmpd="sng" w="12700">
            <a:solidFill>
              <a:srgbClr val="1C304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38100">
              <a:srgbClr val="000000">
                <a:alpha val="3490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9" name="Google Shape;349;p12"/>
          <p:cNvSpPr/>
          <p:nvPr/>
        </p:nvSpPr>
        <p:spPr>
          <a:xfrm>
            <a:off x="914400" y="3886200"/>
            <a:ext cx="502920" cy="502920"/>
          </a:xfrm>
          <a:prstGeom prst="ellipse">
            <a:avLst/>
          </a:prstGeom>
          <a:solidFill>
            <a:srgbClr val="0D1B2A">
              <a:alpha val="90196"/>
            </a:srgbClr>
          </a:solidFill>
          <a:ln cap="flat" cmpd="sng" w="12700">
            <a:solidFill>
              <a:srgbClr val="1C304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biopulse_pitch/assets/icons/layers_teal.png" id="350" name="Google Shape;350;p1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45159" y="4016959"/>
            <a:ext cx="241402" cy="241402"/>
          </a:xfrm>
          <a:prstGeom prst="rect">
            <a:avLst/>
          </a:prstGeom>
          <a:noFill/>
          <a:ln>
            <a:noFill/>
          </a:ln>
        </p:spPr>
      </p:pic>
      <p:sp>
        <p:nvSpPr>
          <p:cNvPr id="351" name="Google Shape;351;p12"/>
          <p:cNvSpPr/>
          <p:nvPr/>
        </p:nvSpPr>
        <p:spPr>
          <a:xfrm>
            <a:off x="914400" y="4507992"/>
            <a:ext cx="28803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3F7FA"/>
              </a:buClr>
              <a:buSzPts val="1350"/>
              <a:buFont typeface="Cambria"/>
              <a:buNone/>
            </a:pPr>
            <a:r>
              <a:rPr b="1" i="0" lang="en-US" sz="1350" u="none" cap="none" strike="noStrike">
                <a:solidFill>
                  <a:srgbClr val="F3F7FA"/>
                </a:solidFill>
                <a:latin typeface="Cambria"/>
                <a:ea typeface="Cambria"/>
                <a:cs typeface="Cambria"/>
                <a:sym typeface="Cambria"/>
              </a:rPr>
              <a:t>Backend multiusuario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2" name="Google Shape;352;p12"/>
          <p:cNvSpPr/>
          <p:nvPr/>
        </p:nvSpPr>
        <p:spPr>
          <a:xfrm>
            <a:off x="914400" y="4855464"/>
            <a:ext cx="288036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7450"/>
              </a:lnSpc>
              <a:spcBef>
                <a:spcPts val="0"/>
              </a:spcBef>
              <a:spcAft>
                <a:spcPts val="0"/>
              </a:spcAft>
              <a:buClr>
                <a:srgbClr val="91A8BE"/>
              </a:buClr>
              <a:buSzPts val="1020"/>
              <a:buFont typeface="Calibri"/>
              <a:buNone/>
            </a:pPr>
            <a:r>
              <a:rPr b="0" i="0" lang="en-US" sz="1020" u="none" cap="none" strike="noStrike">
                <a:solidFill>
                  <a:srgbClr val="91A8BE"/>
                </a:solidFill>
                <a:latin typeface="Calibri"/>
                <a:ea typeface="Calibri"/>
                <a:cs typeface="Calibri"/>
                <a:sym typeface="Calibri"/>
              </a:rPr>
              <a:t>Persistencia real en Supabase para escalar de demo a producto multiusuario.</a:t>
            </a:r>
            <a:endParaRPr b="0" i="0" sz="10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3" name="Google Shape;353;p12"/>
          <p:cNvSpPr/>
          <p:nvPr/>
        </p:nvSpPr>
        <p:spPr>
          <a:xfrm>
            <a:off x="4343400" y="3611880"/>
            <a:ext cx="3429000" cy="1783080"/>
          </a:xfrm>
          <a:prstGeom prst="roundRect">
            <a:avLst>
              <a:gd fmla="val 6154" name="adj"/>
            </a:avLst>
          </a:prstGeom>
          <a:solidFill>
            <a:srgbClr val="0D1B2A">
              <a:alpha val="81961"/>
            </a:srgbClr>
          </a:solidFill>
          <a:ln cap="flat" cmpd="sng" w="12700">
            <a:solidFill>
              <a:srgbClr val="1C304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38100">
              <a:srgbClr val="000000">
                <a:alpha val="3490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4" name="Google Shape;354;p12"/>
          <p:cNvSpPr/>
          <p:nvPr/>
        </p:nvSpPr>
        <p:spPr>
          <a:xfrm>
            <a:off x="4617720" y="3886200"/>
            <a:ext cx="502920" cy="502920"/>
          </a:xfrm>
          <a:prstGeom prst="ellipse">
            <a:avLst/>
          </a:prstGeom>
          <a:solidFill>
            <a:srgbClr val="0D1B2A">
              <a:alpha val="90196"/>
            </a:srgbClr>
          </a:solidFill>
          <a:ln cap="flat" cmpd="sng" w="12700">
            <a:solidFill>
              <a:srgbClr val="1C304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biopulse_pitch/assets/icons/watch_teal.png" id="355" name="Google Shape;355;p1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748479" y="4016959"/>
            <a:ext cx="241402" cy="241402"/>
          </a:xfrm>
          <a:prstGeom prst="rect">
            <a:avLst/>
          </a:prstGeom>
          <a:noFill/>
          <a:ln>
            <a:noFill/>
          </a:ln>
        </p:spPr>
      </p:pic>
      <p:sp>
        <p:nvSpPr>
          <p:cNvPr id="356" name="Google Shape;356;p12"/>
          <p:cNvSpPr/>
          <p:nvPr/>
        </p:nvSpPr>
        <p:spPr>
          <a:xfrm>
            <a:off x="4617720" y="4507992"/>
            <a:ext cx="28803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3F7FA"/>
              </a:buClr>
              <a:buSzPts val="1350"/>
              <a:buFont typeface="Cambria"/>
              <a:buNone/>
            </a:pPr>
            <a:r>
              <a:rPr b="1" i="0" lang="en-US" sz="1350" u="none" cap="none" strike="noStrike">
                <a:solidFill>
                  <a:srgbClr val="F3F7FA"/>
                </a:solidFill>
                <a:latin typeface="Cambria"/>
                <a:ea typeface="Cambria"/>
                <a:cs typeface="Cambria"/>
                <a:sym typeface="Cambria"/>
              </a:rPr>
              <a:t>Wearables reales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7" name="Google Shape;357;p12"/>
          <p:cNvSpPr/>
          <p:nvPr/>
        </p:nvSpPr>
        <p:spPr>
          <a:xfrm>
            <a:off x="4617720" y="4855464"/>
            <a:ext cx="288036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7450"/>
              </a:lnSpc>
              <a:spcBef>
                <a:spcPts val="0"/>
              </a:spcBef>
              <a:spcAft>
                <a:spcPts val="0"/>
              </a:spcAft>
              <a:buClr>
                <a:srgbClr val="91A8BE"/>
              </a:buClr>
              <a:buSzPts val="1020"/>
              <a:buFont typeface="Calibri"/>
              <a:buNone/>
            </a:pPr>
            <a:r>
              <a:rPr b="0" i="0" lang="en-US" sz="1020" u="none" cap="none" strike="noStrike">
                <a:solidFill>
                  <a:srgbClr val="91A8BE"/>
                </a:solidFill>
                <a:latin typeface="Calibri"/>
                <a:ea typeface="Calibri"/>
                <a:cs typeface="Calibri"/>
                <a:sym typeface="Calibri"/>
              </a:rPr>
              <a:t>Integración OAuth con Whoop, Fitbit y Garmin para datos en vivo, no solo CSV.</a:t>
            </a:r>
            <a:endParaRPr b="0" i="0" sz="10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8" name="Google Shape;358;p12"/>
          <p:cNvSpPr/>
          <p:nvPr/>
        </p:nvSpPr>
        <p:spPr>
          <a:xfrm>
            <a:off x="8046720" y="3611880"/>
            <a:ext cx="3429000" cy="1783080"/>
          </a:xfrm>
          <a:prstGeom prst="roundRect">
            <a:avLst>
              <a:gd fmla="val 6154" name="adj"/>
            </a:avLst>
          </a:prstGeom>
          <a:solidFill>
            <a:srgbClr val="0D1B2A">
              <a:alpha val="81961"/>
            </a:srgbClr>
          </a:solidFill>
          <a:ln cap="flat" cmpd="sng" w="12700">
            <a:solidFill>
              <a:srgbClr val="1C304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38100">
              <a:srgbClr val="000000">
                <a:alpha val="3490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9" name="Google Shape;359;p12"/>
          <p:cNvSpPr/>
          <p:nvPr/>
        </p:nvSpPr>
        <p:spPr>
          <a:xfrm>
            <a:off x="8321040" y="3886200"/>
            <a:ext cx="502920" cy="502920"/>
          </a:xfrm>
          <a:prstGeom prst="ellipse">
            <a:avLst/>
          </a:prstGeom>
          <a:solidFill>
            <a:srgbClr val="0D1B2A">
              <a:alpha val="90196"/>
            </a:srgbClr>
          </a:solidFill>
          <a:ln cap="flat" cmpd="sng" w="12700">
            <a:solidFill>
              <a:srgbClr val="1C304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biopulse_pitch/assets/icons/globe_teal.png" id="360" name="Google Shape;360;p1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451799" y="4016959"/>
            <a:ext cx="241402" cy="241402"/>
          </a:xfrm>
          <a:prstGeom prst="rect">
            <a:avLst/>
          </a:prstGeom>
          <a:noFill/>
          <a:ln>
            <a:noFill/>
          </a:ln>
        </p:spPr>
      </p:pic>
      <p:sp>
        <p:nvSpPr>
          <p:cNvPr id="361" name="Google Shape;361;p12"/>
          <p:cNvSpPr/>
          <p:nvPr/>
        </p:nvSpPr>
        <p:spPr>
          <a:xfrm>
            <a:off x="8321040" y="4507992"/>
            <a:ext cx="28803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3F7FA"/>
              </a:buClr>
              <a:buSzPts val="1350"/>
              <a:buFont typeface="Cambria"/>
              <a:buNone/>
            </a:pPr>
            <a:r>
              <a:rPr b="1" i="0" lang="en-US" sz="1350" u="none" cap="none" strike="noStrike">
                <a:solidFill>
                  <a:srgbClr val="F3F7FA"/>
                </a:solidFill>
                <a:latin typeface="Cambria"/>
                <a:ea typeface="Cambria"/>
                <a:cs typeface="Cambria"/>
                <a:sym typeface="Cambria"/>
              </a:rPr>
              <a:t>Crecimiento </a:t>
            </a:r>
            <a:r>
              <a:rPr b="1" lang="en-US" sz="1350">
                <a:solidFill>
                  <a:srgbClr val="F3F7FA"/>
                </a:solidFill>
                <a:latin typeface="Cambria"/>
                <a:ea typeface="Cambria"/>
                <a:cs typeface="Cambria"/>
                <a:sym typeface="Cambria"/>
              </a:rPr>
              <a:t>latam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2" name="Google Shape;362;p12"/>
          <p:cNvSpPr/>
          <p:nvPr/>
        </p:nvSpPr>
        <p:spPr>
          <a:xfrm>
            <a:off x="8321040" y="4855464"/>
            <a:ext cx="288036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7450"/>
              </a:lnSpc>
              <a:spcBef>
                <a:spcPts val="0"/>
              </a:spcBef>
              <a:spcAft>
                <a:spcPts val="0"/>
              </a:spcAft>
              <a:buClr>
                <a:srgbClr val="91A8BE"/>
              </a:buClr>
              <a:buSzPts val="1020"/>
              <a:buFont typeface="Calibri"/>
              <a:buNone/>
            </a:pPr>
            <a:r>
              <a:rPr b="0" i="0" lang="en-US" sz="1020" u="none" cap="none" strike="noStrike">
                <a:solidFill>
                  <a:srgbClr val="91A8BE"/>
                </a:solidFill>
                <a:latin typeface="Calibri"/>
                <a:ea typeface="Calibri"/>
                <a:cs typeface="Calibri"/>
                <a:sym typeface="Calibri"/>
              </a:rPr>
              <a:t>Escalar el motor de contenido y adquisición orgánica ya validado en el roadmap.</a:t>
            </a:r>
            <a:endParaRPr b="0" i="0" sz="10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3" name="Google Shape;363;p12"/>
          <p:cNvSpPr/>
          <p:nvPr/>
        </p:nvSpPr>
        <p:spPr>
          <a:xfrm>
            <a:off x="640080" y="5806440"/>
            <a:ext cx="2834640" cy="566928"/>
          </a:xfrm>
          <a:prstGeom prst="roundRect">
            <a:avLst>
              <a:gd fmla="val 50000" name="adj"/>
            </a:avLst>
          </a:prstGeom>
          <a:solidFill>
            <a:srgbClr val="00F5D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4" name="Google Shape;364;p12"/>
          <p:cNvSpPr/>
          <p:nvPr/>
        </p:nvSpPr>
        <p:spPr>
          <a:xfrm>
            <a:off x="640080" y="5806440"/>
            <a:ext cx="283464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50A10"/>
              </a:buClr>
              <a:buSzPts val="1400"/>
              <a:buFont typeface="Cambria"/>
              <a:buNone/>
            </a:pPr>
            <a:r>
              <a:rPr b="1" i="0" lang="en-US" sz="1400" u="none" cap="none" strike="noStrike">
                <a:solidFill>
                  <a:srgbClr val="050A10"/>
                </a:solidFill>
                <a:latin typeface="Cambria"/>
                <a:ea typeface="Cambria"/>
                <a:cs typeface="Cambria"/>
                <a:sym typeface="Cambria"/>
              </a:rPr>
              <a:t>Hablemos →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5" name="Google Shape;365;p12"/>
          <p:cNvSpPr/>
          <p:nvPr/>
        </p:nvSpPr>
        <p:spPr>
          <a:xfrm>
            <a:off x="3749040" y="5806440"/>
            <a:ext cx="365760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1A8BE"/>
              </a:buClr>
              <a:buSzPts val="1300"/>
              <a:buFont typeface="Courier New"/>
              <a:buNone/>
            </a:pPr>
            <a:r>
              <a:rPr b="0" i="0" lang="en-US" sz="1300" u="none" cap="none" strike="noStrike">
                <a:solidFill>
                  <a:srgbClr val="91A8BE"/>
                </a:solidFill>
                <a:latin typeface="Courier New"/>
                <a:ea typeface="Courier New"/>
                <a:cs typeface="Courier New"/>
                <a:sym typeface="Courier New"/>
              </a:rPr>
              <a:t>bio-pulse-six.vercel.app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6" name="Google Shape;366;p12"/>
          <p:cNvSpPr/>
          <p:nvPr/>
        </p:nvSpPr>
        <p:spPr>
          <a:xfrm>
            <a:off x="8351215" y="5897880"/>
            <a:ext cx="3200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6728C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6728C"/>
                </a:solidFill>
                <a:latin typeface="Calibri"/>
                <a:ea typeface="Calibri"/>
                <a:cs typeface="Calibri"/>
                <a:sym typeface="Calibri"/>
              </a:rPr>
              <a:t>CONFIDENCIAL · BIOPULSE 2026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claude/biopulse_pitch/assets/icons/activity_teal.png" id="367" name="Google Shape;367;p12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93900" y="157748"/>
            <a:ext cx="237744" cy="237744"/>
          </a:xfrm>
          <a:prstGeom prst="rect">
            <a:avLst/>
          </a:prstGeom>
          <a:noFill/>
          <a:ln>
            <a:noFill/>
          </a:ln>
        </p:spPr>
      </p:pic>
      <p:sp>
        <p:nvSpPr>
          <p:cNvPr id="368" name="Google Shape;368;p12"/>
          <p:cNvSpPr/>
          <p:nvPr/>
        </p:nvSpPr>
        <p:spPr>
          <a:xfrm>
            <a:off x="386508" y="121172"/>
            <a:ext cx="2743200" cy="31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3F7FA"/>
              </a:buClr>
              <a:buSzPts val="1500"/>
              <a:buFont typeface="Cambria"/>
              <a:buNone/>
            </a:pPr>
            <a:r>
              <a:rPr b="1" i="0" lang="en-US" sz="1500" u="none" cap="none" strike="noStrike">
                <a:solidFill>
                  <a:srgbClr val="F3F7FA"/>
                </a:solidFill>
                <a:latin typeface="Cambria"/>
                <a:ea typeface="Cambria"/>
                <a:cs typeface="Cambria"/>
                <a:sym typeface="Cambria"/>
              </a:rPr>
              <a:t>BIOPULSE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2026-08-04T00:26:15Z</dcterms:created>
  <dc:creator>PptxGenJS</dc:creator>
</cp:coreProperties>
</file>