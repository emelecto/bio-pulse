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548640" y="548640"/>
            <a:ext cx="640080" cy="640080"/>
          </a:xfrm>
          <a:prstGeom prst="ellipse">
            <a:avLst/>
          </a:prstGeom>
          <a:solidFill>
            <a:srgbClr val="4FD8C4"/>
          </a:solidFill>
          <a:ln/>
        </p:spPr>
      </p:sp>
      <p:sp>
        <p:nvSpPr>
          <p:cNvPr id="3" name="Text 1"/>
          <p:cNvSpPr/>
          <p:nvPr/>
        </p:nvSpPr>
        <p:spPr>
          <a:xfrm>
            <a:off x="548640" y="548640"/>
            <a:ext cx="640080" cy="640080"/>
          </a:xfrm>
          <a:prstGeom prst="rect">
            <a:avLst/>
          </a:prstGeom>
          <a:noFill/>
          <a:ln/>
        </p:spPr>
        <p:txBody>
          <a:bodyPr wrap="square" lIns="0" tIns="0" rIns="0" bIns="0" rtlCol="0" anchor="ctr"/>
          <a:lstStyle/>
          <a:p>
            <a:pPr algn="ctr" indent="0" marL="0">
              <a:buNone/>
            </a:pPr>
            <a:r>
              <a:rPr lang="en-US" sz="3000" b="1" dirty="0">
                <a:solidFill>
                  <a:srgbClr val="0A1420"/>
                </a:solidFill>
                <a:latin typeface="Cambria" pitchFamily="34" charset="0"/>
                <a:ea typeface="Cambria" pitchFamily="34" charset="-122"/>
                <a:cs typeface="Cambria" pitchFamily="34" charset="-120"/>
              </a:rPr>
              <a:t>B</a:t>
            </a:r>
            <a:endParaRPr lang="en-US" sz="3000" dirty="0"/>
          </a:p>
        </p:txBody>
      </p:sp>
      <p:sp>
        <p:nvSpPr>
          <p:cNvPr id="4" name="Text 2"/>
          <p:cNvSpPr/>
          <p:nvPr/>
        </p:nvSpPr>
        <p:spPr>
          <a:xfrm>
            <a:off x="1325880" y="548640"/>
            <a:ext cx="4572000" cy="640080"/>
          </a:xfrm>
          <a:prstGeom prst="rect">
            <a:avLst/>
          </a:prstGeom>
          <a:noFill/>
          <a:ln/>
        </p:spPr>
        <p:txBody>
          <a:bodyPr wrap="square" lIns="0" tIns="0" rIns="0" bIns="0" rtlCol="0" anchor="ctr"/>
          <a:lstStyle/>
          <a:p>
            <a:pPr algn="l" indent="0" marL="0">
              <a:buNone/>
            </a:pPr>
            <a:r>
              <a:rPr lang="en-US" sz="2600" b="1" dirty="0">
                <a:solidFill>
                  <a:srgbClr val="EAF2F5"/>
                </a:solidFill>
                <a:latin typeface="Cambria" pitchFamily="34" charset="0"/>
                <a:ea typeface="Cambria" pitchFamily="34" charset="-122"/>
                <a:cs typeface="Cambria" pitchFamily="34" charset="-120"/>
              </a:rPr>
              <a:t>BioPulse</a:t>
            </a:r>
            <a:endParaRPr lang="en-US" sz="2600" dirty="0"/>
          </a:p>
        </p:txBody>
      </p:sp>
      <p:sp>
        <p:nvSpPr>
          <p:cNvPr id="5" name="Text 3"/>
          <p:cNvSpPr/>
          <p:nvPr/>
        </p:nvSpPr>
        <p:spPr>
          <a:xfrm>
            <a:off x="548640" y="2286000"/>
            <a:ext cx="10058400" cy="1645920"/>
          </a:xfrm>
          <a:prstGeom prst="rect">
            <a:avLst/>
          </a:prstGeom>
          <a:noFill/>
          <a:ln/>
        </p:spPr>
        <p:txBody>
          <a:bodyPr wrap="square" lIns="0" tIns="0" rIns="0" bIns="0" rtlCol="0" anchor="ctr"/>
          <a:lstStyle/>
          <a:p>
            <a:pPr algn="l" indent="0" marL="0">
              <a:lnSpc>
                <a:spcPct val="105000"/>
              </a:lnSpc>
              <a:buNone/>
            </a:pPr>
            <a:r>
              <a:rPr lang="en-US" sz="4400" b="1" dirty="0">
                <a:solidFill>
                  <a:srgbClr val="EAF2F5"/>
                </a:solidFill>
                <a:latin typeface="Cambria" pitchFamily="34" charset="0"/>
                <a:ea typeface="Cambria" pitchFamily="34" charset="-122"/>
                <a:cs typeface="Cambria" pitchFamily="34" charset="-120"/>
              </a:rPr>
              <a:t>De los datos del wearable a una</a:t>
            </a:r>
            <a:endParaRPr lang="en-US" sz="4400" dirty="0"/>
          </a:p>
          <a:p>
            <a:pPr algn="l" indent="0" marL="0">
              <a:lnSpc>
                <a:spcPct val="105000"/>
              </a:lnSpc>
              <a:buNone/>
            </a:pPr>
            <a:r>
              <a:rPr lang="en-US" sz="4400" b="1" dirty="0">
                <a:solidFill>
                  <a:srgbClr val="EAF2F5"/>
                </a:solidFill>
                <a:latin typeface="Cambria" pitchFamily="34" charset="0"/>
                <a:ea typeface="Cambria" pitchFamily="34" charset="-122"/>
                <a:cs typeface="Cambria" pitchFamily="34" charset="-120"/>
              </a:rPr>
              <a:t>alerta temprana de riesgo de salud</a:t>
            </a:r>
            <a:endParaRPr lang="en-US" sz="4400" dirty="0"/>
          </a:p>
        </p:txBody>
      </p:sp>
      <p:sp>
        <p:nvSpPr>
          <p:cNvPr id="6" name="Text 4"/>
          <p:cNvSpPr/>
          <p:nvPr/>
        </p:nvSpPr>
        <p:spPr>
          <a:xfrm>
            <a:off x="548640" y="4023360"/>
            <a:ext cx="10058400" cy="914400"/>
          </a:xfrm>
          <a:prstGeom prst="rect">
            <a:avLst/>
          </a:prstGeom>
          <a:noFill/>
          <a:ln/>
        </p:spPr>
        <p:txBody>
          <a:bodyPr wrap="square" lIns="0" tIns="0" rIns="0" bIns="0" rtlCol="0" anchor="ctr"/>
          <a:lstStyle/>
          <a:p>
            <a:pPr algn="l" indent="0" marL="0">
              <a:lnSpc>
                <a:spcPct val="115000"/>
              </a:lnSpc>
              <a:buNone/>
            </a:pPr>
            <a:r>
              <a:rPr lang="en-US" sz="1600" dirty="0">
                <a:solidFill>
                  <a:srgbClr val="8AA0B2"/>
                </a:solidFill>
                <a:latin typeface="Calibri" pitchFamily="34" charset="0"/>
                <a:ea typeface="Calibri" pitchFamily="34" charset="-122"/>
                <a:cs typeface="Calibri" pitchFamily="34" charset="-120"/>
              </a:rPr>
              <a:t>Plataforma de analitica biometrica predictiva para la prevencion de caidas,</a:t>
            </a:r>
            <a:endParaRPr lang="en-US" sz="1600" dirty="0"/>
          </a:p>
          <a:p>
            <a:pPr algn="l" indent="0" marL="0">
              <a:lnSpc>
                <a:spcPct val="115000"/>
              </a:lnSpc>
              <a:buNone/>
            </a:pPr>
            <a:r>
              <a:rPr lang="en-US" sz="1600" dirty="0">
                <a:solidFill>
                  <a:srgbClr val="8AA0B2"/>
                </a:solidFill>
                <a:latin typeface="Calibri" pitchFamily="34" charset="0"/>
                <a:ea typeface="Calibri" pitchFamily="34" charset="-122"/>
                <a:cs typeface="Calibri" pitchFamily="34" charset="-120"/>
              </a:rPr>
              <a:t>fatiga del sistema nervioso y procesos infecciosos en adultos mayores.</a:t>
            </a:r>
            <a:endParaRPr lang="en-US" sz="1600" dirty="0"/>
          </a:p>
        </p:txBody>
      </p:sp>
      <p:sp>
        <p:nvSpPr>
          <p:cNvPr id="7" name="Shape 5"/>
          <p:cNvSpPr/>
          <p:nvPr/>
        </p:nvSpPr>
        <p:spPr>
          <a:xfrm>
            <a:off x="548640" y="5212080"/>
            <a:ext cx="4206240" cy="502920"/>
          </a:xfrm>
          <a:prstGeom prst="roundRect">
            <a:avLst>
              <a:gd name="adj" fmla="val 49091"/>
            </a:avLst>
          </a:prstGeom>
          <a:solidFill>
            <a:srgbClr val="101F30"/>
          </a:solidFill>
          <a:ln w="12700">
            <a:solidFill>
              <a:srgbClr val="4FD8C4"/>
            </a:solidFill>
            <a:prstDash val="solid"/>
          </a:ln>
        </p:spPr>
      </p:sp>
      <p:sp>
        <p:nvSpPr>
          <p:cNvPr id="8" name="Text 6"/>
          <p:cNvSpPr/>
          <p:nvPr/>
        </p:nvSpPr>
        <p:spPr>
          <a:xfrm>
            <a:off x="548640" y="5212080"/>
            <a:ext cx="4206240" cy="502920"/>
          </a:xfrm>
          <a:prstGeom prst="rect">
            <a:avLst/>
          </a:prstGeom>
          <a:noFill/>
          <a:ln/>
        </p:spPr>
        <p:txBody>
          <a:bodyPr wrap="square" lIns="0" tIns="0" rIns="0" bIns="0" rtlCol="0" anchor="ctr"/>
          <a:lstStyle/>
          <a:p>
            <a:pPr algn="ctr" indent="0" marL="0">
              <a:buNone/>
            </a:pPr>
            <a:r>
              <a:rPr lang="en-US" sz="1100" b="1" spc="100" kern="0" dirty="0">
                <a:solidFill>
                  <a:srgbClr val="4FD8C4"/>
                </a:solidFill>
                <a:latin typeface="Calibri" pitchFamily="34" charset="0"/>
                <a:ea typeface="Calibri" pitchFamily="34" charset="-122"/>
                <a:cs typeface="Calibri" pitchFamily="34" charset="-120"/>
              </a:rPr>
              <a:t>PITCH DECK  ·  SERIE SEMILLA  ·  MVP EN VIVO</a:t>
            </a:r>
            <a:endParaRPr lang="en-US" sz="1100" dirty="0"/>
          </a:p>
        </p:txBody>
      </p:sp>
      <p:sp>
        <p:nvSpPr>
          <p:cNvPr id="9" name="Text 7"/>
          <p:cNvSpPr/>
          <p:nvPr/>
        </p:nvSpPr>
        <p:spPr>
          <a:xfrm>
            <a:off x="548640" y="5943600"/>
            <a:ext cx="10058400" cy="365760"/>
          </a:xfrm>
          <a:prstGeom prst="rect">
            <a:avLst/>
          </a:prstGeom>
          <a:noFill/>
          <a:ln/>
        </p:spPr>
        <p:txBody>
          <a:bodyPr wrap="square" lIns="0" tIns="0" rIns="0" bIns="0" rtlCol="0" anchor="ctr"/>
          <a:lstStyle/>
          <a:p>
            <a:pPr algn="l" indent="0" marL="0">
              <a:buNone/>
            </a:pPr>
            <a:r>
              <a:rPr lang="en-US" sz="1200" dirty="0">
                <a:solidFill>
                  <a:srgbClr val="8AA0B2"/>
                </a:solidFill>
                <a:latin typeface="Calibri" pitchFamily="34" charset="0"/>
                <a:ea typeface="Calibri" pitchFamily="34" charset="-122"/>
                <a:cs typeface="Calibri" pitchFamily="34" charset="-120"/>
              </a:rPr>
              <a:t>Emilio Cardona  ·  Miguel Vasquez  ·  Lucas Velez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EL PROBLEMA</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Los wearables miden todo. Nadie te avisa a tiempo.</a:t>
            </a:r>
            <a:endParaRPr lang="en-US" sz="3200" dirty="0"/>
          </a:p>
        </p:txBody>
      </p:sp>
      <p:sp>
        <p:nvSpPr>
          <p:cNvPr id="4" name="Shape 2"/>
          <p:cNvSpPr/>
          <p:nvPr/>
        </p:nvSpPr>
        <p:spPr>
          <a:xfrm>
            <a:off x="548640" y="1920240"/>
            <a:ext cx="3383280" cy="2377440"/>
          </a:xfrm>
          <a:prstGeom prst="roundRect">
            <a:avLst>
              <a:gd name="adj" fmla="val 4615"/>
            </a:avLst>
          </a:prstGeom>
          <a:solidFill>
            <a:srgbClr val="101F30"/>
          </a:solidFill>
          <a:ln w="12700">
            <a:solidFill>
              <a:srgbClr val="1D3348"/>
            </a:solidFill>
            <a:prstDash val="solid"/>
          </a:ln>
        </p:spPr>
      </p:sp>
      <p:sp>
        <p:nvSpPr>
          <p:cNvPr id="5" name="Text 3"/>
          <p:cNvSpPr/>
          <p:nvPr/>
        </p:nvSpPr>
        <p:spPr>
          <a:xfrm>
            <a:off x="822960" y="2331720"/>
            <a:ext cx="2834640" cy="1005840"/>
          </a:xfrm>
          <a:prstGeom prst="rect">
            <a:avLst/>
          </a:prstGeom>
          <a:noFill/>
          <a:ln/>
        </p:spPr>
        <p:txBody>
          <a:bodyPr wrap="square" lIns="0" tIns="0" rIns="0" bIns="0" rtlCol="0" anchor="ctr"/>
          <a:lstStyle/>
          <a:p>
            <a:pPr algn="l" indent="0" marL="0">
              <a:buNone/>
            </a:pPr>
            <a:r>
              <a:rPr lang="en-US" sz="5200" b="1" dirty="0">
                <a:solidFill>
                  <a:srgbClr val="4FD8C4"/>
                </a:solidFill>
                <a:latin typeface="Cambria" pitchFamily="34" charset="0"/>
                <a:ea typeface="Cambria" pitchFamily="34" charset="-122"/>
                <a:cs typeface="Cambria" pitchFamily="34" charset="-120"/>
              </a:rPr>
              <a:t>100k+</a:t>
            </a:r>
            <a:endParaRPr lang="en-US" sz="5200" dirty="0"/>
          </a:p>
        </p:txBody>
      </p:sp>
      <p:sp>
        <p:nvSpPr>
          <p:cNvPr id="6" name="Text 4"/>
          <p:cNvSpPr/>
          <p:nvPr/>
        </p:nvSpPr>
        <p:spPr>
          <a:xfrm>
            <a:off x="822960" y="3383280"/>
            <a:ext cx="2834640" cy="822960"/>
          </a:xfrm>
          <a:prstGeom prst="rect">
            <a:avLst/>
          </a:prstGeom>
          <a:noFill/>
          <a:ln/>
        </p:spPr>
        <p:txBody>
          <a:bodyPr wrap="square" lIns="0" tIns="0" rIns="0" bIns="0" rtlCol="0" anchor="ctr"/>
          <a:lstStyle/>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registros diarios por usuario en un</a:t>
            </a:r>
            <a:endParaRPr lang="en-US" sz="1300" dirty="0"/>
          </a:p>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Fitbit o Whoop (HRV, sueno, pasos…)</a:t>
            </a:r>
            <a:endParaRPr lang="en-US" sz="1300" dirty="0"/>
          </a:p>
        </p:txBody>
      </p:sp>
      <p:sp>
        <p:nvSpPr>
          <p:cNvPr id="7" name="Shape 5"/>
          <p:cNvSpPr/>
          <p:nvPr/>
        </p:nvSpPr>
        <p:spPr>
          <a:xfrm>
            <a:off x="4343400" y="1920240"/>
            <a:ext cx="3383280" cy="2377440"/>
          </a:xfrm>
          <a:prstGeom prst="roundRect">
            <a:avLst>
              <a:gd name="adj" fmla="val 4615"/>
            </a:avLst>
          </a:prstGeom>
          <a:solidFill>
            <a:srgbClr val="101F30"/>
          </a:solidFill>
          <a:ln w="12700">
            <a:solidFill>
              <a:srgbClr val="1D3348"/>
            </a:solidFill>
            <a:prstDash val="solid"/>
          </a:ln>
        </p:spPr>
      </p:sp>
      <p:sp>
        <p:nvSpPr>
          <p:cNvPr id="8" name="Text 6"/>
          <p:cNvSpPr/>
          <p:nvPr/>
        </p:nvSpPr>
        <p:spPr>
          <a:xfrm>
            <a:off x="4617720" y="2331720"/>
            <a:ext cx="2834640" cy="1005840"/>
          </a:xfrm>
          <a:prstGeom prst="rect">
            <a:avLst/>
          </a:prstGeom>
          <a:noFill/>
          <a:ln/>
        </p:spPr>
        <p:txBody>
          <a:bodyPr wrap="square" lIns="0" tIns="0" rIns="0" bIns="0" rtlCol="0" anchor="ctr"/>
          <a:lstStyle/>
          <a:p>
            <a:pPr algn="l" indent="0" marL="0">
              <a:buNone/>
            </a:pPr>
            <a:r>
              <a:rPr lang="en-US" sz="5200" b="1" dirty="0">
                <a:solidFill>
                  <a:srgbClr val="F2B84B"/>
                </a:solidFill>
                <a:latin typeface="Cambria" pitchFamily="34" charset="0"/>
                <a:ea typeface="Cambria" pitchFamily="34" charset="-122"/>
                <a:cs typeface="Cambria" pitchFamily="34" charset="-120"/>
              </a:rPr>
              <a:t>~0%</a:t>
            </a:r>
            <a:endParaRPr lang="en-US" sz="5200" dirty="0"/>
          </a:p>
        </p:txBody>
      </p:sp>
      <p:sp>
        <p:nvSpPr>
          <p:cNvPr id="9" name="Text 7"/>
          <p:cNvSpPr/>
          <p:nvPr/>
        </p:nvSpPr>
        <p:spPr>
          <a:xfrm>
            <a:off x="4617720" y="3383280"/>
            <a:ext cx="2834640" cy="822960"/>
          </a:xfrm>
          <a:prstGeom prst="rect">
            <a:avLst/>
          </a:prstGeom>
          <a:noFill/>
          <a:ln/>
        </p:spPr>
        <p:txBody>
          <a:bodyPr wrap="square" lIns="0" tIns="0" rIns="0" bIns="0" rtlCol="0" anchor="ctr"/>
          <a:lstStyle/>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de esa señal se traduce en una</a:t>
            </a:r>
            <a:endParaRPr lang="en-US" sz="1300" dirty="0"/>
          </a:p>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alerta temprana acciónable</a:t>
            </a:r>
            <a:endParaRPr lang="en-US" sz="1300" dirty="0"/>
          </a:p>
        </p:txBody>
      </p:sp>
      <p:sp>
        <p:nvSpPr>
          <p:cNvPr id="10" name="Shape 8"/>
          <p:cNvSpPr/>
          <p:nvPr/>
        </p:nvSpPr>
        <p:spPr>
          <a:xfrm>
            <a:off x="8138160" y="1920240"/>
            <a:ext cx="3383280" cy="2377440"/>
          </a:xfrm>
          <a:prstGeom prst="roundRect">
            <a:avLst>
              <a:gd name="adj" fmla="val 4615"/>
            </a:avLst>
          </a:prstGeom>
          <a:solidFill>
            <a:srgbClr val="101F30"/>
          </a:solidFill>
          <a:ln w="12700">
            <a:solidFill>
              <a:srgbClr val="1D3348"/>
            </a:solidFill>
            <a:prstDash val="solid"/>
          </a:ln>
        </p:spPr>
      </p:sp>
      <p:sp>
        <p:nvSpPr>
          <p:cNvPr id="11" name="Text 9"/>
          <p:cNvSpPr/>
          <p:nvPr/>
        </p:nvSpPr>
        <p:spPr>
          <a:xfrm>
            <a:off x="8412480" y="2331720"/>
            <a:ext cx="2834640" cy="1005840"/>
          </a:xfrm>
          <a:prstGeom prst="rect">
            <a:avLst/>
          </a:prstGeom>
          <a:noFill/>
          <a:ln/>
        </p:spPr>
        <p:txBody>
          <a:bodyPr wrap="square" lIns="0" tIns="0" rIns="0" bIns="0" rtlCol="0" anchor="ctr"/>
          <a:lstStyle/>
          <a:p>
            <a:pPr algn="l" indent="0" marL="0">
              <a:buNone/>
            </a:pPr>
            <a:r>
              <a:rPr lang="en-US" sz="5200" b="1" dirty="0">
                <a:solidFill>
                  <a:srgbClr val="F0687A"/>
                </a:solidFill>
                <a:latin typeface="Cambria" pitchFamily="34" charset="0"/>
                <a:ea typeface="Cambria" pitchFamily="34" charset="-122"/>
                <a:cs typeface="Cambria" pitchFamily="34" charset="-120"/>
              </a:rPr>
              <a:t>1 de 4</a:t>
            </a:r>
            <a:endParaRPr lang="en-US" sz="5200" dirty="0"/>
          </a:p>
        </p:txBody>
      </p:sp>
      <p:sp>
        <p:nvSpPr>
          <p:cNvPr id="12" name="Text 10"/>
          <p:cNvSpPr/>
          <p:nvPr/>
        </p:nvSpPr>
        <p:spPr>
          <a:xfrm>
            <a:off x="8412480" y="3383280"/>
            <a:ext cx="2834640" cy="822960"/>
          </a:xfrm>
          <a:prstGeom prst="rect">
            <a:avLst/>
          </a:prstGeom>
          <a:noFill/>
          <a:ln/>
        </p:spPr>
        <p:txBody>
          <a:bodyPr wrap="square" lIns="0" tIns="0" rIns="0" bIns="0" rtlCol="0" anchor="ctr"/>
          <a:lstStyle/>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adultos mayores sufre una caida</a:t>
            </a:r>
            <a:endParaRPr lang="en-US" sz="1300" dirty="0"/>
          </a:p>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por año; muchas son prevenibles</a:t>
            </a:r>
            <a:endParaRPr lang="en-US" sz="1300" dirty="0"/>
          </a:p>
        </p:txBody>
      </p:sp>
      <p:sp>
        <p:nvSpPr>
          <p:cNvPr id="13" name="Text 11"/>
          <p:cNvSpPr/>
          <p:nvPr/>
        </p:nvSpPr>
        <p:spPr>
          <a:xfrm>
            <a:off x="548640" y="4663440"/>
            <a:ext cx="11064240" cy="731520"/>
          </a:xfrm>
          <a:prstGeom prst="rect">
            <a:avLst/>
          </a:prstGeom>
          <a:noFill/>
          <a:ln/>
        </p:spPr>
        <p:txBody>
          <a:bodyPr wrap="square" lIns="0" tIns="0" rIns="0" bIns="0" rtlCol="0" anchor="ctr"/>
          <a:lstStyle/>
          <a:p>
            <a:pPr algn="l" indent="0" marL="0">
              <a:lnSpc>
                <a:spcPct val="115000"/>
              </a:lnSpc>
              <a:buNone/>
            </a:pPr>
            <a:r>
              <a:rPr lang="en-US" sz="1500" i="1" dirty="0">
                <a:solidFill>
                  <a:srgbClr val="EAF2F5"/>
                </a:solidFill>
                <a:latin typeface="Calibri" pitchFamily="34" charset="0"/>
                <a:ea typeface="Calibri" pitchFamily="34" charset="-122"/>
                <a:cs typeface="Calibri" pitchFamily="34" charset="-120"/>
              </a:rPr>
              <a:t>Las empresas de hardware se quedan en promedios estaticos. Nosotros modelamos los patrones no lineales que anteceden un deterioro.</a:t>
            </a:r>
            <a:endParaRPr lang="en-US" sz="1500" dirty="0"/>
          </a:p>
        </p:txBody>
      </p:sp>
      <p:sp>
        <p:nvSpPr>
          <p:cNvPr id="14" name="Text 1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15" name="Text 13"/>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LA SOLUCIÓN</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BioPulse: un indice de riesgo predictivo en tu telefono</a:t>
            </a:r>
            <a:endParaRPr lang="en-US" sz="3200" dirty="0"/>
          </a:p>
        </p:txBody>
      </p:sp>
      <p:sp>
        <p:nvSpPr>
          <p:cNvPr id="4" name="Text 2"/>
          <p:cNvSpPr/>
          <p:nvPr/>
        </p:nvSpPr>
        <p:spPr>
          <a:xfrm>
            <a:off x="548640" y="1737360"/>
            <a:ext cx="5120640" cy="1463040"/>
          </a:xfrm>
          <a:prstGeom prst="rect">
            <a:avLst/>
          </a:prstGeom>
          <a:noFill/>
          <a:ln/>
        </p:spPr>
        <p:txBody>
          <a:bodyPr wrap="square" lIns="0" tIns="0" rIns="0" bIns="0" rtlCol="0" anchor="ctr"/>
          <a:lstStyle/>
          <a:p>
            <a:pPr algn="l" indent="0" marL="0">
              <a:lnSpc>
                <a:spcPct val="120000"/>
              </a:lnSpc>
              <a:buNone/>
            </a:pPr>
            <a:r>
              <a:rPr lang="en-US" sz="1600" dirty="0">
                <a:solidFill>
                  <a:srgbClr val="EAF2F5"/>
                </a:solidFill>
                <a:latin typeface="Calibri" pitchFamily="34" charset="0"/>
                <a:ea typeface="Calibri" pitchFamily="34" charset="-122"/>
                <a:cs typeface="Calibri" pitchFamily="34" charset="-120"/>
              </a:rPr>
              <a:t>Combinamos tres motores de señal sobre tus propios datos de wearable y entregamos un unico Indice de Riesgo (0-100) con alertas explicables, no una caja negra.</a:t>
            </a:r>
            <a:endParaRPr lang="en-US" sz="1600" dirty="0"/>
          </a:p>
        </p:txBody>
      </p:sp>
      <p:sp>
        <p:nvSpPr>
          <p:cNvPr id="5" name="Shape 3"/>
          <p:cNvSpPr/>
          <p:nvPr/>
        </p:nvSpPr>
        <p:spPr>
          <a:xfrm>
            <a:off x="548640" y="3383280"/>
            <a:ext cx="292608" cy="292608"/>
          </a:xfrm>
          <a:prstGeom prst="ellipse">
            <a:avLst/>
          </a:prstGeom>
          <a:solidFill>
            <a:srgbClr val="4FD8C4"/>
          </a:solidFill>
          <a:ln/>
        </p:spPr>
      </p:sp>
      <p:sp>
        <p:nvSpPr>
          <p:cNvPr id="6" name="Text 4"/>
          <p:cNvSpPr/>
          <p:nvPr/>
        </p:nvSpPr>
        <p:spPr>
          <a:xfrm>
            <a:off x="1005840" y="3337560"/>
            <a:ext cx="4572000" cy="640080"/>
          </a:xfrm>
          <a:prstGeom prst="rect">
            <a:avLst/>
          </a:prstGeom>
          <a:noFill/>
          <a:ln/>
        </p:spPr>
        <p:txBody>
          <a:bodyPr wrap="square" lIns="0" tIns="0" rIns="0" bIns="0" rtlCol="0" anchor="ctr"/>
          <a:lstStyle/>
          <a:p>
            <a:pPr algn="l" indent="0" marL="0">
              <a:lnSpc>
                <a:spcPct val="105000"/>
              </a:lnSpc>
              <a:buNone/>
            </a:pPr>
            <a:r>
              <a:rPr lang="en-US" sz="1350" dirty="0">
                <a:solidFill>
                  <a:srgbClr val="EAF2F5"/>
                </a:solidFill>
                <a:latin typeface="Calibri" pitchFamily="34" charset="0"/>
                <a:ea typeface="Calibri" pitchFamily="34" charset="-122"/>
                <a:cs typeface="Calibri" pitchFamily="34" charset="-120"/>
              </a:rPr>
              <a:t>Control estadistico (z-score) vs. tu linea base de 7 dias</a:t>
            </a:r>
            <a:endParaRPr lang="en-US" sz="1350" dirty="0"/>
          </a:p>
        </p:txBody>
      </p:sp>
      <p:sp>
        <p:nvSpPr>
          <p:cNvPr id="7" name="Shape 5"/>
          <p:cNvSpPr/>
          <p:nvPr/>
        </p:nvSpPr>
        <p:spPr>
          <a:xfrm>
            <a:off x="548640" y="4160520"/>
            <a:ext cx="292608" cy="292608"/>
          </a:xfrm>
          <a:prstGeom prst="ellipse">
            <a:avLst/>
          </a:prstGeom>
          <a:solidFill>
            <a:srgbClr val="4FD8C4"/>
          </a:solidFill>
          <a:ln/>
        </p:spPr>
      </p:sp>
      <p:sp>
        <p:nvSpPr>
          <p:cNvPr id="8" name="Text 6"/>
          <p:cNvSpPr/>
          <p:nvPr/>
        </p:nvSpPr>
        <p:spPr>
          <a:xfrm>
            <a:off x="1005840" y="4114800"/>
            <a:ext cx="4572000" cy="640080"/>
          </a:xfrm>
          <a:prstGeom prst="rect">
            <a:avLst/>
          </a:prstGeom>
          <a:noFill/>
          <a:ln/>
        </p:spPr>
        <p:txBody>
          <a:bodyPr wrap="square" lIns="0" tIns="0" rIns="0" bIns="0" rtlCol="0" anchor="ctr"/>
          <a:lstStyle/>
          <a:p>
            <a:pPr algn="l" indent="0" marL="0">
              <a:lnSpc>
                <a:spcPct val="105000"/>
              </a:lnSpc>
              <a:buNone/>
            </a:pPr>
            <a:r>
              <a:rPr lang="en-US" sz="1350" dirty="0">
                <a:solidFill>
                  <a:srgbClr val="EAF2F5"/>
                </a:solidFill>
                <a:latin typeface="Calibri" pitchFamily="34" charset="0"/>
                <a:ea typeface="Calibri" pitchFamily="34" charset="-122"/>
                <a:cs typeface="Calibri" pitchFamily="34" charset="-120"/>
              </a:rPr>
              <a:t>Entropia aproximada (ApEn): pierde tu cuerpo su adaptabilidad</a:t>
            </a:r>
            <a:endParaRPr lang="en-US" sz="1350" dirty="0"/>
          </a:p>
        </p:txBody>
      </p:sp>
      <p:sp>
        <p:nvSpPr>
          <p:cNvPr id="9" name="Shape 7"/>
          <p:cNvSpPr/>
          <p:nvPr/>
        </p:nvSpPr>
        <p:spPr>
          <a:xfrm>
            <a:off x="548640" y="4937760"/>
            <a:ext cx="292608" cy="292608"/>
          </a:xfrm>
          <a:prstGeom prst="ellipse">
            <a:avLst/>
          </a:prstGeom>
          <a:solidFill>
            <a:srgbClr val="4FD8C4"/>
          </a:solidFill>
          <a:ln/>
        </p:spPr>
      </p:sp>
      <p:sp>
        <p:nvSpPr>
          <p:cNvPr id="10" name="Text 8"/>
          <p:cNvSpPr/>
          <p:nvPr/>
        </p:nvSpPr>
        <p:spPr>
          <a:xfrm>
            <a:off x="1005840" y="4892040"/>
            <a:ext cx="4572000" cy="640080"/>
          </a:xfrm>
          <a:prstGeom prst="rect">
            <a:avLst/>
          </a:prstGeom>
          <a:noFill/>
          <a:ln/>
        </p:spPr>
        <p:txBody>
          <a:bodyPr wrap="square" lIns="0" tIns="0" rIns="0" bIns="0" rtlCol="0" anchor="ctr"/>
          <a:lstStyle/>
          <a:p>
            <a:pPr algn="l" indent="0" marL="0">
              <a:lnSpc>
                <a:spcPct val="105000"/>
              </a:lnSpc>
              <a:buNone/>
            </a:pPr>
            <a:r>
              <a:rPr lang="en-US" sz="1350" dirty="0">
                <a:solidFill>
                  <a:srgbClr val="EAF2F5"/>
                </a:solidFill>
                <a:latin typeface="Calibri" pitchFamily="34" charset="0"/>
                <a:ea typeface="Calibri" pitchFamily="34" charset="-122"/>
                <a:cs typeface="Calibri" pitchFamily="34" charset="-120"/>
              </a:rPr>
              <a:t>Random Forest entrenado con 100k registros de wearable</a:t>
            </a:r>
            <a:endParaRPr lang="en-US" sz="1350" dirty="0"/>
          </a:p>
        </p:txBody>
      </p:sp>
      <p:sp>
        <p:nvSpPr>
          <p:cNvPr id="11" name="Shape 9"/>
          <p:cNvSpPr/>
          <p:nvPr/>
        </p:nvSpPr>
        <p:spPr>
          <a:xfrm>
            <a:off x="6126480" y="1737360"/>
            <a:ext cx="5486400" cy="4389120"/>
          </a:xfrm>
          <a:prstGeom prst="roundRect">
            <a:avLst>
              <a:gd name="adj" fmla="val 2500"/>
            </a:avLst>
          </a:prstGeom>
          <a:solidFill>
            <a:srgbClr val="0D1B2A"/>
          </a:solidFill>
          <a:ln w="12700">
            <a:solidFill>
              <a:srgbClr val="1D3348"/>
            </a:solidFill>
            <a:prstDash val="solid"/>
          </a:ln>
        </p:spPr>
      </p:sp>
      <p:sp>
        <p:nvSpPr>
          <p:cNvPr id="12" name="Shape 10"/>
          <p:cNvSpPr/>
          <p:nvPr/>
        </p:nvSpPr>
        <p:spPr>
          <a:xfrm>
            <a:off x="6400800" y="2057400"/>
            <a:ext cx="457200" cy="457200"/>
          </a:xfrm>
          <a:prstGeom prst="ellipse">
            <a:avLst/>
          </a:prstGeom>
          <a:solidFill>
            <a:srgbClr val="4FD8C4"/>
          </a:solidFill>
          <a:ln/>
        </p:spPr>
      </p:sp>
      <p:sp>
        <p:nvSpPr>
          <p:cNvPr id="13" name="Text 11"/>
          <p:cNvSpPr/>
          <p:nvPr/>
        </p:nvSpPr>
        <p:spPr>
          <a:xfrm>
            <a:off x="6400800" y="2057400"/>
            <a:ext cx="457200" cy="457200"/>
          </a:xfrm>
          <a:prstGeom prst="rect">
            <a:avLst/>
          </a:prstGeom>
          <a:noFill/>
          <a:ln/>
        </p:spPr>
        <p:txBody>
          <a:bodyPr wrap="square" lIns="0" tIns="0" rIns="0" bIns="0" rtlCol="0" anchor="ctr"/>
          <a:lstStyle/>
          <a:p>
            <a:pPr algn="ctr" indent="0" marL="0">
              <a:buNone/>
            </a:pPr>
            <a:r>
              <a:rPr lang="en-US" sz="2000" b="1" dirty="0">
                <a:solidFill>
                  <a:srgbClr val="0A1420"/>
                </a:solidFill>
                <a:latin typeface="Cambria" pitchFamily="34" charset="0"/>
                <a:ea typeface="Cambria" pitchFamily="34" charset="-122"/>
                <a:cs typeface="Cambria" pitchFamily="34" charset="-120"/>
              </a:rPr>
              <a:t>B</a:t>
            </a:r>
            <a:endParaRPr lang="en-US" sz="2000" dirty="0"/>
          </a:p>
        </p:txBody>
      </p:sp>
      <p:sp>
        <p:nvSpPr>
          <p:cNvPr id="14" name="Text 12"/>
          <p:cNvSpPr/>
          <p:nvPr/>
        </p:nvSpPr>
        <p:spPr>
          <a:xfrm>
            <a:off x="6995160" y="2057400"/>
            <a:ext cx="2743200" cy="457200"/>
          </a:xfrm>
          <a:prstGeom prst="rect">
            <a:avLst/>
          </a:prstGeom>
          <a:noFill/>
          <a:ln/>
        </p:spPr>
        <p:txBody>
          <a:bodyPr wrap="square" lIns="0" tIns="0" rIns="0" bIns="0" rtlCol="0" anchor="ctr"/>
          <a:lstStyle/>
          <a:p>
            <a:pPr indent="0" marL="0">
              <a:buNone/>
            </a:pPr>
            <a:r>
              <a:rPr lang="en-US" sz="1800" b="1" dirty="0">
                <a:solidFill>
                  <a:srgbClr val="EAF2F5"/>
                </a:solidFill>
                <a:latin typeface="Cambria" pitchFamily="34" charset="0"/>
                <a:ea typeface="Cambria" pitchFamily="34" charset="-122"/>
                <a:cs typeface="Cambria" pitchFamily="34" charset="-120"/>
              </a:rPr>
              <a:t>BioPulse</a:t>
            </a:r>
            <a:endParaRPr lang="en-US" sz="1800" dirty="0"/>
          </a:p>
        </p:txBody>
      </p:sp>
      <p:sp>
        <p:nvSpPr>
          <p:cNvPr id="15" name="Shape 13"/>
          <p:cNvSpPr/>
          <p:nvPr/>
        </p:nvSpPr>
        <p:spPr>
          <a:xfrm>
            <a:off x="7955280" y="2926080"/>
            <a:ext cx="1828800" cy="1828800"/>
          </a:xfrm>
          <a:prstGeom prst="ellipse">
            <a:avLst/>
          </a:prstGeom>
          <a:ln w="127000">
            <a:solidFill>
              <a:srgbClr val="152840"/>
            </a:solidFill>
            <a:prstDash val="solid"/>
          </a:ln>
        </p:spPr>
      </p:sp>
      <p:sp>
        <p:nvSpPr>
          <p:cNvPr id="16" name="Shape 14"/>
          <p:cNvSpPr/>
          <p:nvPr/>
        </p:nvSpPr>
        <p:spPr>
          <a:xfrm>
            <a:off x="7955280" y="2926080"/>
            <a:ext cx="1828800" cy="1828800"/>
          </a:xfrm>
          <a:prstGeom prst="ellipse">
            <a:avLst/>
          </a:prstGeom>
          <a:ln w="127000">
            <a:solidFill>
              <a:srgbClr val="F2B84B"/>
            </a:solidFill>
            <a:prstDash val="solid"/>
          </a:ln>
        </p:spPr>
      </p:sp>
      <p:sp>
        <p:nvSpPr>
          <p:cNvPr id="17" name="Text 15"/>
          <p:cNvSpPr/>
          <p:nvPr/>
        </p:nvSpPr>
        <p:spPr>
          <a:xfrm>
            <a:off x="7955280" y="3520440"/>
            <a:ext cx="1828800" cy="822960"/>
          </a:xfrm>
          <a:prstGeom prst="rect">
            <a:avLst/>
          </a:prstGeom>
          <a:noFill/>
          <a:ln/>
        </p:spPr>
        <p:txBody>
          <a:bodyPr wrap="square" lIns="0" tIns="0" rIns="0" bIns="0" rtlCol="0" anchor="ctr"/>
          <a:lstStyle/>
          <a:p>
            <a:pPr algn="ctr" indent="0" marL="0">
              <a:buNone/>
            </a:pPr>
            <a:r>
              <a:rPr lang="en-US" sz="4000" b="1" dirty="0">
                <a:solidFill>
                  <a:srgbClr val="EAF2F5"/>
                </a:solidFill>
                <a:latin typeface="Cambria" pitchFamily="34" charset="0"/>
                <a:ea typeface="Cambria" pitchFamily="34" charset="-122"/>
                <a:cs typeface="Cambria" pitchFamily="34" charset="-120"/>
              </a:rPr>
              <a:t>46</a:t>
            </a:r>
            <a:endParaRPr lang="en-US" sz="4000" dirty="0"/>
          </a:p>
        </p:txBody>
      </p:sp>
      <p:sp>
        <p:nvSpPr>
          <p:cNvPr id="18" name="Text 16"/>
          <p:cNvSpPr/>
          <p:nvPr/>
        </p:nvSpPr>
        <p:spPr>
          <a:xfrm>
            <a:off x="6583680" y="4983480"/>
            <a:ext cx="4572000" cy="365760"/>
          </a:xfrm>
          <a:prstGeom prst="rect">
            <a:avLst/>
          </a:prstGeom>
          <a:noFill/>
          <a:ln/>
        </p:spPr>
        <p:txBody>
          <a:bodyPr wrap="square" lIns="0" tIns="0" rIns="0" bIns="0" rtlCol="0" anchor="ctr"/>
          <a:lstStyle/>
          <a:p>
            <a:pPr algn="ctr" indent="0" marL="0">
              <a:buNone/>
            </a:pPr>
            <a:r>
              <a:rPr lang="en-US" sz="1200" b="1" spc="100" kern="0" dirty="0">
                <a:solidFill>
                  <a:srgbClr val="F2B84B"/>
                </a:solidFill>
                <a:latin typeface="Calibri" pitchFamily="34" charset="0"/>
                <a:ea typeface="Calibri" pitchFamily="34" charset="-122"/>
                <a:cs typeface="Calibri" pitchFamily="34" charset="-120"/>
              </a:rPr>
              <a:t>RIESGO MODERADO</a:t>
            </a:r>
            <a:endParaRPr lang="en-US" sz="1200" dirty="0"/>
          </a:p>
        </p:txBody>
      </p:sp>
      <p:sp>
        <p:nvSpPr>
          <p:cNvPr id="19" name="Text 17"/>
          <p:cNvSpPr/>
          <p:nvPr/>
        </p:nvSpPr>
        <p:spPr>
          <a:xfrm>
            <a:off x="6583680" y="5349240"/>
            <a:ext cx="4572000" cy="548640"/>
          </a:xfrm>
          <a:prstGeom prst="rect">
            <a:avLst/>
          </a:prstGeom>
          <a:noFill/>
          <a:ln/>
        </p:spPr>
        <p:txBody>
          <a:bodyPr wrap="square" lIns="0" tIns="0" rIns="0" bIns="0" rtlCol="0" anchor="ctr"/>
          <a:lstStyle/>
          <a:p>
            <a:pPr algn="ctr" indent="0" marL="0">
              <a:lnSpc>
                <a:spcPct val="110000"/>
              </a:lnSpc>
              <a:buNone/>
            </a:pPr>
            <a:r>
              <a:rPr lang="en-US" sz="1100" dirty="0">
                <a:solidFill>
                  <a:srgbClr val="8AA0B2"/>
                </a:solidFill>
                <a:latin typeface="Calibri" pitchFamily="34" charset="0"/>
                <a:ea typeface="Calibri" pitchFamily="34" charset="-122"/>
                <a:cs typeface="Calibri" pitchFamily="34" charset="-120"/>
              </a:rPr>
              <a:t>Detectamos señales fuera de tu rango habitual en los ultimos dias.</a:t>
            </a:r>
            <a:endParaRPr lang="en-US" sz="1100" dirty="0"/>
          </a:p>
        </p:txBody>
      </p:sp>
      <p:sp>
        <p:nvSpPr>
          <p:cNvPr id="20" name="Text 18"/>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21" name="Text 19"/>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ARQUITECTURA</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Tres motores, una sola señal combinada</a:t>
            </a:r>
            <a:endParaRPr lang="en-US" sz="3200" dirty="0"/>
          </a:p>
        </p:txBody>
      </p:sp>
      <p:sp>
        <p:nvSpPr>
          <p:cNvPr id="4" name="Shape 2"/>
          <p:cNvSpPr/>
          <p:nvPr/>
        </p:nvSpPr>
        <p:spPr>
          <a:xfrm>
            <a:off x="548640" y="1737360"/>
            <a:ext cx="3383280" cy="2468880"/>
          </a:xfrm>
          <a:prstGeom prst="roundRect">
            <a:avLst>
              <a:gd name="adj" fmla="val 4444"/>
            </a:avLst>
          </a:prstGeom>
          <a:solidFill>
            <a:srgbClr val="101F30"/>
          </a:solidFill>
          <a:ln w="12700">
            <a:solidFill>
              <a:srgbClr val="1D3348"/>
            </a:solidFill>
            <a:prstDash val="solid"/>
          </a:ln>
        </p:spPr>
      </p:sp>
      <p:sp>
        <p:nvSpPr>
          <p:cNvPr id="5" name="Shape 3"/>
          <p:cNvSpPr/>
          <p:nvPr/>
        </p:nvSpPr>
        <p:spPr>
          <a:xfrm>
            <a:off x="822960" y="2011680"/>
            <a:ext cx="548640" cy="548640"/>
          </a:xfrm>
          <a:prstGeom prst="ellipse">
            <a:avLst/>
          </a:prstGeom>
          <a:solidFill>
            <a:srgbClr val="4FD8C4"/>
          </a:solidFill>
          <a:ln/>
        </p:spPr>
      </p:sp>
      <p:sp>
        <p:nvSpPr>
          <p:cNvPr id="6" name="Text 4"/>
          <p:cNvSpPr/>
          <p:nvPr/>
        </p:nvSpPr>
        <p:spPr>
          <a:xfrm>
            <a:off x="822960" y="2011680"/>
            <a:ext cx="548640" cy="548640"/>
          </a:xfrm>
          <a:prstGeom prst="rect">
            <a:avLst/>
          </a:prstGeom>
          <a:noFill/>
          <a:ln/>
        </p:spPr>
        <p:txBody>
          <a:bodyPr wrap="square" lIns="0" tIns="0" rIns="0" bIns="0" rtlCol="0" anchor="ctr"/>
          <a:lstStyle/>
          <a:p>
            <a:pPr algn="ctr" indent="0" marL="0">
              <a:buNone/>
            </a:pPr>
            <a:r>
              <a:rPr lang="en-US" sz="1800" b="1" dirty="0">
                <a:solidFill>
                  <a:srgbClr val="0A1420"/>
                </a:solidFill>
                <a:latin typeface="Cambria" pitchFamily="34" charset="0"/>
                <a:ea typeface="Cambria" pitchFamily="34" charset="-122"/>
                <a:cs typeface="Cambria" pitchFamily="34" charset="-120"/>
              </a:rPr>
              <a:t>01</a:t>
            </a:r>
            <a:endParaRPr lang="en-US" sz="1800" dirty="0"/>
          </a:p>
        </p:txBody>
      </p:sp>
      <p:sp>
        <p:nvSpPr>
          <p:cNvPr id="7" name="Text 5"/>
          <p:cNvSpPr/>
          <p:nvPr/>
        </p:nvSpPr>
        <p:spPr>
          <a:xfrm>
            <a:off x="1508760" y="2029968"/>
            <a:ext cx="2194560" cy="548640"/>
          </a:xfrm>
          <a:prstGeom prst="rect">
            <a:avLst/>
          </a:prstGeom>
          <a:noFill/>
          <a:ln/>
        </p:spPr>
        <p:txBody>
          <a:bodyPr wrap="square" lIns="0" tIns="0" rIns="0" bIns="0" rtlCol="0" anchor="ctr"/>
          <a:lstStyle/>
          <a:p>
            <a:pPr indent="0" marL="0">
              <a:buNone/>
            </a:pPr>
            <a:r>
              <a:rPr lang="en-US" sz="1500" b="1" dirty="0">
                <a:solidFill>
                  <a:srgbClr val="EAF2F5"/>
                </a:solidFill>
                <a:latin typeface="Cambria" pitchFamily="34" charset="0"/>
                <a:ea typeface="Cambria" pitchFamily="34" charset="-122"/>
                <a:cs typeface="Cambria" pitchFamily="34" charset="-120"/>
              </a:rPr>
              <a:t>Control Estadistico</a:t>
            </a:r>
            <a:endParaRPr lang="en-US" sz="1500" dirty="0"/>
          </a:p>
        </p:txBody>
      </p:sp>
      <p:sp>
        <p:nvSpPr>
          <p:cNvPr id="8" name="Text 6"/>
          <p:cNvSpPr/>
          <p:nvPr/>
        </p:nvSpPr>
        <p:spPr>
          <a:xfrm>
            <a:off x="822960" y="2788920"/>
            <a:ext cx="2834640" cy="1280160"/>
          </a:xfrm>
          <a:prstGeom prst="rect">
            <a:avLst/>
          </a:prstGeom>
          <a:noFill/>
          <a:ln/>
        </p:spPr>
        <p:txBody>
          <a:bodyPr wrap="square" lIns="0" tIns="0" rIns="0" bIns="0" rtlCol="0" anchor="ctr"/>
          <a:lstStyle/>
          <a:p>
            <a:pPr algn="l" indent="0" marL="0">
              <a:lnSpc>
                <a:spcPct val="115000"/>
              </a:lnSpc>
              <a:buNone/>
            </a:pPr>
            <a:r>
              <a:rPr lang="en-US" sz="1250" dirty="0">
                <a:solidFill>
                  <a:srgbClr val="8AA0B2"/>
                </a:solidFill>
                <a:latin typeface="Calibri" pitchFamily="34" charset="0"/>
                <a:ea typeface="Calibri" pitchFamily="34" charset="-122"/>
                <a:cs typeface="Calibri" pitchFamily="34" charset="-120"/>
              </a:rPr>
              <a:t>Z-score de cada metrica vs. tu propia linea base movil de 7 dias. Detecta anomalías reales, no ruido.</a:t>
            </a:r>
            <a:endParaRPr lang="en-US" sz="1250" dirty="0"/>
          </a:p>
        </p:txBody>
      </p:sp>
      <p:sp>
        <p:nvSpPr>
          <p:cNvPr id="9" name="Shape 7"/>
          <p:cNvSpPr/>
          <p:nvPr/>
        </p:nvSpPr>
        <p:spPr>
          <a:xfrm>
            <a:off x="4343400" y="1737360"/>
            <a:ext cx="3383280" cy="2468880"/>
          </a:xfrm>
          <a:prstGeom prst="roundRect">
            <a:avLst>
              <a:gd name="adj" fmla="val 4444"/>
            </a:avLst>
          </a:prstGeom>
          <a:solidFill>
            <a:srgbClr val="101F30"/>
          </a:solidFill>
          <a:ln w="12700">
            <a:solidFill>
              <a:srgbClr val="1D3348"/>
            </a:solidFill>
            <a:prstDash val="solid"/>
          </a:ln>
        </p:spPr>
      </p:sp>
      <p:sp>
        <p:nvSpPr>
          <p:cNvPr id="10" name="Shape 8"/>
          <p:cNvSpPr/>
          <p:nvPr/>
        </p:nvSpPr>
        <p:spPr>
          <a:xfrm>
            <a:off x="4617720" y="2011680"/>
            <a:ext cx="548640" cy="548640"/>
          </a:xfrm>
          <a:prstGeom prst="ellipse">
            <a:avLst/>
          </a:prstGeom>
          <a:solidFill>
            <a:srgbClr val="9BA8F2"/>
          </a:solidFill>
          <a:ln/>
        </p:spPr>
      </p:sp>
      <p:sp>
        <p:nvSpPr>
          <p:cNvPr id="11" name="Text 9"/>
          <p:cNvSpPr/>
          <p:nvPr/>
        </p:nvSpPr>
        <p:spPr>
          <a:xfrm>
            <a:off x="4617720" y="2011680"/>
            <a:ext cx="548640" cy="548640"/>
          </a:xfrm>
          <a:prstGeom prst="rect">
            <a:avLst/>
          </a:prstGeom>
          <a:noFill/>
          <a:ln/>
        </p:spPr>
        <p:txBody>
          <a:bodyPr wrap="square" lIns="0" tIns="0" rIns="0" bIns="0" rtlCol="0" anchor="ctr"/>
          <a:lstStyle/>
          <a:p>
            <a:pPr algn="ctr" indent="0" marL="0">
              <a:buNone/>
            </a:pPr>
            <a:r>
              <a:rPr lang="en-US" sz="1800" b="1" dirty="0">
                <a:solidFill>
                  <a:srgbClr val="0A1420"/>
                </a:solidFill>
                <a:latin typeface="Cambria" pitchFamily="34" charset="0"/>
                <a:ea typeface="Cambria" pitchFamily="34" charset="-122"/>
                <a:cs typeface="Cambria" pitchFamily="34" charset="-120"/>
              </a:rPr>
              <a:t>02</a:t>
            </a:r>
            <a:endParaRPr lang="en-US" sz="1800" dirty="0"/>
          </a:p>
        </p:txBody>
      </p:sp>
      <p:sp>
        <p:nvSpPr>
          <p:cNvPr id="12" name="Text 10"/>
          <p:cNvSpPr/>
          <p:nvPr/>
        </p:nvSpPr>
        <p:spPr>
          <a:xfrm>
            <a:off x="5303520" y="2029968"/>
            <a:ext cx="2194560" cy="548640"/>
          </a:xfrm>
          <a:prstGeom prst="rect">
            <a:avLst/>
          </a:prstGeom>
          <a:noFill/>
          <a:ln/>
        </p:spPr>
        <p:txBody>
          <a:bodyPr wrap="square" lIns="0" tIns="0" rIns="0" bIns="0" rtlCol="0" anchor="ctr"/>
          <a:lstStyle/>
          <a:p>
            <a:pPr indent="0" marL="0">
              <a:buNone/>
            </a:pPr>
            <a:r>
              <a:rPr lang="en-US" sz="1500" b="1" dirty="0">
                <a:solidFill>
                  <a:srgbClr val="EAF2F5"/>
                </a:solidFill>
                <a:latin typeface="Cambria" pitchFamily="34" charset="0"/>
                <a:ea typeface="Cambria" pitchFamily="34" charset="-122"/>
                <a:cs typeface="Cambria" pitchFamily="34" charset="-120"/>
              </a:rPr>
              <a:t>ApEn — Complejidad</a:t>
            </a:r>
            <a:endParaRPr lang="en-US" sz="1500" dirty="0"/>
          </a:p>
        </p:txBody>
      </p:sp>
      <p:sp>
        <p:nvSpPr>
          <p:cNvPr id="13" name="Text 11"/>
          <p:cNvSpPr/>
          <p:nvPr/>
        </p:nvSpPr>
        <p:spPr>
          <a:xfrm>
            <a:off x="4617720" y="2788920"/>
            <a:ext cx="2834640" cy="1280160"/>
          </a:xfrm>
          <a:prstGeom prst="rect">
            <a:avLst/>
          </a:prstGeom>
          <a:noFill/>
          <a:ln/>
        </p:spPr>
        <p:txBody>
          <a:bodyPr wrap="square" lIns="0" tIns="0" rIns="0" bIns="0" rtlCol="0" anchor="ctr"/>
          <a:lstStyle/>
          <a:p>
            <a:pPr algn="l" indent="0" marL="0">
              <a:lnSpc>
                <a:spcPct val="115000"/>
              </a:lnSpc>
              <a:buNone/>
            </a:pPr>
            <a:r>
              <a:rPr lang="en-US" sz="1250" dirty="0">
                <a:solidFill>
                  <a:srgbClr val="8AA0B2"/>
                </a:solidFill>
                <a:latin typeface="Calibri" pitchFamily="34" charset="0"/>
                <a:ea typeface="Calibri" pitchFamily="34" charset="-122"/>
                <a:cs typeface="Calibri" pitchFamily="34" charset="-120"/>
              </a:rPr>
              <a:t>Entropia aproximada de HRV/RHR en ventana de 14 dias. Senal temprana de perdida de adaptabilidad.</a:t>
            </a:r>
            <a:endParaRPr lang="en-US" sz="1250" dirty="0"/>
          </a:p>
        </p:txBody>
      </p:sp>
      <p:sp>
        <p:nvSpPr>
          <p:cNvPr id="14" name="Shape 12"/>
          <p:cNvSpPr/>
          <p:nvPr/>
        </p:nvSpPr>
        <p:spPr>
          <a:xfrm>
            <a:off x="8138160" y="1737360"/>
            <a:ext cx="3383280" cy="2468880"/>
          </a:xfrm>
          <a:prstGeom prst="roundRect">
            <a:avLst>
              <a:gd name="adj" fmla="val 4444"/>
            </a:avLst>
          </a:prstGeom>
          <a:solidFill>
            <a:srgbClr val="101F30"/>
          </a:solidFill>
          <a:ln w="12700">
            <a:solidFill>
              <a:srgbClr val="1D3348"/>
            </a:solidFill>
            <a:prstDash val="solid"/>
          </a:ln>
        </p:spPr>
      </p:sp>
      <p:sp>
        <p:nvSpPr>
          <p:cNvPr id="15" name="Shape 13"/>
          <p:cNvSpPr/>
          <p:nvPr/>
        </p:nvSpPr>
        <p:spPr>
          <a:xfrm>
            <a:off x="8412480" y="2011680"/>
            <a:ext cx="548640" cy="548640"/>
          </a:xfrm>
          <a:prstGeom prst="ellipse">
            <a:avLst/>
          </a:prstGeom>
          <a:solidFill>
            <a:srgbClr val="F2B84B"/>
          </a:solidFill>
          <a:ln/>
        </p:spPr>
      </p:sp>
      <p:sp>
        <p:nvSpPr>
          <p:cNvPr id="16" name="Text 14"/>
          <p:cNvSpPr/>
          <p:nvPr/>
        </p:nvSpPr>
        <p:spPr>
          <a:xfrm>
            <a:off x="8412480" y="2011680"/>
            <a:ext cx="548640" cy="548640"/>
          </a:xfrm>
          <a:prstGeom prst="rect">
            <a:avLst/>
          </a:prstGeom>
          <a:noFill/>
          <a:ln/>
        </p:spPr>
        <p:txBody>
          <a:bodyPr wrap="square" lIns="0" tIns="0" rIns="0" bIns="0" rtlCol="0" anchor="ctr"/>
          <a:lstStyle/>
          <a:p>
            <a:pPr algn="ctr" indent="0" marL="0">
              <a:buNone/>
            </a:pPr>
            <a:r>
              <a:rPr lang="en-US" sz="1800" b="1" dirty="0">
                <a:solidFill>
                  <a:srgbClr val="0A1420"/>
                </a:solidFill>
                <a:latin typeface="Cambria" pitchFamily="34" charset="0"/>
                <a:ea typeface="Cambria" pitchFamily="34" charset="-122"/>
                <a:cs typeface="Cambria" pitchFamily="34" charset="-120"/>
              </a:rPr>
              <a:t>03</a:t>
            </a:r>
            <a:endParaRPr lang="en-US" sz="1800" dirty="0"/>
          </a:p>
        </p:txBody>
      </p:sp>
      <p:sp>
        <p:nvSpPr>
          <p:cNvPr id="17" name="Text 15"/>
          <p:cNvSpPr/>
          <p:nvPr/>
        </p:nvSpPr>
        <p:spPr>
          <a:xfrm>
            <a:off x="9098280" y="2029968"/>
            <a:ext cx="2194560" cy="548640"/>
          </a:xfrm>
          <a:prstGeom prst="rect">
            <a:avLst/>
          </a:prstGeom>
          <a:noFill/>
          <a:ln/>
        </p:spPr>
        <p:txBody>
          <a:bodyPr wrap="square" lIns="0" tIns="0" rIns="0" bIns="0" rtlCol="0" anchor="ctr"/>
          <a:lstStyle/>
          <a:p>
            <a:pPr indent="0" marL="0">
              <a:buNone/>
            </a:pPr>
            <a:r>
              <a:rPr lang="en-US" sz="1500" b="1" dirty="0">
                <a:solidFill>
                  <a:srgbClr val="EAF2F5"/>
                </a:solidFill>
                <a:latin typeface="Cambria" pitchFamily="34" charset="0"/>
                <a:ea typeface="Cambria" pitchFamily="34" charset="-122"/>
                <a:cs typeface="Cambria" pitchFamily="34" charset="-120"/>
              </a:rPr>
              <a:t>Random Forest</a:t>
            </a:r>
            <a:endParaRPr lang="en-US" sz="1500" dirty="0"/>
          </a:p>
        </p:txBody>
      </p:sp>
      <p:sp>
        <p:nvSpPr>
          <p:cNvPr id="18" name="Text 16"/>
          <p:cNvSpPr/>
          <p:nvPr/>
        </p:nvSpPr>
        <p:spPr>
          <a:xfrm>
            <a:off x="8412480" y="2788920"/>
            <a:ext cx="2834640" cy="1280160"/>
          </a:xfrm>
          <a:prstGeom prst="rect">
            <a:avLst/>
          </a:prstGeom>
          <a:noFill/>
          <a:ln/>
        </p:spPr>
        <p:txBody>
          <a:bodyPr wrap="square" lIns="0" tIns="0" rIns="0" bIns="0" rtlCol="0" anchor="ctr"/>
          <a:lstStyle/>
          <a:p>
            <a:pPr algn="l" indent="0" marL="0">
              <a:lnSpc>
                <a:spcPct val="115000"/>
              </a:lnSpc>
              <a:buNone/>
            </a:pPr>
            <a:r>
              <a:rPr lang="en-US" sz="1250" dirty="0">
                <a:solidFill>
                  <a:srgbClr val="8AA0B2"/>
                </a:solidFill>
                <a:latin typeface="Calibri" pitchFamily="34" charset="0"/>
                <a:ea typeface="Calibri" pitchFamily="34" charset="-122"/>
                <a:cs typeface="Calibri" pitchFamily="34" charset="-120"/>
              </a:rPr>
              <a:t>Modelo de arboles sobre 100k registros. Aprende la importancia de cada variable biometrica.</a:t>
            </a:r>
            <a:endParaRPr lang="en-US" sz="1250" dirty="0"/>
          </a:p>
        </p:txBody>
      </p:sp>
      <p:sp>
        <p:nvSpPr>
          <p:cNvPr id="19" name="Shape 17"/>
          <p:cNvSpPr/>
          <p:nvPr/>
        </p:nvSpPr>
        <p:spPr>
          <a:xfrm>
            <a:off x="5120640" y="4572000"/>
            <a:ext cx="1920240" cy="457200"/>
          </a:xfrm>
          <a:prstGeom prst="rightArrow">
            <a:avLst/>
          </a:prstGeom>
          <a:solidFill>
            <a:srgbClr val="1D3348"/>
          </a:solidFill>
          <a:ln/>
        </p:spPr>
      </p:sp>
      <p:sp>
        <p:nvSpPr>
          <p:cNvPr id="20" name="Shape 18"/>
          <p:cNvSpPr/>
          <p:nvPr/>
        </p:nvSpPr>
        <p:spPr>
          <a:xfrm>
            <a:off x="3657600" y="4572000"/>
            <a:ext cx="1463040" cy="1188720"/>
          </a:xfrm>
          <a:prstGeom prst="roundRect">
            <a:avLst>
              <a:gd name="adj" fmla="val 9231"/>
            </a:avLst>
          </a:prstGeom>
          <a:solidFill>
            <a:srgbClr val="101F30"/>
          </a:solidFill>
          <a:ln w="12700">
            <a:solidFill>
              <a:srgbClr val="4FD8C4"/>
            </a:solidFill>
            <a:prstDash val="solid"/>
          </a:ln>
        </p:spPr>
      </p:sp>
      <p:sp>
        <p:nvSpPr>
          <p:cNvPr id="21" name="Text 19"/>
          <p:cNvSpPr/>
          <p:nvPr/>
        </p:nvSpPr>
        <p:spPr>
          <a:xfrm>
            <a:off x="3657600" y="4572000"/>
            <a:ext cx="1463040" cy="1188720"/>
          </a:xfrm>
          <a:prstGeom prst="rect">
            <a:avLst/>
          </a:prstGeom>
          <a:noFill/>
          <a:ln/>
        </p:spPr>
        <p:txBody>
          <a:bodyPr wrap="square" lIns="0" tIns="0" rIns="0" bIns="0" rtlCol="0" anchor="ctr"/>
          <a:lstStyle/>
          <a:p>
            <a:pPr algn="ctr" indent="0" marL="0">
              <a:buNone/>
            </a:pPr>
            <a:r>
              <a:rPr lang="en-US" sz="3000" b="1" dirty="0">
                <a:solidFill>
                  <a:srgbClr val="4FD8C4"/>
                </a:solidFill>
                <a:latin typeface="Cambria" pitchFamily="34" charset="0"/>
                <a:ea typeface="Cambria" pitchFamily="34" charset="-122"/>
                <a:cs typeface="Cambria" pitchFamily="34" charset="-120"/>
              </a:rPr>
              <a:t>+</a:t>
            </a:r>
            <a:endParaRPr lang="en-US" sz="3000" dirty="0"/>
          </a:p>
        </p:txBody>
      </p:sp>
      <p:sp>
        <p:nvSpPr>
          <p:cNvPr id="22" name="Shape 20"/>
          <p:cNvSpPr/>
          <p:nvPr/>
        </p:nvSpPr>
        <p:spPr>
          <a:xfrm>
            <a:off x="7040880" y="4297680"/>
            <a:ext cx="4572000" cy="1737360"/>
          </a:xfrm>
          <a:prstGeom prst="roundRect">
            <a:avLst>
              <a:gd name="adj" fmla="val 6316"/>
            </a:avLst>
          </a:prstGeom>
          <a:solidFill>
            <a:srgbClr val="0D1B2A"/>
          </a:solidFill>
          <a:ln w="12700">
            <a:solidFill>
              <a:srgbClr val="4FD8C4"/>
            </a:solidFill>
            <a:prstDash val="solid"/>
          </a:ln>
        </p:spPr>
      </p:sp>
      <p:sp>
        <p:nvSpPr>
          <p:cNvPr id="23" name="Text 21"/>
          <p:cNvSpPr/>
          <p:nvPr/>
        </p:nvSpPr>
        <p:spPr>
          <a:xfrm>
            <a:off x="7269480" y="4480560"/>
            <a:ext cx="4114800" cy="1371600"/>
          </a:xfrm>
          <a:prstGeom prst="rect">
            <a:avLst/>
          </a:prstGeom>
          <a:noFill/>
          <a:ln/>
        </p:spPr>
        <p:txBody>
          <a:bodyPr wrap="square" lIns="0" tIns="0" rIns="0" bIns="0" rtlCol="0" anchor="ctr"/>
          <a:lstStyle/>
          <a:p>
            <a:pPr algn="l" indent="0" marL="0">
              <a:buNone/>
            </a:pPr>
            <a:r>
              <a:rPr lang="en-US" sz="1200" b="1" spc="100" kern="0" dirty="0">
                <a:solidFill>
                  <a:srgbClr val="4FD8C4"/>
                </a:solidFill>
                <a:latin typeface="Calibri" pitchFamily="34" charset="0"/>
                <a:ea typeface="Calibri" pitchFamily="34" charset="-122"/>
                <a:cs typeface="Calibri" pitchFamily="34" charset="-120"/>
              </a:rPr>
              <a:t>INDICE DE RIESGO PREDICTIVO</a:t>
            </a:r>
            <a:endParaRPr lang="en-US" sz="1200" dirty="0"/>
          </a:p>
          <a:p>
            <a:pPr algn="l" indent="0" marL="0">
              <a:lnSpc>
                <a:spcPct val="115000"/>
              </a:lnSpc>
              <a:buNone/>
            </a:pPr>
            <a:r>
              <a:rPr lang="en-US" sz="1300" dirty="0">
                <a:solidFill>
                  <a:srgbClr val="EAF2F5"/>
                </a:solidFill>
                <a:latin typeface="Calibri" pitchFamily="34" charset="0"/>
                <a:ea typeface="Calibri" pitchFamily="34" charset="-122"/>
                <a:cs typeface="Calibri" pitchFamily="34" charset="-120"/>
              </a:rPr>
              <a:t>Cada motor aporta hasta 25 puntos. El total (0-100) define el nivel BAJO / MODERADO / ALTO y dispara alertas explicables.</a:t>
            </a:r>
            <a:endParaRPr lang="en-US" sz="1200" dirty="0"/>
          </a:p>
        </p:txBody>
      </p:sp>
      <p:sp>
        <p:nvSpPr>
          <p:cNvPr id="24" name="Text 2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25" name="Text 23"/>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MODELO 01 · CONTROL ESTADISTICO</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Z-score: tu propia linea base, no la de otro</a:t>
            </a:r>
            <a:endParaRPr lang="en-US" sz="3200" dirty="0"/>
          </a:p>
        </p:txBody>
      </p:sp>
      <p:sp>
        <p:nvSpPr>
          <p:cNvPr id="4" name="Text 2"/>
          <p:cNvSpPr/>
          <p:nvPr/>
        </p:nvSpPr>
        <p:spPr>
          <a:xfrm>
            <a:off x="548640" y="1691640"/>
            <a:ext cx="5486400" cy="1554480"/>
          </a:xfrm>
          <a:prstGeom prst="rect">
            <a:avLst/>
          </a:prstGeom>
          <a:noFill/>
          <a:ln/>
        </p:spPr>
        <p:txBody>
          <a:bodyPr wrap="square" lIns="0" tIns="0" rIns="0" bIns="0" rtlCol="0" anchor="ctr"/>
          <a:lstStyle/>
          <a:p>
            <a:pPr algn="l" indent="0" marL="0">
              <a:lnSpc>
                <a:spcPct val="120000"/>
              </a:lnSpc>
              <a:buNone/>
            </a:pPr>
            <a:r>
              <a:rPr lang="en-US" sz="1500" dirty="0">
                <a:solidFill>
                  <a:srgbClr val="EAF2F5"/>
                </a:solidFill>
                <a:latin typeface="Calibri" pitchFamily="34" charset="0"/>
                <a:ea typeface="Calibri" pitchFamily="34" charset="-122"/>
                <a:cs typeface="Calibri" pitchFamily="34" charset="-120"/>
              </a:rPr>
              <a:t>Para cada dia calculamos el z-score de 6 metricas (HRV, RHR, recuperación, freq. respiratoria, temp. de piel, ef. de sueno) contra una ventana movil de 7 dias. Un |z| &gt; 2 es una anomalía.</a:t>
            </a:r>
            <a:endParaRPr lang="en-US" sz="1500" dirty="0"/>
          </a:p>
        </p:txBody>
      </p:sp>
      <p:sp>
        <p:nvSpPr>
          <p:cNvPr id="5" name="Shape 3"/>
          <p:cNvSpPr/>
          <p:nvPr/>
        </p:nvSpPr>
        <p:spPr>
          <a:xfrm>
            <a:off x="548640" y="3246120"/>
            <a:ext cx="5486400" cy="914400"/>
          </a:xfrm>
          <a:prstGeom prst="roundRect">
            <a:avLst>
              <a:gd name="adj" fmla="val 12000"/>
            </a:avLst>
          </a:prstGeom>
          <a:solidFill>
            <a:srgbClr val="0D1B2A"/>
          </a:solidFill>
          <a:ln w="12700">
            <a:solidFill>
              <a:srgbClr val="4FD8C4"/>
            </a:solidFill>
            <a:prstDash val="solid"/>
          </a:ln>
        </p:spPr>
      </p:sp>
      <p:sp>
        <p:nvSpPr>
          <p:cNvPr id="6" name="Text 4"/>
          <p:cNvSpPr/>
          <p:nvPr/>
        </p:nvSpPr>
        <p:spPr>
          <a:xfrm>
            <a:off x="777240" y="3310128"/>
            <a:ext cx="5029200" cy="822960"/>
          </a:xfrm>
          <a:prstGeom prst="rect">
            <a:avLst/>
          </a:prstGeom>
          <a:noFill/>
          <a:ln/>
        </p:spPr>
        <p:txBody>
          <a:bodyPr wrap="square" lIns="0" tIns="0" rIns="0" bIns="0" rtlCol="0" anchor="ctr"/>
          <a:lstStyle/>
          <a:p>
            <a:pPr algn="l" indent="0" marL="0">
              <a:buNone/>
            </a:pPr>
            <a:r>
              <a:rPr lang="en-US" sz="1050" b="1" spc="100" kern="0" dirty="0">
                <a:solidFill>
                  <a:srgbClr val="4FD8C4"/>
                </a:solidFill>
                <a:latin typeface="Calibri" pitchFamily="34" charset="0"/>
                <a:ea typeface="Calibri" pitchFamily="34" charset="-122"/>
                <a:cs typeface="Calibri" pitchFamily="34" charset="-120"/>
              </a:rPr>
              <a:t>EN PALABRAS SIMPLES  ·  </a:t>
            </a:r>
            <a:pPr algn="l" indent="0" marL="0">
              <a:lnSpc>
                <a:spcPct val="110000"/>
              </a:lnSpc>
              <a:buNone/>
            </a:pPr>
            <a:r>
              <a:rPr lang="en-US" sz="1150" dirty="0">
                <a:solidFill>
                  <a:srgbClr val="EAF2F5"/>
                </a:solidFill>
                <a:latin typeface="Calibri" pitchFamily="34" charset="0"/>
                <a:ea typeface="Calibri" pitchFamily="34" charset="-122"/>
                <a:cs typeface="Calibri" pitchFamily="34" charset="-120"/>
              </a:rPr>
              <a:t>Es como medir tu estatura contra tu propio promedio de los ultimos 7 dias. Si siempre mides 1.70 y hoy mides 1.95, algo raro paso. No comparamos contigo mismo hace un ano, sino con tu 'yo normal' reciente.</a:t>
            </a:r>
            <a:endParaRPr lang="en-US" sz="1050" dirty="0"/>
          </a:p>
        </p:txBody>
      </p:sp>
      <p:sp>
        <p:nvSpPr>
          <p:cNvPr id="7" name="Shape 5"/>
          <p:cNvSpPr/>
          <p:nvPr/>
        </p:nvSpPr>
        <p:spPr>
          <a:xfrm>
            <a:off x="548640" y="4343400"/>
            <a:ext cx="237744" cy="237744"/>
          </a:xfrm>
          <a:prstGeom prst="ellipse">
            <a:avLst/>
          </a:prstGeom>
          <a:solidFill>
            <a:srgbClr val="4FD8C4"/>
          </a:solidFill>
          <a:ln/>
        </p:spPr>
      </p:sp>
      <p:sp>
        <p:nvSpPr>
          <p:cNvPr id="8" name="Text 6"/>
          <p:cNvSpPr/>
          <p:nvPr/>
        </p:nvSpPr>
        <p:spPr>
          <a:xfrm>
            <a:off x="960120" y="4297680"/>
            <a:ext cx="5120640" cy="54864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Basado en tu historial: se adapta a tu fisiologia unica</a:t>
            </a:r>
            <a:endParaRPr lang="en-US" sz="1300" dirty="0"/>
          </a:p>
        </p:txBody>
      </p:sp>
      <p:sp>
        <p:nvSpPr>
          <p:cNvPr id="9" name="Shape 7"/>
          <p:cNvSpPr/>
          <p:nvPr/>
        </p:nvSpPr>
        <p:spPr>
          <a:xfrm>
            <a:off x="548640" y="4892040"/>
            <a:ext cx="237744" cy="237744"/>
          </a:xfrm>
          <a:prstGeom prst="ellipse">
            <a:avLst/>
          </a:prstGeom>
          <a:solidFill>
            <a:srgbClr val="4FD8C4"/>
          </a:solidFill>
          <a:ln/>
        </p:spPr>
      </p:sp>
      <p:sp>
        <p:nvSpPr>
          <p:cNvPr id="10" name="Text 8"/>
          <p:cNvSpPr/>
          <p:nvPr/>
        </p:nvSpPr>
        <p:spPr>
          <a:xfrm>
            <a:off x="960120" y="4846320"/>
            <a:ext cx="5120640" cy="54864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No necesita datos etiquetados para detectar desviaciones</a:t>
            </a:r>
            <a:endParaRPr lang="en-US" sz="1300" dirty="0"/>
          </a:p>
        </p:txBody>
      </p:sp>
      <p:sp>
        <p:nvSpPr>
          <p:cNvPr id="11" name="Shape 9"/>
          <p:cNvSpPr/>
          <p:nvPr/>
        </p:nvSpPr>
        <p:spPr>
          <a:xfrm>
            <a:off x="548640" y="5440680"/>
            <a:ext cx="237744" cy="237744"/>
          </a:xfrm>
          <a:prstGeom prst="ellipse">
            <a:avLst/>
          </a:prstGeom>
          <a:solidFill>
            <a:srgbClr val="4FD8C4"/>
          </a:solidFill>
          <a:ln/>
        </p:spPr>
      </p:sp>
      <p:sp>
        <p:nvSpPr>
          <p:cNvPr id="12" name="Text 10"/>
          <p:cNvSpPr/>
          <p:nvPr/>
        </p:nvSpPr>
        <p:spPr>
          <a:xfrm>
            <a:off x="960120" y="5394960"/>
            <a:ext cx="5120640" cy="54864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Explicable: muestra exactamente que metrica se salio del rango</a:t>
            </a:r>
            <a:endParaRPr lang="en-US" sz="1300" dirty="0"/>
          </a:p>
        </p:txBody>
      </p:sp>
      <p:sp>
        <p:nvSpPr>
          <p:cNvPr id="13" name="Shape 11"/>
          <p:cNvSpPr/>
          <p:nvPr/>
        </p:nvSpPr>
        <p:spPr>
          <a:xfrm>
            <a:off x="548640" y="5989320"/>
            <a:ext cx="237744" cy="237744"/>
          </a:xfrm>
          <a:prstGeom prst="ellipse">
            <a:avLst/>
          </a:prstGeom>
          <a:solidFill>
            <a:srgbClr val="4FD8C4"/>
          </a:solidFill>
          <a:ln/>
        </p:spPr>
      </p:sp>
      <p:sp>
        <p:nvSpPr>
          <p:cNvPr id="14" name="Text 12"/>
          <p:cNvSpPr/>
          <p:nvPr/>
        </p:nvSpPr>
        <p:spPr>
          <a:xfrm>
            <a:off x="960120" y="5943600"/>
            <a:ext cx="5120640" cy="54864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Aporta hasta 25 puntos al indice cuando hay &gt;=2 anomalías</a:t>
            </a:r>
            <a:endParaRPr lang="en-US" sz="1300" dirty="0"/>
          </a:p>
        </p:txBody>
      </p:sp>
      <p:sp>
        <p:nvSpPr>
          <p:cNvPr id="15" name="Shape 13"/>
          <p:cNvSpPr/>
          <p:nvPr/>
        </p:nvSpPr>
        <p:spPr>
          <a:xfrm>
            <a:off x="6400800" y="1737360"/>
            <a:ext cx="5212080" cy="4297680"/>
          </a:xfrm>
          <a:prstGeom prst="roundRect">
            <a:avLst>
              <a:gd name="adj" fmla="val 2553"/>
            </a:avLst>
          </a:prstGeom>
          <a:solidFill>
            <a:srgbClr val="0D1B2A"/>
          </a:solidFill>
          <a:ln w="12700">
            <a:solidFill>
              <a:srgbClr val="1D3348"/>
            </a:solidFill>
            <a:prstDash val="solid"/>
          </a:ln>
        </p:spPr>
      </p:sp>
      <p:sp>
        <p:nvSpPr>
          <p:cNvPr id="16" name="Text 14"/>
          <p:cNvSpPr/>
          <p:nvPr/>
        </p:nvSpPr>
        <p:spPr>
          <a:xfrm>
            <a:off x="6675120" y="1920240"/>
            <a:ext cx="4572000" cy="365760"/>
          </a:xfrm>
          <a:prstGeom prst="rect">
            <a:avLst/>
          </a:prstGeom>
          <a:noFill/>
          <a:ln/>
        </p:spPr>
        <p:txBody>
          <a:bodyPr wrap="square" lIns="0" tIns="0" rIns="0" bIns="0" rtlCol="0" anchor="ctr"/>
          <a:lstStyle/>
          <a:p>
            <a:pPr indent="0" marL="0">
              <a:buNone/>
            </a:pPr>
            <a:r>
              <a:rPr lang="en-US" sz="1200" b="1" dirty="0">
                <a:solidFill>
                  <a:srgbClr val="8AA0B2"/>
                </a:solidFill>
                <a:latin typeface="Calibri" pitchFamily="34" charset="0"/>
                <a:ea typeface="Calibri" pitchFamily="34" charset="-122"/>
                <a:cs typeface="Calibri" pitchFamily="34" charset="-120"/>
              </a:rPr>
              <a:t>Ejemplo · z-score de hoy</a:t>
            </a:r>
            <a:endParaRPr lang="en-US" sz="1200" dirty="0"/>
          </a:p>
        </p:txBody>
      </p:sp>
      <p:sp>
        <p:nvSpPr>
          <p:cNvPr id="17" name="Shape 15"/>
          <p:cNvSpPr/>
          <p:nvPr/>
        </p:nvSpPr>
        <p:spPr>
          <a:xfrm>
            <a:off x="8641080" y="2377440"/>
            <a:ext cx="0" cy="3401568"/>
          </a:xfrm>
          <a:prstGeom prst="line">
            <a:avLst/>
          </a:prstGeom>
          <a:noFill/>
          <a:ln w="12700">
            <a:solidFill>
              <a:srgbClr val="152840"/>
            </a:solidFill>
            <a:prstDash val="solid"/>
          </a:ln>
        </p:spPr>
      </p:sp>
      <p:sp>
        <p:nvSpPr>
          <p:cNvPr id="18" name="Text 16"/>
          <p:cNvSpPr/>
          <p:nvPr/>
        </p:nvSpPr>
        <p:spPr>
          <a:xfrm>
            <a:off x="6675120" y="2468880"/>
            <a:ext cx="1737360" cy="36576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HRV</a:t>
            </a:r>
            <a:endParaRPr lang="en-US" sz="1100" dirty="0"/>
          </a:p>
        </p:txBody>
      </p:sp>
      <p:sp>
        <p:nvSpPr>
          <p:cNvPr id="19" name="Shape 17"/>
          <p:cNvSpPr/>
          <p:nvPr/>
        </p:nvSpPr>
        <p:spPr>
          <a:xfrm>
            <a:off x="7690104" y="2578608"/>
            <a:ext cx="950976" cy="201168"/>
          </a:xfrm>
          <a:prstGeom prst="rect">
            <a:avLst/>
          </a:prstGeom>
          <a:solidFill>
            <a:srgbClr val="F0687A"/>
          </a:solidFill>
          <a:ln/>
        </p:spPr>
      </p:sp>
      <p:sp>
        <p:nvSpPr>
          <p:cNvPr id="20" name="Text 18"/>
          <p:cNvSpPr/>
          <p:nvPr/>
        </p:nvSpPr>
        <p:spPr>
          <a:xfrm>
            <a:off x="7050024" y="2468880"/>
            <a:ext cx="640080" cy="365760"/>
          </a:xfrm>
          <a:prstGeom prst="rect">
            <a:avLst/>
          </a:prstGeom>
          <a:noFill/>
          <a:ln/>
        </p:spPr>
        <p:txBody>
          <a:bodyPr wrap="square" lIns="0" tIns="0" rIns="0" bIns="0" rtlCol="0" anchor="ctr"/>
          <a:lstStyle/>
          <a:p>
            <a:pPr algn="l" indent="0" marL="0">
              <a:buNone/>
            </a:pPr>
            <a:r>
              <a:rPr lang="en-US" sz="1100" b="1" dirty="0">
                <a:solidFill>
                  <a:srgbClr val="F0687A"/>
                </a:solidFill>
                <a:latin typeface="Calibri" pitchFamily="34" charset="0"/>
                <a:ea typeface="Calibri" pitchFamily="34" charset="-122"/>
                <a:cs typeface="Calibri" pitchFamily="34" charset="-120"/>
              </a:rPr>
              <a:t>-2.4</a:t>
            </a:r>
            <a:endParaRPr lang="en-US" sz="1100" dirty="0"/>
          </a:p>
        </p:txBody>
      </p:sp>
      <p:sp>
        <p:nvSpPr>
          <p:cNvPr id="21" name="Text 19"/>
          <p:cNvSpPr/>
          <p:nvPr/>
        </p:nvSpPr>
        <p:spPr>
          <a:xfrm>
            <a:off x="6675120" y="3035808"/>
            <a:ext cx="1737360" cy="36576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RHR</a:t>
            </a:r>
            <a:endParaRPr lang="en-US" sz="1100" dirty="0"/>
          </a:p>
        </p:txBody>
      </p:sp>
      <p:sp>
        <p:nvSpPr>
          <p:cNvPr id="22" name="Shape 20"/>
          <p:cNvSpPr/>
          <p:nvPr/>
        </p:nvSpPr>
        <p:spPr>
          <a:xfrm>
            <a:off x="8641080" y="3145536"/>
            <a:ext cx="435864" cy="201168"/>
          </a:xfrm>
          <a:prstGeom prst="rect">
            <a:avLst/>
          </a:prstGeom>
          <a:solidFill>
            <a:srgbClr val="4FD8C4"/>
          </a:solidFill>
          <a:ln/>
        </p:spPr>
      </p:sp>
      <p:sp>
        <p:nvSpPr>
          <p:cNvPr id="23" name="Text 21"/>
          <p:cNvSpPr/>
          <p:nvPr/>
        </p:nvSpPr>
        <p:spPr>
          <a:xfrm>
            <a:off x="9122664" y="3035808"/>
            <a:ext cx="640080" cy="365760"/>
          </a:xfrm>
          <a:prstGeom prst="rect">
            <a:avLst/>
          </a:prstGeom>
          <a:noFill/>
          <a:ln/>
        </p:spPr>
        <p:txBody>
          <a:bodyPr wrap="square" lIns="0" tIns="0" rIns="0" bIns="0" rtlCol="0" anchor="ctr"/>
          <a:lstStyle/>
          <a:p>
            <a:pPr algn="l" indent="0" marL="0">
              <a:buNone/>
            </a:pPr>
            <a:r>
              <a:rPr lang="en-US" sz="1100" b="1" dirty="0">
                <a:solidFill>
                  <a:srgbClr val="8AA0B2"/>
                </a:solidFill>
                <a:latin typeface="Calibri" pitchFamily="34" charset="0"/>
                <a:ea typeface="Calibri" pitchFamily="34" charset="-122"/>
                <a:cs typeface="Calibri" pitchFamily="34" charset="-120"/>
              </a:rPr>
              <a:t>+1.1</a:t>
            </a:r>
            <a:endParaRPr lang="en-US" sz="1100" dirty="0"/>
          </a:p>
        </p:txBody>
      </p:sp>
      <p:sp>
        <p:nvSpPr>
          <p:cNvPr id="24" name="Text 22"/>
          <p:cNvSpPr/>
          <p:nvPr/>
        </p:nvSpPr>
        <p:spPr>
          <a:xfrm>
            <a:off x="6675120" y="3602736"/>
            <a:ext cx="1737360" cy="36576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Recuper.</a:t>
            </a:r>
            <a:endParaRPr lang="en-US" sz="1100" dirty="0"/>
          </a:p>
        </p:txBody>
      </p:sp>
      <p:sp>
        <p:nvSpPr>
          <p:cNvPr id="25" name="Shape 23"/>
          <p:cNvSpPr/>
          <p:nvPr/>
        </p:nvSpPr>
        <p:spPr>
          <a:xfrm>
            <a:off x="7927848" y="3712464"/>
            <a:ext cx="713232" cy="201168"/>
          </a:xfrm>
          <a:prstGeom prst="rect">
            <a:avLst/>
          </a:prstGeom>
          <a:solidFill>
            <a:srgbClr val="4FD8C4"/>
          </a:solidFill>
          <a:ln/>
        </p:spPr>
      </p:sp>
      <p:sp>
        <p:nvSpPr>
          <p:cNvPr id="26" name="Text 24"/>
          <p:cNvSpPr/>
          <p:nvPr/>
        </p:nvSpPr>
        <p:spPr>
          <a:xfrm>
            <a:off x="7287768" y="3602736"/>
            <a:ext cx="640080" cy="365760"/>
          </a:xfrm>
          <a:prstGeom prst="rect">
            <a:avLst/>
          </a:prstGeom>
          <a:noFill/>
          <a:ln/>
        </p:spPr>
        <p:txBody>
          <a:bodyPr wrap="square" lIns="0" tIns="0" rIns="0" bIns="0" rtlCol="0" anchor="ctr"/>
          <a:lstStyle/>
          <a:p>
            <a:pPr algn="l" indent="0" marL="0">
              <a:buNone/>
            </a:pPr>
            <a:r>
              <a:rPr lang="en-US" sz="1100" b="1" dirty="0">
                <a:solidFill>
                  <a:srgbClr val="8AA0B2"/>
                </a:solidFill>
                <a:latin typeface="Calibri" pitchFamily="34" charset="0"/>
                <a:ea typeface="Calibri" pitchFamily="34" charset="-122"/>
                <a:cs typeface="Calibri" pitchFamily="34" charset="-120"/>
              </a:rPr>
              <a:t>-1.8</a:t>
            </a:r>
            <a:endParaRPr lang="en-US" sz="1100" dirty="0"/>
          </a:p>
        </p:txBody>
      </p:sp>
      <p:sp>
        <p:nvSpPr>
          <p:cNvPr id="27" name="Text 25"/>
          <p:cNvSpPr/>
          <p:nvPr/>
        </p:nvSpPr>
        <p:spPr>
          <a:xfrm>
            <a:off x="6675120" y="4169664"/>
            <a:ext cx="1737360" cy="36576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Resp.</a:t>
            </a:r>
            <a:endParaRPr lang="en-US" sz="1100" dirty="0"/>
          </a:p>
        </p:txBody>
      </p:sp>
      <p:sp>
        <p:nvSpPr>
          <p:cNvPr id="28" name="Shape 26"/>
          <p:cNvSpPr/>
          <p:nvPr/>
        </p:nvSpPr>
        <p:spPr>
          <a:xfrm>
            <a:off x="8641080" y="4279392"/>
            <a:ext cx="237744" cy="201168"/>
          </a:xfrm>
          <a:prstGeom prst="rect">
            <a:avLst/>
          </a:prstGeom>
          <a:solidFill>
            <a:srgbClr val="4FD8C4"/>
          </a:solidFill>
          <a:ln/>
        </p:spPr>
      </p:sp>
      <p:sp>
        <p:nvSpPr>
          <p:cNvPr id="29" name="Text 27"/>
          <p:cNvSpPr/>
          <p:nvPr/>
        </p:nvSpPr>
        <p:spPr>
          <a:xfrm>
            <a:off x="8924544" y="4169664"/>
            <a:ext cx="640080" cy="365760"/>
          </a:xfrm>
          <a:prstGeom prst="rect">
            <a:avLst/>
          </a:prstGeom>
          <a:noFill/>
          <a:ln/>
        </p:spPr>
        <p:txBody>
          <a:bodyPr wrap="square" lIns="0" tIns="0" rIns="0" bIns="0" rtlCol="0" anchor="ctr"/>
          <a:lstStyle/>
          <a:p>
            <a:pPr algn="l" indent="0" marL="0">
              <a:buNone/>
            </a:pPr>
            <a:r>
              <a:rPr lang="en-US" sz="1100" b="1" dirty="0">
                <a:solidFill>
                  <a:srgbClr val="8AA0B2"/>
                </a:solidFill>
                <a:latin typeface="Calibri" pitchFamily="34" charset="0"/>
                <a:ea typeface="Calibri" pitchFamily="34" charset="-122"/>
                <a:cs typeface="Calibri" pitchFamily="34" charset="-120"/>
              </a:rPr>
              <a:t>+0.6</a:t>
            </a:r>
            <a:endParaRPr lang="en-US" sz="1100" dirty="0"/>
          </a:p>
        </p:txBody>
      </p:sp>
      <p:sp>
        <p:nvSpPr>
          <p:cNvPr id="30" name="Text 28"/>
          <p:cNvSpPr/>
          <p:nvPr/>
        </p:nvSpPr>
        <p:spPr>
          <a:xfrm>
            <a:off x="6675120" y="4736592"/>
            <a:ext cx="1737360" cy="36576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Temp. piel</a:t>
            </a:r>
            <a:endParaRPr lang="en-US" sz="1100" dirty="0"/>
          </a:p>
        </p:txBody>
      </p:sp>
      <p:sp>
        <p:nvSpPr>
          <p:cNvPr id="31" name="Shape 29"/>
          <p:cNvSpPr/>
          <p:nvPr/>
        </p:nvSpPr>
        <p:spPr>
          <a:xfrm>
            <a:off x="8641080" y="4846320"/>
            <a:ext cx="911352" cy="201168"/>
          </a:xfrm>
          <a:prstGeom prst="rect">
            <a:avLst/>
          </a:prstGeom>
          <a:solidFill>
            <a:srgbClr val="F0687A"/>
          </a:solidFill>
          <a:ln/>
        </p:spPr>
      </p:sp>
      <p:sp>
        <p:nvSpPr>
          <p:cNvPr id="32" name="Text 30"/>
          <p:cNvSpPr/>
          <p:nvPr/>
        </p:nvSpPr>
        <p:spPr>
          <a:xfrm>
            <a:off x="9598152" y="4736592"/>
            <a:ext cx="640080" cy="365760"/>
          </a:xfrm>
          <a:prstGeom prst="rect">
            <a:avLst/>
          </a:prstGeom>
          <a:noFill/>
          <a:ln/>
        </p:spPr>
        <p:txBody>
          <a:bodyPr wrap="square" lIns="0" tIns="0" rIns="0" bIns="0" rtlCol="0" anchor="ctr"/>
          <a:lstStyle/>
          <a:p>
            <a:pPr algn="l" indent="0" marL="0">
              <a:buNone/>
            </a:pPr>
            <a:r>
              <a:rPr lang="en-US" sz="1100" b="1" dirty="0">
                <a:solidFill>
                  <a:srgbClr val="F0687A"/>
                </a:solidFill>
                <a:latin typeface="Calibri" pitchFamily="34" charset="0"/>
                <a:ea typeface="Calibri" pitchFamily="34" charset="-122"/>
                <a:cs typeface="Calibri" pitchFamily="34" charset="-120"/>
              </a:rPr>
              <a:t>+2.3</a:t>
            </a:r>
            <a:endParaRPr lang="en-US" sz="1100" dirty="0"/>
          </a:p>
        </p:txBody>
      </p:sp>
      <p:sp>
        <p:nvSpPr>
          <p:cNvPr id="33" name="Text 31"/>
          <p:cNvSpPr/>
          <p:nvPr/>
        </p:nvSpPr>
        <p:spPr>
          <a:xfrm>
            <a:off x="6675120" y="5303520"/>
            <a:ext cx="1737360" cy="36576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Ef. sueno</a:t>
            </a:r>
            <a:endParaRPr lang="en-US" sz="1100" dirty="0"/>
          </a:p>
        </p:txBody>
      </p:sp>
      <p:sp>
        <p:nvSpPr>
          <p:cNvPr id="34" name="Shape 32"/>
          <p:cNvSpPr/>
          <p:nvPr/>
        </p:nvSpPr>
        <p:spPr>
          <a:xfrm>
            <a:off x="8482584" y="5413248"/>
            <a:ext cx="158496" cy="201168"/>
          </a:xfrm>
          <a:prstGeom prst="rect">
            <a:avLst/>
          </a:prstGeom>
          <a:solidFill>
            <a:srgbClr val="4FD8C4"/>
          </a:solidFill>
          <a:ln/>
        </p:spPr>
      </p:sp>
      <p:sp>
        <p:nvSpPr>
          <p:cNvPr id="35" name="Text 33"/>
          <p:cNvSpPr/>
          <p:nvPr/>
        </p:nvSpPr>
        <p:spPr>
          <a:xfrm>
            <a:off x="7842504" y="5303520"/>
            <a:ext cx="640080" cy="365760"/>
          </a:xfrm>
          <a:prstGeom prst="rect">
            <a:avLst/>
          </a:prstGeom>
          <a:noFill/>
          <a:ln/>
        </p:spPr>
        <p:txBody>
          <a:bodyPr wrap="square" lIns="0" tIns="0" rIns="0" bIns="0" rtlCol="0" anchor="ctr"/>
          <a:lstStyle/>
          <a:p>
            <a:pPr algn="l" indent="0" marL="0">
              <a:buNone/>
            </a:pPr>
            <a:r>
              <a:rPr lang="en-US" sz="1100" b="1" dirty="0">
                <a:solidFill>
                  <a:srgbClr val="8AA0B2"/>
                </a:solidFill>
                <a:latin typeface="Calibri" pitchFamily="34" charset="0"/>
                <a:ea typeface="Calibri" pitchFamily="34" charset="-122"/>
                <a:cs typeface="Calibri" pitchFamily="34" charset="-120"/>
              </a:rPr>
              <a:t>-0.4</a:t>
            </a:r>
            <a:endParaRPr lang="en-US" sz="1100" dirty="0"/>
          </a:p>
        </p:txBody>
      </p:sp>
      <p:sp>
        <p:nvSpPr>
          <p:cNvPr id="36" name="Text 34"/>
          <p:cNvSpPr/>
          <p:nvPr/>
        </p:nvSpPr>
        <p:spPr>
          <a:xfrm>
            <a:off x="6675120" y="5532120"/>
            <a:ext cx="4663440" cy="457200"/>
          </a:xfrm>
          <a:prstGeom prst="rect">
            <a:avLst/>
          </a:prstGeom>
          <a:noFill/>
          <a:ln/>
        </p:spPr>
        <p:txBody>
          <a:bodyPr wrap="square" lIns="0" tIns="0" rIns="0" bIns="0" rtlCol="0" anchor="ctr"/>
          <a:lstStyle/>
          <a:p>
            <a:pPr indent="0" marL="0">
              <a:buNone/>
            </a:pPr>
            <a:r>
              <a:rPr lang="en-US" sz="1050" i="1" dirty="0">
                <a:solidFill>
                  <a:srgbClr val="8AA0B2"/>
                </a:solidFill>
                <a:latin typeface="Calibri" pitchFamily="34" charset="0"/>
                <a:ea typeface="Calibri" pitchFamily="34" charset="-122"/>
                <a:cs typeface="Calibri" pitchFamily="34" charset="-120"/>
              </a:rPr>
              <a:t>Temp. piel y HRV fuera de rango (|z|&gt;2) → anomalía real, no ruido.</a:t>
            </a:r>
            <a:endParaRPr lang="en-US" sz="1050" dirty="0"/>
          </a:p>
        </p:txBody>
      </p:sp>
      <p:sp>
        <p:nvSpPr>
          <p:cNvPr id="37" name="Text 3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38" name="Text 36"/>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9BA8F2"/>
                </a:solidFill>
                <a:latin typeface="Calibri" pitchFamily="34" charset="0"/>
                <a:ea typeface="Calibri" pitchFamily="34" charset="-122"/>
                <a:cs typeface="Calibri" pitchFamily="34" charset="-120"/>
              </a:rPr>
              <a:t>MODELO 02 · COMPLEJIDAD FISIOLOGICA</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ApEn: cuando el ritmo se vuelve rigido, algo pasa</a:t>
            </a:r>
            <a:endParaRPr lang="en-US" sz="3200" dirty="0"/>
          </a:p>
        </p:txBody>
      </p:sp>
      <p:sp>
        <p:nvSpPr>
          <p:cNvPr id="4" name="Text 2"/>
          <p:cNvSpPr/>
          <p:nvPr/>
        </p:nvSpPr>
        <p:spPr>
          <a:xfrm>
            <a:off x="548640" y="1691640"/>
            <a:ext cx="5577840" cy="2011680"/>
          </a:xfrm>
          <a:prstGeom prst="rect">
            <a:avLst/>
          </a:prstGeom>
          <a:noFill/>
          <a:ln/>
        </p:spPr>
        <p:txBody>
          <a:bodyPr wrap="square" lIns="0" tIns="0" rIns="0" bIns="0" rtlCol="0" anchor="ctr"/>
          <a:lstStyle/>
          <a:p>
            <a:pPr algn="l" indent="0" marL="0">
              <a:lnSpc>
                <a:spcPct val="120000"/>
              </a:lnSpc>
              <a:buNone/>
            </a:pPr>
            <a:r>
              <a:rPr lang="en-US" sz="1500" dirty="0">
                <a:solidFill>
                  <a:srgbClr val="EAF2F5"/>
                </a:solidFill>
                <a:latin typeface="Calibri" pitchFamily="34" charset="0"/>
                <a:ea typeface="Calibri" pitchFamily="34" charset="-122"/>
                <a:cs typeface="Calibri" pitchFamily="34" charset="-120"/>
              </a:rPr>
              <a:t>La Entropia Aproximada mide la complejidad de la serie de HRV/RHR en una ventana movil de 14 dias. Un cuerpo sano es variable y adaptativo; una caida de ApEn señala rigidez del sistema nervioso autotono — una señal temprana que los promedios simples no ven.</a:t>
            </a:r>
            <a:endParaRPr lang="en-US" sz="1500" dirty="0"/>
          </a:p>
        </p:txBody>
      </p:sp>
      <p:sp>
        <p:nvSpPr>
          <p:cNvPr id="5" name="Shape 3"/>
          <p:cNvSpPr/>
          <p:nvPr/>
        </p:nvSpPr>
        <p:spPr>
          <a:xfrm>
            <a:off x="548640" y="3703320"/>
            <a:ext cx="5486400" cy="914400"/>
          </a:xfrm>
          <a:prstGeom prst="roundRect">
            <a:avLst>
              <a:gd name="adj" fmla="val 12000"/>
            </a:avLst>
          </a:prstGeom>
          <a:solidFill>
            <a:srgbClr val="0D1B2A"/>
          </a:solidFill>
          <a:ln w="12700">
            <a:solidFill>
              <a:srgbClr val="9BA8F2"/>
            </a:solidFill>
            <a:prstDash val="solid"/>
          </a:ln>
        </p:spPr>
      </p:sp>
      <p:sp>
        <p:nvSpPr>
          <p:cNvPr id="6" name="Text 4"/>
          <p:cNvSpPr/>
          <p:nvPr/>
        </p:nvSpPr>
        <p:spPr>
          <a:xfrm>
            <a:off x="777240" y="3767328"/>
            <a:ext cx="5029200" cy="822960"/>
          </a:xfrm>
          <a:prstGeom prst="rect">
            <a:avLst/>
          </a:prstGeom>
          <a:noFill/>
          <a:ln/>
        </p:spPr>
        <p:txBody>
          <a:bodyPr wrap="square" lIns="0" tIns="0" rIns="0" bIns="0" rtlCol="0" anchor="ctr"/>
          <a:lstStyle/>
          <a:p>
            <a:pPr algn="l" indent="0" marL="0">
              <a:buNone/>
            </a:pPr>
            <a:r>
              <a:rPr lang="en-US" sz="1050" b="1" spc="100" kern="0" dirty="0">
                <a:solidFill>
                  <a:srgbClr val="9BA8F2"/>
                </a:solidFill>
                <a:latin typeface="Calibri" pitchFamily="34" charset="0"/>
                <a:ea typeface="Calibri" pitchFamily="34" charset="-122"/>
                <a:cs typeface="Calibri" pitchFamily="34" charset="-120"/>
              </a:rPr>
              <a:t>EN PALABRAS SIMPLES  ·  </a:t>
            </a:r>
            <a:pPr algn="l" indent="0" marL="0">
              <a:lnSpc>
                <a:spcPct val="110000"/>
              </a:lnSpc>
              <a:buNone/>
            </a:pPr>
            <a:r>
              <a:rPr lang="en-US" sz="1150" dirty="0">
                <a:solidFill>
                  <a:srgbClr val="EAF2F5"/>
                </a:solidFill>
                <a:latin typeface="Calibri" pitchFamily="34" charset="0"/>
                <a:ea typeface="Calibri" pitchFamily="34" charset="-122"/>
                <a:cs typeface="Calibri" pitchFamily="34" charset="-120"/>
              </a:rPr>
              <a:t>Un cuerpo sano es como una conversacion variada: responde distinto cada dia. Cuando tus latidos se vuelven siempre iguales y 'roboticos', es que el sistema perdio flexibilidad. Eso es justo lo que la entropia mide: cuanta variedad hay en tu ritmo.</a:t>
            </a:r>
            <a:endParaRPr lang="en-US" sz="1050" dirty="0"/>
          </a:p>
        </p:txBody>
      </p:sp>
      <p:sp>
        <p:nvSpPr>
          <p:cNvPr id="7" name="Shape 5"/>
          <p:cNvSpPr/>
          <p:nvPr/>
        </p:nvSpPr>
        <p:spPr>
          <a:xfrm>
            <a:off x="548640" y="4754880"/>
            <a:ext cx="237744" cy="237744"/>
          </a:xfrm>
          <a:prstGeom prst="ellipse">
            <a:avLst/>
          </a:prstGeom>
          <a:solidFill>
            <a:srgbClr val="9BA8F2"/>
          </a:solidFill>
          <a:ln/>
        </p:spPr>
      </p:sp>
      <p:sp>
        <p:nvSpPr>
          <p:cNvPr id="8" name="Text 6"/>
          <p:cNvSpPr/>
          <p:nvPr/>
        </p:nvSpPr>
        <p:spPr>
          <a:xfrm>
            <a:off x="960120" y="4709160"/>
            <a:ext cx="5120640" cy="59436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Captura no-linealidad: algo que la regresion y las medias ignoran</a:t>
            </a:r>
            <a:endParaRPr lang="en-US" sz="1300" dirty="0"/>
          </a:p>
        </p:txBody>
      </p:sp>
      <p:sp>
        <p:nvSpPr>
          <p:cNvPr id="9" name="Shape 7"/>
          <p:cNvSpPr/>
          <p:nvPr/>
        </p:nvSpPr>
        <p:spPr>
          <a:xfrm>
            <a:off x="548640" y="5321808"/>
            <a:ext cx="237744" cy="237744"/>
          </a:xfrm>
          <a:prstGeom prst="ellipse">
            <a:avLst/>
          </a:prstGeom>
          <a:solidFill>
            <a:srgbClr val="9BA8F2"/>
          </a:solidFill>
          <a:ln/>
        </p:spPr>
      </p:sp>
      <p:sp>
        <p:nvSpPr>
          <p:cNvPr id="10" name="Text 8"/>
          <p:cNvSpPr/>
          <p:nvPr/>
        </p:nvSpPr>
        <p:spPr>
          <a:xfrm>
            <a:off x="960120" y="5276088"/>
            <a:ext cx="5120640" cy="59436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Ventana de 14 dias → necesita al menos 2 semanas de datos</a:t>
            </a:r>
            <a:endParaRPr lang="en-US" sz="1300" dirty="0"/>
          </a:p>
        </p:txBody>
      </p:sp>
      <p:sp>
        <p:nvSpPr>
          <p:cNvPr id="11" name="Shape 9"/>
          <p:cNvSpPr/>
          <p:nvPr/>
        </p:nvSpPr>
        <p:spPr>
          <a:xfrm>
            <a:off x="548640" y="5888736"/>
            <a:ext cx="237744" cy="237744"/>
          </a:xfrm>
          <a:prstGeom prst="ellipse">
            <a:avLst/>
          </a:prstGeom>
          <a:solidFill>
            <a:srgbClr val="9BA8F2"/>
          </a:solidFill>
          <a:ln/>
        </p:spPr>
      </p:sp>
      <p:sp>
        <p:nvSpPr>
          <p:cNvPr id="12" name="Text 10"/>
          <p:cNvSpPr/>
          <p:nvPr/>
        </p:nvSpPr>
        <p:spPr>
          <a:xfrm>
            <a:off x="960120" y="5843016"/>
            <a:ext cx="5120640" cy="59436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Aporta hasta 25 puntos cuando la complejidad cae vs. tu propio promedio</a:t>
            </a:r>
            <a:endParaRPr lang="en-US" sz="1300" dirty="0"/>
          </a:p>
        </p:txBody>
      </p:sp>
      <p:sp>
        <p:nvSpPr>
          <p:cNvPr id="13" name="Shape 11"/>
          <p:cNvSpPr/>
          <p:nvPr/>
        </p:nvSpPr>
        <p:spPr>
          <a:xfrm>
            <a:off x="6400800" y="1737360"/>
            <a:ext cx="5212080" cy="4297680"/>
          </a:xfrm>
          <a:prstGeom prst="roundRect">
            <a:avLst>
              <a:gd name="adj" fmla="val 2553"/>
            </a:avLst>
          </a:prstGeom>
          <a:solidFill>
            <a:srgbClr val="0D1B2A"/>
          </a:solidFill>
          <a:ln w="12700">
            <a:solidFill>
              <a:srgbClr val="1D3348"/>
            </a:solidFill>
            <a:prstDash val="solid"/>
          </a:ln>
        </p:spPr>
      </p:sp>
      <p:sp>
        <p:nvSpPr>
          <p:cNvPr id="14" name="Text 12"/>
          <p:cNvSpPr/>
          <p:nvPr/>
        </p:nvSpPr>
        <p:spPr>
          <a:xfrm>
            <a:off x="6675120" y="1920240"/>
            <a:ext cx="4572000" cy="365760"/>
          </a:xfrm>
          <a:prstGeom prst="rect">
            <a:avLst/>
          </a:prstGeom>
          <a:noFill/>
          <a:ln/>
        </p:spPr>
        <p:txBody>
          <a:bodyPr wrap="square" lIns="0" tIns="0" rIns="0" bIns="0" rtlCol="0" anchor="ctr"/>
          <a:lstStyle/>
          <a:p>
            <a:pPr indent="0" marL="0">
              <a:buNone/>
            </a:pPr>
            <a:r>
              <a:rPr lang="en-US" sz="1200" b="1" dirty="0">
                <a:solidFill>
                  <a:srgbClr val="8AA0B2"/>
                </a:solidFill>
                <a:latin typeface="Calibri" pitchFamily="34" charset="0"/>
                <a:ea typeface="Calibri" pitchFamily="34" charset="-122"/>
                <a:cs typeface="Calibri" pitchFamily="34" charset="-120"/>
              </a:rPr>
              <a:t>ApEn de HRV a lo largo del tiempo</a:t>
            </a:r>
            <a:endParaRPr lang="en-US" sz="1200" dirty="0"/>
          </a:p>
        </p:txBody>
      </p:sp>
      <p:sp>
        <p:nvSpPr>
          <p:cNvPr id="15" name="Shape 13"/>
          <p:cNvSpPr/>
          <p:nvPr/>
        </p:nvSpPr>
        <p:spPr>
          <a:xfrm>
            <a:off x="6766560" y="2377440"/>
            <a:ext cx="4572000" cy="3291840"/>
          </a:xfrm>
          <a:prstGeom prst="line">
            <a:avLst/>
          </a:prstGeom>
          <a:noFill/>
          <a:ln w="12700">
            <a:solidFill>
              <a:srgbClr val="152840"/>
            </a:solidFill>
            <a:prstDash val="dash"/>
          </a:ln>
        </p:spPr>
      </p:sp>
      <p:sp>
        <p:nvSpPr>
          <p:cNvPr id="16" name="Shape 14"/>
          <p:cNvSpPr/>
          <p:nvPr/>
        </p:nvSpPr>
        <p:spPr>
          <a:xfrm>
            <a:off x="6766560" y="2377440"/>
            <a:ext cx="4572000" cy="3291840"/>
          </a:xfrm>
          <a:prstGeom prst="line">
            <a:avLst/>
          </a:prstGeom>
          <a:noFill/>
          <a:ln w="31750">
            <a:solidFill>
              <a:srgbClr val="9BA8F2"/>
            </a:solidFill>
            <a:prstDash val="solid"/>
          </a:ln>
        </p:spPr>
      </p:sp>
      <p:sp>
        <p:nvSpPr>
          <p:cNvPr id="17" name="Text 15"/>
          <p:cNvSpPr/>
          <p:nvPr/>
        </p:nvSpPr>
        <p:spPr>
          <a:xfrm>
            <a:off x="6675120" y="5532120"/>
            <a:ext cx="4663440" cy="457200"/>
          </a:xfrm>
          <a:prstGeom prst="rect">
            <a:avLst/>
          </a:prstGeom>
          <a:noFill/>
          <a:ln/>
        </p:spPr>
        <p:txBody>
          <a:bodyPr wrap="square" lIns="0" tIns="0" rIns="0" bIns="0" rtlCol="0" anchor="ctr"/>
          <a:lstStyle/>
          <a:p>
            <a:pPr indent="0" marL="0">
              <a:buNone/>
            </a:pPr>
            <a:r>
              <a:rPr lang="en-US" sz="1050" i="1" dirty="0">
                <a:solidFill>
                  <a:srgbClr val="8AA0B2"/>
                </a:solidFill>
                <a:latin typeface="Calibri" pitchFamily="34" charset="0"/>
                <a:ea typeface="Calibri" pitchFamily="34" charset="-122"/>
                <a:cs typeface="Calibri" pitchFamily="34" charset="-120"/>
              </a:rPr>
              <a:t>HRV mas rigido (menor ApEn) en las ultimas semanas → perdida de adaptabilidad.</a:t>
            </a:r>
            <a:endParaRPr lang="en-US" sz="1050" dirty="0"/>
          </a:p>
        </p:txBody>
      </p:sp>
      <p:sp>
        <p:nvSpPr>
          <p:cNvPr id="18" name="Text 1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19" name="Text 17"/>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F2B84B"/>
                </a:solidFill>
                <a:latin typeface="Calibri" pitchFamily="34" charset="0"/>
                <a:ea typeface="Calibri" pitchFamily="34" charset="-122"/>
                <a:cs typeface="Calibri" pitchFamily="34" charset="-120"/>
              </a:rPr>
              <a:t>MODELO 03 · MACHINE LEARNING</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Random Forest: aprende que variable importa</a:t>
            </a:r>
            <a:endParaRPr lang="en-US" sz="3200" dirty="0"/>
          </a:p>
        </p:txBody>
      </p:sp>
      <p:sp>
        <p:nvSpPr>
          <p:cNvPr id="4" name="Text 2"/>
          <p:cNvSpPr/>
          <p:nvPr/>
        </p:nvSpPr>
        <p:spPr>
          <a:xfrm>
            <a:off x="548640" y="1691640"/>
            <a:ext cx="4937760" cy="1463040"/>
          </a:xfrm>
          <a:prstGeom prst="rect">
            <a:avLst/>
          </a:prstGeom>
          <a:noFill/>
          <a:ln/>
        </p:spPr>
        <p:txBody>
          <a:bodyPr wrap="square" lIns="0" tIns="0" rIns="0" bIns="0" rtlCol="0" anchor="ctr"/>
          <a:lstStyle/>
          <a:p>
            <a:pPr algn="l" indent="0" marL="0">
              <a:lnSpc>
                <a:spcPct val="120000"/>
              </a:lnSpc>
              <a:buNone/>
            </a:pPr>
            <a:r>
              <a:rPr lang="en-US" sz="1500" dirty="0">
                <a:solidFill>
                  <a:srgbClr val="EAF2F5"/>
                </a:solidFill>
                <a:latin typeface="Calibri" pitchFamily="34" charset="0"/>
                <a:ea typeface="Calibri" pitchFamily="34" charset="-122"/>
                <a:cs typeface="Calibri" pitchFamily="34" charset="-120"/>
              </a:rPr>
              <a:t>Entrenamos un Random Forest (150 arboles, balanced) sobre 100k registros de wearable. No solo predice: nos dice que variables son mas predictivas, validando la intuicion clinica.</a:t>
            </a:r>
            <a:endParaRPr lang="en-US" sz="1500" dirty="0"/>
          </a:p>
        </p:txBody>
      </p:sp>
      <p:sp>
        <p:nvSpPr>
          <p:cNvPr id="5" name="Shape 3"/>
          <p:cNvSpPr/>
          <p:nvPr/>
        </p:nvSpPr>
        <p:spPr>
          <a:xfrm>
            <a:off x="548640" y="3246120"/>
            <a:ext cx="4937760" cy="960120"/>
          </a:xfrm>
          <a:prstGeom prst="roundRect">
            <a:avLst>
              <a:gd name="adj" fmla="val 11429"/>
            </a:avLst>
          </a:prstGeom>
          <a:solidFill>
            <a:srgbClr val="0D1B2A"/>
          </a:solidFill>
          <a:ln w="12700">
            <a:solidFill>
              <a:srgbClr val="F2B84B"/>
            </a:solidFill>
            <a:prstDash val="solid"/>
          </a:ln>
        </p:spPr>
      </p:sp>
      <p:sp>
        <p:nvSpPr>
          <p:cNvPr id="6" name="Text 4"/>
          <p:cNvSpPr/>
          <p:nvPr/>
        </p:nvSpPr>
        <p:spPr>
          <a:xfrm>
            <a:off x="749808" y="3310128"/>
            <a:ext cx="4572000" cy="868680"/>
          </a:xfrm>
          <a:prstGeom prst="rect">
            <a:avLst/>
          </a:prstGeom>
          <a:noFill/>
          <a:ln/>
        </p:spPr>
        <p:txBody>
          <a:bodyPr wrap="square" lIns="0" tIns="0" rIns="0" bIns="0" rtlCol="0" anchor="ctr"/>
          <a:lstStyle/>
          <a:p>
            <a:pPr algn="l" indent="0" marL="0">
              <a:buNone/>
            </a:pPr>
            <a:r>
              <a:rPr lang="en-US" sz="1050" b="1" spc="100" kern="0" dirty="0">
                <a:solidFill>
                  <a:srgbClr val="F2B84B"/>
                </a:solidFill>
                <a:latin typeface="Calibri" pitchFamily="34" charset="0"/>
                <a:ea typeface="Calibri" pitchFamily="34" charset="-122"/>
                <a:cs typeface="Calibri" pitchFamily="34" charset="-120"/>
              </a:rPr>
              <a:t>EN PALABRAS SIMPLES  ·  </a:t>
            </a:r>
            <a:pPr algn="l" indent="0" marL="0">
              <a:lnSpc>
                <a:spcPct val="110000"/>
              </a:lnSpc>
              <a:buNone/>
            </a:pPr>
            <a:r>
              <a:rPr lang="en-US" sz="1150" dirty="0">
                <a:solidFill>
                  <a:srgbClr val="EAF2F5"/>
                </a:solidFill>
                <a:latin typeface="Calibri" pitchFamily="34" charset="0"/>
                <a:ea typeface="Calibri" pitchFamily="34" charset="-122"/>
                <a:cs typeface="Calibri" pitchFamily="34" charset="-120"/>
              </a:rPr>
              <a:t>Es como preguntar a 150 expertos (cada 'arbol' mira solo unas pocas variables) y votar en grupo. Como ninguno ve todo, entre todos no se dejan enganar por el ruido ni por una casualidad. Y al votar, nos dicen cuales variables pesaron mas.</a:t>
            </a:r>
            <a:endParaRPr lang="en-US" sz="1050" dirty="0"/>
          </a:p>
        </p:txBody>
      </p:sp>
      <p:sp>
        <p:nvSpPr>
          <p:cNvPr id="7" name="Shape 5"/>
          <p:cNvSpPr/>
          <p:nvPr/>
        </p:nvSpPr>
        <p:spPr>
          <a:xfrm>
            <a:off x="548640" y="4389120"/>
            <a:ext cx="237744" cy="237744"/>
          </a:xfrm>
          <a:prstGeom prst="ellipse">
            <a:avLst/>
          </a:prstGeom>
          <a:solidFill>
            <a:srgbClr val="F2B84B"/>
          </a:solidFill>
          <a:ln/>
        </p:spPr>
      </p:sp>
      <p:sp>
        <p:nvSpPr>
          <p:cNvPr id="8" name="Text 6"/>
          <p:cNvSpPr/>
          <p:nvPr/>
        </p:nvSpPr>
        <p:spPr>
          <a:xfrm>
            <a:off x="960120" y="4343400"/>
            <a:ext cx="4572000" cy="54864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ROC-AUC 0.69 en el set de produccion</a:t>
            </a:r>
            <a:endParaRPr lang="en-US" sz="1300" dirty="0"/>
          </a:p>
        </p:txBody>
      </p:sp>
      <p:sp>
        <p:nvSpPr>
          <p:cNvPr id="9" name="Shape 7"/>
          <p:cNvSpPr/>
          <p:nvPr/>
        </p:nvSpPr>
        <p:spPr>
          <a:xfrm>
            <a:off x="548640" y="4956048"/>
            <a:ext cx="237744" cy="237744"/>
          </a:xfrm>
          <a:prstGeom prst="ellipse">
            <a:avLst/>
          </a:prstGeom>
          <a:solidFill>
            <a:srgbClr val="F2B84B"/>
          </a:solidFill>
          <a:ln/>
        </p:spPr>
      </p:sp>
      <p:sp>
        <p:nvSpPr>
          <p:cNvPr id="10" name="Text 8"/>
          <p:cNvSpPr/>
          <p:nvPr/>
        </p:nvSpPr>
        <p:spPr>
          <a:xfrm>
            <a:off x="960120" y="4910328"/>
            <a:ext cx="4572000" cy="54864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Bagging de arboles: robusto y estable</a:t>
            </a:r>
            <a:endParaRPr lang="en-US" sz="1300" dirty="0"/>
          </a:p>
        </p:txBody>
      </p:sp>
      <p:sp>
        <p:nvSpPr>
          <p:cNvPr id="11" name="Shape 9"/>
          <p:cNvSpPr/>
          <p:nvPr/>
        </p:nvSpPr>
        <p:spPr>
          <a:xfrm>
            <a:off x="548640" y="5522976"/>
            <a:ext cx="237744" cy="237744"/>
          </a:xfrm>
          <a:prstGeom prst="ellipse">
            <a:avLst/>
          </a:prstGeom>
          <a:solidFill>
            <a:srgbClr val="F2B84B"/>
          </a:solidFill>
          <a:ln/>
        </p:spPr>
      </p:sp>
      <p:sp>
        <p:nvSpPr>
          <p:cNvPr id="12" name="Text 10"/>
          <p:cNvSpPr/>
          <p:nvPr/>
        </p:nvSpPr>
        <p:spPr>
          <a:xfrm>
            <a:off x="960120" y="5477256"/>
            <a:ext cx="4572000" cy="54864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Explicable via importancia de variables (Gini)</a:t>
            </a:r>
            <a:endParaRPr lang="en-US" sz="1300" dirty="0"/>
          </a:p>
        </p:txBody>
      </p:sp>
      <p:pic>
        <p:nvPicPr>
          <p:cNvPr id="13" name="Image 0" descr="C:\Users\ecard\Desktop\BIOPULSE PROYECTO CIENCIA DE DATOS\files\feature_importance_rf.png">    </p:cNvPr>
          <p:cNvPicPr>
            <a:picLocks noChangeAspect="1"/>
          </p:cNvPicPr>
          <p:nvPr/>
        </p:nvPicPr>
        <p:blipFill>
          <a:blip r:embed="rId1"/>
          <a:stretch>
            <a:fillRect/>
          </a:stretch>
        </p:blipFill>
        <p:spPr>
          <a:xfrm>
            <a:off x="5852160" y="1783080"/>
            <a:ext cx="5852160" cy="4023360"/>
          </a:xfrm>
          <a:prstGeom prst="rect">
            <a:avLst/>
          </a:prstGeom>
        </p:spPr>
      </p:pic>
      <p:sp>
        <p:nvSpPr>
          <p:cNvPr id="14" name="Text 11"/>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15" name="Text 12"/>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RIGOR TECNICO</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No elegimos RF a ciegas: comparamos 3 algoritmos</a:t>
            </a:r>
            <a:endParaRPr lang="en-US" sz="3200" dirty="0"/>
          </a:p>
        </p:txBody>
      </p:sp>
      <p:sp>
        <p:nvSpPr>
          <p:cNvPr id="4" name="Shape 2"/>
          <p:cNvSpPr/>
          <p:nvPr/>
        </p:nvSpPr>
        <p:spPr>
          <a:xfrm>
            <a:off x="548640" y="1828800"/>
            <a:ext cx="11064240" cy="1143000"/>
          </a:xfrm>
          <a:prstGeom prst="roundRect">
            <a:avLst>
              <a:gd name="adj" fmla="val 9600"/>
            </a:avLst>
          </a:prstGeom>
          <a:solidFill>
            <a:srgbClr val="101F30"/>
          </a:solidFill>
          <a:ln w="12700">
            <a:solidFill>
              <a:srgbClr val="1D3348"/>
            </a:solidFill>
            <a:prstDash val="solid"/>
          </a:ln>
        </p:spPr>
      </p:sp>
      <p:sp>
        <p:nvSpPr>
          <p:cNvPr id="5" name="Shape 3"/>
          <p:cNvSpPr/>
          <p:nvPr/>
        </p:nvSpPr>
        <p:spPr>
          <a:xfrm>
            <a:off x="822960" y="2121408"/>
            <a:ext cx="548640" cy="548640"/>
          </a:xfrm>
          <a:prstGeom prst="ellipse">
            <a:avLst/>
          </a:prstGeom>
          <a:solidFill>
            <a:srgbClr val="9BA8F2"/>
          </a:solidFill>
          <a:ln/>
        </p:spPr>
      </p:sp>
      <p:sp>
        <p:nvSpPr>
          <p:cNvPr id="6" name="Text 4"/>
          <p:cNvSpPr/>
          <p:nvPr/>
        </p:nvSpPr>
        <p:spPr>
          <a:xfrm>
            <a:off x="1554480" y="2011680"/>
            <a:ext cx="3108960" cy="457200"/>
          </a:xfrm>
          <a:prstGeom prst="rect">
            <a:avLst/>
          </a:prstGeom>
          <a:noFill/>
          <a:ln/>
        </p:spPr>
        <p:txBody>
          <a:bodyPr wrap="square" lIns="0" tIns="0" rIns="0" bIns="0" rtlCol="0" anchor="ctr"/>
          <a:lstStyle/>
          <a:p>
            <a:pPr indent="0" marL="0">
              <a:buNone/>
            </a:pPr>
            <a:r>
              <a:rPr lang="en-US" sz="1600" b="1" dirty="0">
                <a:solidFill>
                  <a:srgbClr val="EAF2F5"/>
                </a:solidFill>
                <a:latin typeface="Cambria" pitchFamily="34" charset="0"/>
                <a:ea typeface="Cambria" pitchFamily="34" charset="-122"/>
                <a:cs typeface="Cambria" pitchFamily="34" charset="-120"/>
              </a:rPr>
              <a:t>Regresion Logistica</a:t>
            </a:r>
            <a:endParaRPr lang="en-US" sz="1600" dirty="0"/>
          </a:p>
        </p:txBody>
      </p:sp>
      <p:sp>
        <p:nvSpPr>
          <p:cNvPr id="7" name="Text 5"/>
          <p:cNvSpPr/>
          <p:nvPr/>
        </p:nvSpPr>
        <p:spPr>
          <a:xfrm>
            <a:off x="1554480" y="2468880"/>
            <a:ext cx="3108960" cy="365760"/>
          </a:xfrm>
          <a:prstGeom prst="rect">
            <a:avLst/>
          </a:prstGeom>
          <a:noFill/>
          <a:ln/>
        </p:spPr>
        <p:txBody>
          <a:bodyPr wrap="square" lIns="0" tIns="0" rIns="0" bIns="0" rtlCol="0" anchor="ctr"/>
          <a:lstStyle/>
          <a:p>
            <a:pPr indent="0" marL="0">
              <a:buNone/>
            </a:pPr>
            <a:r>
              <a:rPr lang="en-US" sz="1100" b="1" spc="100" kern="0" dirty="0">
                <a:solidFill>
                  <a:srgbClr val="9BA8F2"/>
                </a:solidFill>
                <a:latin typeface="Calibri" pitchFamily="34" charset="0"/>
                <a:ea typeface="Calibri" pitchFamily="34" charset="-122"/>
                <a:cs typeface="Calibri" pitchFamily="34" charset="-120"/>
              </a:rPr>
              <a:t>BASELINE LINEAL</a:t>
            </a:r>
            <a:endParaRPr lang="en-US" sz="1100" dirty="0"/>
          </a:p>
        </p:txBody>
      </p:sp>
      <p:sp>
        <p:nvSpPr>
          <p:cNvPr id="8" name="Text 6"/>
          <p:cNvSpPr/>
          <p:nvPr/>
        </p:nvSpPr>
        <p:spPr>
          <a:xfrm>
            <a:off x="4846320" y="2011680"/>
            <a:ext cx="1097280" cy="32004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ROC-AUC</a:t>
            </a:r>
            <a:endParaRPr lang="en-US" sz="1100" dirty="0"/>
          </a:p>
        </p:txBody>
      </p:sp>
      <p:sp>
        <p:nvSpPr>
          <p:cNvPr id="9" name="Text 7"/>
          <p:cNvSpPr/>
          <p:nvPr/>
        </p:nvSpPr>
        <p:spPr>
          <a:xfrm>
            <a:off x="4846320" y="2286000"/>
            <a:ext cx="1280160" cy="548640"/>
          </a:xfrm>
          <a:prstGeom prst="rect">
            <a:avLst/>
          </a:prstGeom>
          <a:noFill/>
          <a:ln/>
        </p:spPr>
        <p:txBody>
          <a:bodyPr wrap="square" lIns="0" tIns="0" rIns="0" bIns="0" rtlCol="0" anchor="ctr"/>
          <a:lstStyle/>
          <a:p>
            <a:pPr indent="0" marL="0">
              <a:buNone/>
            </a:pPr>
            <a:r>
              <a:rPr lang="en-US" sz="2600" b="1" dirty="0">
                <a:solidFill>
                  <a:srgbClr val="EAF2F5"/>
                </a:solidFill>
                <a:latin typeface="Cambria" pitchFamily="34" charset="0"/>
                <a:ea typeface="Cambria" pitchFamily="34" charset="-122"/>
                <a:cs typeface="Cambria" pitchFamily="34" charset="-120"/>
              </a:rPr>
              <a:t>0.65</a:t>
            </a:r>
            <a:endParaRPr lang="en-US" sz="2600" dirty="0"/>
          </a:p>
        </p:txBody>
      </p:sp>
      <p:sp>
        <p:nvSpPr>
          <p:cNvPr id="10" name="Text 8"/>
          <p:cNvSpPr/>
          <p:nvPr/>
        </p:nvSpPr>
        <p:spPr>
          <a:xfrm>
            <a:off x="6400800" y="2011680"/>
            <a:ext cx="4937760" cy="822960"/>
          </a:xfrm>
          <a:prstGeom prst="rect">
            <a:avLst/>
          </a:prstGeom>
          <a:noFill/>
          <a:ln/>
        </p:spPr>
        <p:txBody>
          <a:bodyPr wrap="square" lIns="0" tIns="0" rIns="0" bIns="0" rtlCol="0" anchor="ctr"/>
          <a:lstStyle/>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Confirma que el problema NO es lineal</a:t>
            </a:r>
            <a:endParaRPr lang="en-US" sz="1300" dirty="0"/>
          </a:p>
        </p:txBody>
      </p:sp>
      <p:sp>
        <p:nvSpPr>
          <p:cNvPr id="11" name="Shape 9"/>
          <p:cNvSpPr/>
          <p:nvPr/>
        </p:nvSpPr>
        <p:spPr>
          <a:xfrm>
            <a:off x="548640" y="3108960"/>
            <a:ext cx="11064240" cy="1143000"/>
          </a:xfrm>
          <a:prstGeom prst="roundRect">
            <a:avLst>
              <a:gd name="adj" fmla="val 9600"/>
            </a:avLst>
          </a:prstGeom>
          <a:solidFill>
            <a:srgbClr val="0D1B2A"/>
          </a:solidFill>
          <a:ln w="12700">
            <a:solidFill>
              <a:srgbClr val="4FD8C4"/>
            </a:solidFill>
            <a:prstDash val="solid"/>
          </a:ln>
        </p:spPr>
      </p:sp>
      <p:sp>
        <p:nvSpPr>
          <p:cNvPr id="12" name="Shape 10"/>
          <p:cNvSpPr/>
          <p:nvPr/>
        </p:nvSpPr>
        <p:spPr>
          <a:xfrm>
            <a:off x="822960" y="3401568"/>
            <a:ext cx="548640" cy="548640"/>
          </a:xfrm>
          <a:prstGeom prst="ellipse">
            <a:avLst/>
          </a:prstGeom>
          <a:solidFill>
            <a:srgbClr val="4FD8C4"/>
          </a:solidFill>
          <a:ln/>
        </p:spPr>
      </p:sp>
      <p:sp>
        <p:nvSpPr>
          <p:cNvPr id="13" name="Text 11"/>
          <p:cNvSpPr/>
          <p:nvPr/>
        </p:nvSpPr>
        <p:spPr>
          <a:xfrm>
            <a:off x="1554480" y="3291840"/>
            <a:ext cx="3108960" cy="457200"/>
          </a:xfrm>
          <a:prstGeom prst="rect">
            <a:avLst/>
          </a:prstGeom>
          <a:noFill/>
          <a:ln/>
        </p:spPr>
        <p:txBody>
          <a:bodyPr wrap="square" lIns="0" tIns="0" rIns="0" bIns="0" rtlCol="0" anchor="ctr"/>
          <a:lstStyle/>
          <a:p>
            <a:pPr indent="0" marL="0">
              <a:buNone/>
            </a:pPr>
            <a:r>
              <a:rPr lang="en-US" sz="1600" b="1" dirty="0">
                <a:solidFill>
                  <a:srgbClr val="EAF2F5"/>
                </a:solidFill>
                <a:latin typeface="Cambria" pitchFamily="34" charset="0"/>
                <a:ea typeface="Cambria" pitchFamily="34" charset="-122"/>
                <a:cs typeface="Cambria" pitchFamily="34" charset="-120"/>
              </a:rPr>
              <a:t>Random Forest</a:t>
            </a:r>
            <a:endParaRPr lang="en-US" sz="1600" dirty="0"/>
          </a:p>
        </p:txBody>
      </p:sp>
      <p:sp>
        <p:nvSpPr>
          <p:cNvPr id="14" name="Text 12"/>
          <p:cNvSpPr/>
          <p:nvPr/>
        </p:nvSpPr>
        <p:spPr>
          <a:xfrm>
            <a:off x="1554480" y="3749040"/>
            <a:ext cx="3108960" cy="365760"/>
          </a:xfrm>
          <a:prstGeom prst="rect">
            <a:avLst/>
          </a:prstGeom>
          <a:noFill/>
          <a:ln/>
        </p:spPr>
        <p:txBody>
          <a:bodyPr wrap="square" lIns="0" tIns="0" rIns="0" bIns="0" rtlCol="0" anchor="ctr"/>
          <a:lstStyle/>
          <a:p>
            <a:pPr indent="0" marL="0">
              <a:buNone/>
            </a:pPr>
            <a:r>
              <a:rPr lang="en-US" sz="1100" b="1" spc="100" kern="0" dirty="0">
                <a:solidFill>
                  <a:srgbClr val="4FD8C4"/>
                </a:solidFill>
                <a:latin typeface="Calibri" pitchFamily="34" charset="0"/>
                <a:ea typeface="Calibri" pitchFamily="34" charset="-122"/>
                <a:cs typeface="Calibri" pitchFamily="34" charset="-120"/>
              </a:rPr>
              <a:t>ELEGIDO (PRODUCCION)</a:t>
            </a:r>
            <a:endParaRPr lang="en-US" sz="1100" dirty="0"/>
          </a:p>
        </p:txBody>
      </p:sp>
      <p:sp>
        <p:nvSpPr>
          <p:cNvPr id="15" name="Text 13"/>
          <p:cNvSpPr/>
          <p:nvPr/>
        </p:nvSpPr>
        <p:spPr>
          <a:xfrm>
            <a:off x="4846320" y="3291840"/>
            <a:ext cx="1097280" cy="32004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ROC-AUC</a:t>
            </a:r>
            <a:endParaRPr lang="en-US" sz="1100" dirty="0"/>
          </a:p>
        </p:txBody>
      </p:sp>
      <p:sp>
        <p:nvSpPr>
          <p:cNvPr id="16" name="Text 14"/>
          <p:cNvSpPr/>
          <p:nvPr/>
        </p:nvSpPr>
        <p:spPr>
          <a:xfrm>
            <a:off x="4846320" y="3566160"/>
            <a:ext cx="1280160" cy="548640"/>
          </a:xfrm>
          <a:prstGeom prst="rect">
            <a:avLst/>
          </a:prstGeom>
          <a:noFill/>
          <a:ln/>
        </p:spPr>
        <p:txBody>
          <a:bodyPr wrap="square" lIns="0" tIns="0" rIns="0" bIns="0" rtlCol="0" anchor="ctr"/>
          <a:lstStyle/>
          <a:p>
            <a:pPr indent="0" marL="0">
              <a:buNone/>
            </a:pPr>
            <a:r>
              <a:rPr lang="en-US" sz="2600" b="1" dirty="0">
                <a:solidFill>
                  <a:srgbClr val="EAF2F5"/>
                </a:solidFill>
                <a:latin typeface="Cambria" pitchFamily="34" charset="0"/>
                <a:ea typeface="Cambria" pitchFamily="34" charset="-122"/>
                <a:cs typeface="Cambria" pitchFamily="34" charset="-120"/>
              </a:rPr>
              <a:t>0.66</a:t>
            </a:r>
            <a:endParaRPr lang="en-US" sz="2600" dirty="0"/>
          </a:p>
        </p:txBody>
      </p:sp>
      <p:sp>
        <p:nvSpPr>
          <p:cNvPr id="17" name="Text 15"/>
          <p:cNvSpPr/>
          <p:nvPr/>
        </p:nvSpPr>
        <p:spPr>
          <a:xfrm>
            <a:off x="6400800" y="3291840"/>
            <a:ext cx="4937760" cy="822960"/>
          </a:xfrm>
          <a:prstGeom prst="rect">
            <a:avLst/>
          </a:prstGeom>
          <a:noFill/>
          <a:ln/>
        </p:spPr>
        <p:txBody>
          <a:bodyPr wrap="square" lIns="0" tIns="0" rIns="0" bIns="0" rtlCol="0" anchor="ctr"/>
          <a:lstStyle/>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Mejor recall: no deja pasar riesgo real</a:t>
            </a:r>
            <a:endParaRPr lang="en-US" sz="1300" dirty="0"/>
          </a:p>
        </p:txBody>
      </p:sp>
      <p:sp>
        <p:nvSpPr>
          <p:cNvPr id="18" name="Shape 16"/>
          <p:cNvSpPr/>
          <p:nvPr/>
        </p:nvSpPr>
        <p:spPr>
          <a:xfrm>
            <a:off x="548640" y="4389120"/>
            <a:ext cx="11064240" cy="1143000"/>
          </a:xfrm>
          <a:prstGeom prst="roundRect">
            <a:avLst>
              <a:gd name="adj" fmla="val 9600"/>
            </a:avLst>
          </a:prstGeom>
          <a:solidFill>
            <a:srgbClr val="101F30"/>
          </a:solidFill>
          <a:ln w="12700">
            <a:solidFill>
              <a:srgbClr val="1D3348"/>
            </a:solidFill>
            <a:prstDash val="solid"/>
          </a:ln>
        </p:spPr>
      </p:sp>
      <p:sp>
        <p:nvSpPr>
          <p:cNvPr id="19" name="Shape 17"/>
          <p:cNvSpPr/>
          <p:nvPr/>
        </p:nvSpPr>
        <p:spPr>
          <a:xfrm>
            <a:off x="822960" y="4681728"/>
            <a:ext cx="548640" cy="548640"/>
          </a:xfrm>
          <a:prstGeom prst="ellipse">
            <a:avLst/>
          </a:prstGeom>
          <a:solidFill>
            <a:srgbClr val="F2B84B"/>
          </a:solidFill>
          <a:ln/>
        </p:spPr>
      </p:sp>
      <p:sp>
        <p:nvSpPr>
          <p:cNvPr id="20" name="Text 18"/>
          <p:cNvSpPr/>
          <p:nvPr/>
        </p:nvSpPr>
        <p:spPr>
          <a:xfrm>
            <a:off x="1554480" y="4572000"/>
            <a:ext cx="3108960" cy="457200"/>
          </a:xfrm>
          <a:prstGeom prst="rect">
            <a:avLst/>
          </a:prstGeom>
          <a:noFill/>
          <a:ln/>
        </p:spPr>
        <p:txBody>
          <a:bodyPr wrap="square" lIns="0" tIns="0" rIns="0" bIns="0" rtlCol="0" anchor="ctr"/>
          <a:lstStyle/>
          <a:p>
            <a:pPr indent="0" marL="0">
              <a:buNone/>
            </a:pPr>
            <a:r>
              <a:rPr lang="en-US" sz="1600" b="1" dirty="0">
                <a:solidFill>
                  <a:srgbClr val="EAF2F5"/>
                </a:solidFill>
                <a:latin typeface="Cambria" pitchFamily="34" charset="0"/>
                <a:ea typeface="Cambria" pitchFamily="34" charset="-122"/>
                <a:cs typeface="Cambria" pitchFamily="34" charset="-120"/>
              </a:rPr>
              <a:t>Gradient Boosting</a:t>
            </a:r>
            <a:endParaRPr lang="en-US" sz="1600" dirty="0"/>
          </a:p>
        </p:txBody>
      </p:sp>
      <p:sp>
        <p:nvSpPr>
          <p:cNvPr id="21" name="Text 19"/>
          <p:cNvSpPr/>
          <p:nvPr/>
        </p:nvSpPr>
        <p:spPr>
          <a:xfrm>
            <a:off x="1554480" y="5029200"/>
            <a:ext cx="3108960" cy="365760"/>
          </a:xfrm>
          <a:prstGeom prst="rect">
            <a:avLst/>
          </a:prstGeom>
          <a:noFill/>
          <a:ln/>
        </p:spPr>
        <p:txBody>
          <a:bodyPr wrap="square" lIns="0" tIns="0" rIns="0" bIns="0" rtlCol="0" anchor="ctr"/>
          <a:lstStyle/>
          <a:p>
            <a:pPr indent="0" marL="0">
              <a:buNone/>
            </a:pPr>
            <a:r>
              <a:rPr lang="en-US" sz="1100" b="1" spc="100" kern="0" dirty="0">
                <a:solidFill>
                  <a:srgbClr val="F2B84B"/>
                </a:solidFill>
                <a:latin typeface="Calibri" pitchFamily="34" charset="0"/>
                <a:ea typeface="Calibri" pitchFamily="34" charset="-122"/>
                <a:cs typeface="Calibri" pitchFamily="34" charset="-120"/>
              </a:rPr>
              <a:t>ALTERNATIVA BOOSTING</a:t>
            </a:r>
            <a:endParaRPr lang="en-US" sz="1100" dirty="0"/>
          </a:p>
        </p:txBody>
      </p:sp>
      <p:sp>
        <p:nvSpPr>
          <p:cNvPr id="22" name="Text 20"/>
          <p:cNvSpPr/>
          <p:nvPr/>
        </p:nvSpPr>
        <p:spPr>
          <a:xfrm>
            <a:off x="4846320" y="4572000"/>
            <a:ext cx="1097280" cy="320040"/>
          </a:xfrm>
          <a:prstGeom prst="rect">
            <a:avLst/>
          </a:prstGeom>
          <a:noFill/>
          <a:ln/>
        </p:spPr>
        <p:txBody>
          <a:bodyPr wrap="square" lIns="0" tIns="0" rIns="0" bIns="0" rtlCol="0" anchor="ctr"/>
          <a:lstStyle/>
          <a:p>
            <a:pPr indent="0" marL="0">
              <a:buNone/>
            </a:pPr>
            <a:r>
              <a:rPr lang="en-US" sz="1100" dirty="0">
                <a:solidFill>
                  <a:srgbClr val="8AA0B2"/>
                </a:solidFill>
                <a:latin typeface="Calibri" pitchFamily="34" charset="0"/>
                <a:ea typeface="Calibri" pitchFamily="34" charset="-122"/>
                <a:cs typeface="Calibri" pitchFamily="34" charset="-120"/>
              </a:rPr>
              <a:t>ROC-AUC</a:t>
            </a:r>
            <a:endParaRPr lang="en-US" sz="1100" dirty="0"/>
          </a:p>
        </p:txBody>
      </p:sp>
      <p:sp>
        <p:nvSpPr>
          <p:cNvPr id="23" name="Text 21"/>
          <p:cNvSpPr/>
          <p:nvPr/>
        </p:nvSpPr>
        <p:spPr>
          <a:xfrm>
            <a:off x="4846320" y="4846320"/>
            <a:ext cx="1280160" cy="548640"/>
          </a:xfrm>
          <a:prstGeom prst="rect">
            <a:avLst/>
          </a:prstGeom>
          <a:noFill/>
          <a:ln/>
        </p:spPr>
        <p:txBody>
          <a:bodyPr wrap="square" lIns="0" tIns="0" rIns="0" bIns="0" rtlCol="0" anchor="ctr"/>
          <a:lstStyle/>
          <a:p>
            <a:pPr indent="0" marL="0">
              <a:buNone/>
            </a:pPr>
            <a:r>
              <a:rPr lang="en-US" sz="2600" b="1" dirty="0">
                <a:solidFill>
                  <a:srgbClr val="EAF2F5"/>
                </a:solidFill>
                <a:latin typeface="Cambria" pitchFamily="34" charset="0"/>
                <a:ea typeface="Cambria" pitchFamily="34" charset="-122"/>
                <a:cs typeface="Cambria" pitchFamily="34" charset="-120"/>
              </a:rPr>
              <a:t>0.69</a:t>
            </a:r>
            <a:endParaRPr lang="en-US" sz="2600" dirty="0"/>
          </a:p>
        </p:txBody>
      </p:sp>
      <p:sp>
        <p:nvSpPr>
          <p:cNvPr id="24" name="Text 22"/>
          <p:cNvSpPr/>
          <p:nvPr/>
        </p:nvSpPr>
        <p:spPr>
          <a:xfrm>
            <a:off x="6400800" y="4572000"/>
            <a:ext cx="4937760" cy="822960"/>
          </a:xfrm>
          <a:prstGeom prst="rect">
            <a:avLst/>
          </a:prstGeom>
          <a:noFill/>
          <a:ln/>
        </p:spPr>
        <p:txBody>
          <a:bodyPr wrap="square" lIns="0" tIns="0" rIns="0" bIns="0" rtlCol="0" anchor="ctr"/>
          <a:lstStyle/>
          <a:p>
            <a:pPr algn="l" indent="0" marL="0">
              <a:lnSpc>
                <a:spcPct val="110000"/>
              </a:lnSpc>
              <a:buNone/>
            </a:pPr>
            <a:r>
              <a:rPr lang="en-US" sz="1300" dirty="0">
                <a:solidFill>
                  <a:srgbClr val="8AA0B2"/>
                </a:solidFill>
                <a:latin typeface="Calibri" pitchFamily="34" charset="0"/>
                <a:ea typeface="Calibri" pitchFamily="34" charset="-122"/>
                <a:cs typeface="Calibri" pitchFamily="34" charset="-120"/>
              </a:rPr>
              <a:t>Gana en AUC pero pierde recall (0.25)</a:t>
            </a:r>
            <a:endParaRPr lang="en-US" sz="1300" dirty="0"/>
          </a:p>
        </p:txBody>
      </p:sp>
      <p:sp>
        <p:nvSpPr>
          <p:cNvPr id="25" name="Text 23"/>
          <p:cNvSpPr/>
          <p:nvPr/>
        </p:nvSpPr>
        <p:spPr>
          <a:xfrm>
            <a:off x="548640" y="5623560"/>
            <a:ext cx="11064240" cy="548640"/>
          </a:xfrm>
          <a:prstGeom prst="rect">
            <a:avLst/>
          </a:prstGeom>
          <a:noFill/>
          <a:ln/>
        </p:spPr>
        <p:txBody>
          <a:bodyPr wrap="square" lIns="0" tIns="0" rIns="0" bIns="0" rtlCol="0" anchor="ctr"/>
          <a:lstStyle/>
          <a:p>
            <a:pPr algn="l" indent="0" marL="0">
              <a:buNone/>
            </a:pPr>
            <a:r>
              <a:rPr lang="en-US" sz="1100" b="1" spc="100" kern="0" dirty="0">
                <a:solidFill>
                  <a:srgbClr val="4FD8C4"/>
                </a:solidFill>
                <a:latin typeface="Calibri" pitchFamily="34" charset="0"/>
                <a:ea typeface="Calibri" pitchFamily="34" charset="-122"/>
                <a:cs typeface="Calibri" pitchFamily="34" charset="-120"/>
              </a:rPr>
              <a:t>EN PALABRAS SIMPLES  ·  </a:t>
            </a:r>
            <a:pPr algn="l" indent="0" marL="0">
              <a:lnSpc>
                <a:spcPct val="110000"/>
              </a:lnSpc>
              <a:buNone/>
            </a:pPr>
            <a:r>
              <a:rPr lang="en-US" sz="1200" i="1" dirty="0">
                <a:solidFill>
                  <a:srgbClr val="EAF2F5"/>
                </a:solidFill>
                <a:latin typeface="Calibri" pitchFamily="34" charset="0"/>
                <a:ea typeface="Calibri" pitchFamily="34" charset="-122"/>
                <a:cs typeface="Calibri" pitchFamily="34" charset="-120"/>
              </a:rPr>
              <a:t>El 'recall' es cuantas de las personas REALMENTE en riesgo logramos detectar. En salud, que se nos escape un caso (falso negativo) es peor que una alarma innecesaria (falso positivo). Por eso elegimos el modelo que detecta mas riesgo real, aunque a veces avise de mas.</a:t>
            </a:r>
            <a:endParaRPr lang="en-US" sz="1100" dirty="0"/>
          </a:p>
        </p:txBody>
      </p:sp>
      <p:sp>
        <p:nvSpPr>
          <p:cNvPr id="26" name="Text 2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27" name="Text 25"/>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VALIDACIÓN · CURVAS ROC</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Capacidad discriminativa real (test 80/20)</a:t>
            </a:r>
            <a:endParaRPr lang="en-US" sz="3200" dirty="0"/>
          </a:p>
        </p:txBody>
      </p:sp>
      <p:pic>
        <p:nvPicPr>
          <p:cNvPr id="4" name="Image 0" descr="C:\Users\ecard\Desktop\BIOPULSE PROYECTO CIENCIA DE DATOS\files\roc_comparison.png">    </p:cNvPr>
          <p:cNvPicPr>
            <a:picLocks noChangeAspect="1"/>
          </p:cNvPicPr>
          <p:nvPr/>
        </p:nvPicPr>
        <p:blipFill>
          <a:blip r:embed="rId1"/>
          <a:stretch>
            <a:fillRect/>
          </a:stretch>
        </p:blipFill>
        <p:spPr>
          <a:xfrm>
            <a:off x="731520" y="1783080"/>
            <a:ext cx="6035040" cy="4206240"/>
          </a:xfrm>
          <a:prstGeom prst="rect">
            <a:avLst/>
          </a:prstGeom>
        </p:spPr>
      </p:pic>
      <p:sp>
        <p:nvSpPr>
          <p:cNvPr id="5" name="Shape 2"/>
          <p:cNvSpPr/>
          <p:nvPr/>
        </p:nvSpPr>
        <p:spPr>
          <a:xfrm>
            <a:off x="7132320" y="1783080"/>
            <a:ext cx="4480560" cy="4206240"/>
          </a:xfrm>
          <a:prstGeom prst="roundRect">
            <a:avLst>
              <a:gd name="adj" fmla="val 2609"/>
            </a:avLst>
          </a:prstGeom>
          <a:solidFill>
            <a:srgbClr val="0D1B2A"/>
          </a:solidFill>
          <a:ln w="12700">
            <a:solidFill>
              <a:srgbClr val="1D3348"/>
            </a:solidFill>
            <a:prstDash val="solid"/>
          </a:ln>
        </p:spPr>
      </p:sp>
      <p:sp>
        <p:nvSpPr>
          <p:cNvPr id="6" name="Text 3"/>
          <p:cNvSpPr/>
          <p:nvPr/>
        </p:nvSpPr>
        <p:spPr>
          <a:xfrm>
            <a:off x="7360920" y="2011680"/>
            <a:ext cx="4023360" cy="3657600"/>
          </a:xfrm>
          <a:prstGeom prst="rect">
            <a:avLst/>
          </a:prstGeom>
          <a:noFill/>
          <a:ln/>
        </p:spPr>
        <p:txBody>
          <a:bodyPr wrap="square" lIns="0" tIns="0" rIns="0" bIns="0" rtlCol="0" anchor="t"/>
          <a:lstStyle/>
          <a:p>
            <a:pPr algn="l" indent="0" marL="0">
              <a:buNone/>
            </a:pPr>
            <a:r>
              <a:rPr lang="en-US" sz="1300" b="1" spc="100" kern="0" dirty="0">
                <a:solidFill>
                  <a:srgbClr val="4FD8C4"/>
                </a:solidFill>
                <a:latin typeface="Calibri" pitchFamily="34" charset="0"/>
                <a:ea typeface="Calibri" pitchFamily="34" charset="-122"/>
                <a:cs typeface="Calibri" pitchFamily="34" charset="-120"/>
              </a:rPr>
              <a:t>Que leer aqui</a:t>
            </a:r>
            <a:endParaRPr lang="en-US" sz="1300" dirty="0"/>
          </a:p>
          <a:p>
            <a:pPr algn="l" indent="0" marL="0">
              <a:lnSpc>
                <a:spcPct val="115000"/>
              </a:lnSpc>
              <a:buNone/>
            </a:pPr>
            <a:r>
              <a:rPr lang="en-US" sz="1300" dirty="0">
                <a:solidFill>
                  <a:srgbClr val="EAF2F5"/>
                </a:solidFill>
                <a:latin typeface="Calibri" pitchFamily="34" charset="0"/>
                <a:ea typeface="Calibri" pitchFamily="34" charset="-122"/>
                <a:cs typeface="Calibri" pitchFamily="34" charset="-120"/>
              </a:rPr>
              <a:t>• Las 3 curvas estan muy por encima de la linea de azar (AUC ~0.65-0.69).</a:t>
            </a:r>
            <a:endParaRPr lang="en-US" sz="1300" dirty="0"/>
          </a:p>
          <a:p>
            <a:pPr algn="l" indent="0" marL="0">
              <a:lnSpc>
                <a:spcPct val="115000"/>
              </a:lnSpc>
              <a:buNone/>
            </a:pPr>
            <a:r>
              <a:rPr lang="en-US" sz="1300" dirty="0">
                <a:solidFill>
                  <a:srgbClr val="EAF2F5"/>
                </a:solidFill>
                <a:latin typeface="Calibri" pitchFamily="34" charset="0"/>
                <a:ea typeface="Calibri" pitchFamily="34" charset="-122"/>
                <a:cs typeface="Calibri" pitchFamily="34" charset="-120"/>
              </a:rPr>
              <a:t>• Gradient Boosting (0.687) y RF (0.666) son claramente superiores al baseline lineal (0.648).</a:t>
            </a:r>
            <a:endParaRPr lang="en-US" sz="1300" dirty="0"/>
          </a:p>
          <a:p>
            <a:pPr algn="l" indent="0" marL="0">
              <a:lnSpc>
                <a:spcPct val="115000"/>
              </a:lnSpc>
              <a:buNone/>
            </a:pPr>
            <a:r>
              <a:rPr lang="en-US" sz="1300" dirty="0">
                <a:solidFill>
                  <a:srgbClr val="EAF2F5"/>
                </a:solidFill>
                <a:latin typeface="Calibri" pitchFamily="34" charset="0"/>
                <a:ea typeface="Calibri" pitchFamily="34" charset="-122"/>
                <a:cs typeface="Calibri" pitchFamily="34" charset="-120"/>
              </a:rPr>
              <a:t>• Esto justifica usar arboles, no un modelo lineal simple.</a:t>
            </a:r>
            <a:endParaRPr lang="en-US" sz="1300" dirty="0"/>
          </a:p>
        </p:txBody>
      </p:sp>
      <p:sp>
        <p:nvSpPr>
          <p:cNvPr id="7" name="Text 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8" name="Text 5"/>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VALIDACIÓN · CROSS-VALIDATION</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No un solo split: 5-fold estratificada</a:t>
            </a:r>
            <a:endParaRPr lang="en-US" sz="3200" dirty="0"/>
          </a:p>
        </p:txBody>
      </p:sp>
      <p:pic>
        <p:nvPicPr>
          <p:cNvPr id="4" name="Image 0" descr="C:\Users\ecard\Desktop\BIOPULSE PROYECTO CIENCIA DE DATOS\files\cv_metrics_comparison.png">    </p:cNvPr>
          <p:cNvPicPr>
            <a:picLocks noChangeAspect="1"/>
          </p:cNvPicPr>
          <p:nvPr/>
        </p:nvPicPr>
        <p:blipFill>
          <a:blip r:embed="rId1"/>
          <a:stretch>
            <a:fillRect/>
          </a:stretch>
        </p:blipFill>
        <p:spPr>
          <a:xfrm>
            <a:off x="731520" y="1783080"/>
            <a:ext cx="7680960" cy="3108960"/>
          </a:xfrm>
          <a:prstGeom prst="rect">
            <a:avLst/>
          </a:prstGeom>
        </p:spPr>
      </p:pic>
      <p:sp>
        <p:nvSpPr>
          <p:cNvPr id="5" name="Shape 2"/>
          <p:cNvSpPr/>
          <p:nvPr/>
        </p:nvSpPr>
        <p:spPr>
          <a:xfrm>
            <a:off x="8686800" y="1783080"/>
            <a:ext cx="2926080" cy="3108960"/>
          </a:xfrm>
          <a:prstGeom prst="roundRect">
            <a:avLst>
              <a:gd name="adj" fmla="val 3750"/>
            </a:avLst>
          </a:prstGeom>
          <a:solidFill>
            <a:srgbClr val="0D1B2A"/>
          </a:solidFill>
          <a:ln w="12700">
            <a:solidFill>
              <a:srgbClr val="1D3348"/>
            </a:solidFill>
            <a:prstDash val="solid"/>
          </a:ln>
        </p:spPr>
      </p:sp>
      <p:sp>
        <p:nvSpPr>
          <p:cNvPr id="6" name="Text 3"/>
          <p:cNvSpPr/>
          <p:nvPr/>
        </p:nvSpPr>
        <p:spPr>
          <a:xfrm>
            <a:off x="8869680" y="1965960"/>
            <a:ext cx="2560320" cy="2743200"/>
          </a:xfrm>
          <a:prstGeom prst="rect">
            <a:avLst/>
          </a:prstGeom>
          <a:noFill/>
          <a:ln/>
        </p:spPr>
        <p:txBody>
          <a:bodyPr wrap="square" lIns="0" tIns="0" rIns="0" bIns="0" rtlCol="0" anchor="t"/>
          <a:lstStyle/>
          <a:p>
            <a:pPr algn="l" indent="0" marL="0">
              <a:buNone/>
            </a:pPr>
            <a:r>
              <a:rPr lang="en-US" sz="1200" b="1" spc="100" kern="0" dirty="0">
                <a:solidFill>
                  <a:srgbClr val="4FD8C4"/>
                </a:solidFill>
                <a:latin typeface="Calibri" pitchFamily="34" charset="0"/>
                <a:ea typeface="Calibri" pitchFamily="34" charset="-122"/>
                <a:cs typeface="Calibri" pitchFamily="34" charset="-120"/>
              </a:rPr>
              <a:t>Por que importa</a:t>
            </a:r>
            <a:endParaRPr lang="en-US" sz="1200" dirty="0"/>
          </a:p>
          <a:p>
            <a:pPr algn="l" indent="0" marL="0">
              <a:lnSpc>
                <a:spcPct val="115000"/>
              </a:lnSpc>
              <a:buNone/>
            </a:pPr>
            <a:r>
              <a:rPr lang="en-US" sz="1250" dirty="0">
                <a:solidFill>
                  <a:srgbClr val="EAF2F5"/>
                </a:solidFill>
                <a:latin typeface="Calibri" pitchFamily="34" charset="0"/>
                <a:ea typeface="Calibri" pitchFamily="34" charset="-122"/>
                <a:cs typeface="Calibri" pitchFamily="34" charset="-120"/>
              </a:rPr>
              <a:t>Las barras de error son la desviacion estándar entre los 5 folds. Son pequenas → los numeros son estables, no suerte de un split.</a:t>
            </a:r>
            <a:endParaRPr lang="en-US" sz="1200" dirty="0"/>
          </a:p>
        </p:txBody>
      </p:sp>
      <p:sp>
        <p:nvSpPr>
          <p:cNvPr id="7" name="Text 4"/>
          <p:cNvSpPr/>
          <p:nvPr/>
        </p:nvSpPr>
        <p:spPr>
          <a:xfrm>
            <a:off x="731520" y="5120640"/>
            <a:ext cx="10881360" cy="731520"/>
          </a:xfrm>
          <a:prstGeom prst="rect">
            <a:avLst/>
          </a:prstGeom>
          <a:noFill/>
          <a:ln/>
        </p:spPr>
        <p:txBody>
          <a:bodyPr wrap="square" lIns="0" tIns="0" rIns="0" bIns="0" rtlCol="0" anchor="ctr"/>
          <a:lstStyle/>
          <a:p>
            <a:pPr algn="l" indent="0" marL="0">
              <a:lnSpc>
                <a:spcPct val="115000"/>
              </a:lnSpc>
              <a:buNone/>
            </a:pPr>
            <a:r>
              <a:rPr lang="en-US" sz="1300" i="1" dirty="0">
                <a:solidFill>
                  <a:srgbClr val="8AA0B2"/>
                </a:solidFill>
                <a:latin typeface="Calibri" pitchFamily="34" charset="0"/>
                <a:ea typeface="Calibri" pitchFamily="34" charset="-122"/>
                <a:cs typeface="Calibri" pitchFamily="34" charset="-120"/>
              </a:rPr>
              <a:t>Mediamos ROC-AUC, Precisión, Recall y F1. Estratificamos para preservar la prevalencia real de riesgo (~10.6%) en cada fold.</a:t>
            </a:r>
            <a:endParaRPr lang="en-US" sz="1300" dirty="0"/>
          </a:p>
        </p:txBody>
      </p:sp>
      <p:sp>
        <p:nvSpPr>
          <p:cNvPr id="8" name="Text 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9" name="Text 6"/>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F0687A"/>
                </a:solidFill>
                <a:latin typeface="Calibri" pitchFamily="34" charset="0"/>
                <a:ea typeface="Calibri" pitchFamily="34" charset="-122"/>
                <a:cs typeface="Calibri" pitchFamily="34" charset="-120"/>
              </a:rPr>
              <a:t>VALIDACIÓN · HONESTIDAD</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Matriz de confusion: somos transparentes</a:t>
            </a:r>
            <a:endParaRPr lang="en-US" sz="3200" dirty="0"/>
          </a:p>
        </p:txBody>
      </p:sp>
      <p:pic>
        <p:nvPicPr>
          <p:cNvPr id="4" name="Image 0" descr="C:\Users\ecard\Desktop\BIOPULSE PROYECTO CIENCIA DE DATOS\files\confusion_matrix_rf.png">    </p:cNvPr>
          <p:cNvPicPr>
            <a:picLocks noChangeAspect="1"/>
          </p:cNvPicPr>
          <p:nvPr/>
        </p:nvPicPr>
        <p:blipFill>
          <a:blip r:embed="rId1"/>
          <a:stretch>
            <a:fillRect/>
          </a:stretch>
        </p:blipFill>
        <p:spPr>
          <a:xfrm>
            <a:off x="731520" y="1828800"/>
            <a:ext cx="5120640" cy="3840480"/>
          </a:xfrm>
          <a:prstGeom prst="rect">
            <a:avLst/>
          </a:prstGeom>
        </p:spPr>
      </p:pic>
      <p:sp>
        <p:nvSpPr>
          <p:cNvPr id="5" name="Shape 2"/>
          <p:cNvSpPr/>
          <p:nvPr/>
        </p:nvSpPr>
        <p:spPr>
          <a:xfrm>
            <a:off x="6217920" y="1920240"/>
            <a:ext cx="5394960" cy="822960"/>
          </a:xfrm>
          <a:prstGeom prst="roundRect">
            <a:avLst>
              <a:gd name="adj" fmla="val 13333"/>
            </a:avLst>
          </a:prstGeom>
          <a:solidFill>
            <a:srgbClr val="0D1B2A"/>
          </a:solidFill>
          <a:ln w="12700">
            <a:solidFill>
              <a:srgbClr val="1D3348"/>
            </a:solidFill>
            <a:prstDash val="solid"/>
          </a:ln>
        </p:spPr>
      </p:sp>
      <p:sp>
        <p:nvSpPr>
          <p:cNvPr id="6" name="Text 3"/>
          <p:cNvSpPr/>
          <p:nvPr/>
        </p:nvSpPr>
        <p:spPr>
          <a:xfrm>
            <a:off x="6446520" y="1920240"/>
            <a:ext cx="1554480" cy="822960"/>
          </a:xfrm>
          <a:prstGeom prst="rect">
            <a:avLst/>
          </a:prstGeom>
          <a:noFill/>
          <a:ln/>
        </p:spPr>
        <p:txBody>
          <a:bodyPr wrap="square" lIns="0" tIns="0" rIns="0" bIns="0" rtlCol="0" anchor="ctr"/>
          <a:lstStyle/>
          <a:p>
            <a:pPr algn="l" indent="0" marL="0">
              <a:buNone/>
            </a:pPr>
            <a:r>
              <a:rPr lang="en-US" sz="2800" b="1" dirty="0">
                <a:solidFill>
                  <a:srgbClr val="4FD8C4"/>
                </a:solidFill>
                <a:latin typeface="Cambria" pitchFamily="34" charset="0"/>
                <a:ea typeface="Cambria" pitchFamily="34" charset="-122"/>
                <a:cs typeface="Cambria" pitchFamily="34" charset="-120"/>
              </a:rPr>
              <a:t>4,415</a:t>
            </a:r>
            <a:endParaRPr lang="en-US" sz="2800" dirty="0"/>
          </a:p>
        </p:txBody>
      </p:sp>
      <p:sp>
        <p:nvSpPr>
          <p:cNvPr id="7" name="Text 4"/>
          <p:cNvSpPr/>
          <p:nvPr/>
        </p:nvSpPr>
        <p:spPr>
          <a:xfrm>
            <a:off x="8046720" y="1920240"/>
            <a:ext cx="3383280" cy="82296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Negativos bien clasificados (TN)</a:t>
            </a:r>
            <a:endParaRPr lang="en-US" sz="1300" dirty="0"/>
          </a:p>
        </p:txBody>
      </p:sp>
      <p:sp>
        <p:nvSpPr>
          <p:cNvPr id="8" name="Shape 5"/>
          <p:cNvSpPr/>
          <p:nvPr/>
        </p:nvSpPr>
        <p:spPr>
          <a:xfrm>
            <a:off x="6217920" y="2907792"/>
            <a:ext cx="5394960" cy="822960"/>
          </a:xfrm>
          <a:prstGeom prst="roundRect">
            <a:avLst>
              <a:gd name="adj" fmla="val 13333"/>
            </a:avLst>
          </a:prstGeom>
          <a:solidFill>
            <a:srgbClr val="0D1B2A"/>
          </a:solidFill>
          <a:ln w="12700">
            <a:solidFill>
              <a:srgbClr val="1D3348"/>
            </a:solidFill>
            <a:prstDash val="solid"/>
          </a:ln>
        </p:spPr>
      </p:sp>
      <p:sp>
        <p:nvSpPr>
          <p:cNvPr id="9" name="Text 6"/>
          <p:cNvSpPr/>
          <p:nvPr/>
        </p:nvSpPr>
        <p:spPr>
          <a:xfrm>
            <a:off x="6446520" y="2907792"/>
            <a:ext cx="1554480" cy="822960"/>
          </a:xfrm>
          <a:prstGeom prst="rect">
            <a:avLst/>
          </a:prstGeom>
          <a:noFill/>
          <a:ln/>
        </p:spPr>
        <p:txBody>
          <a:bodyPr wrap="square" lIns="0" tIns="0" rIns="0" bIns="0" rtlCol="0" anchor="ctr"/>
          <a:lstStyle/>
          <a:p>
            <a:pPr algn="l" indent="0" marL="0">
              <a:buNone/>
            </a:pPr>
            <a:r>
              <a:rPr lang="en-US" sz="2800" b="1" dirty="0">
                <a:solidFill>
                  <a:srgbClr val="F2B84B"/>
                </a:solidFill>
                <a:latin typeface="Cambria" pitchFamily="34" charset="0"/>
                <a:ea typeface="Cambria" pitchFamily="34" charset="-122"/>
                <a:cs typeface="Cambria" pitchFamily="34" charset="-120"/>
              </a:rPr>
              <a:t>56</a:t>
            </a:r>
            <a:endParaRPr lang="en-US" sz="2800" dirty="0"/>
          </a:p>
        </p:txBody>
      </p:sp>
      <p:sp>
        <p:nvSpPr>
          <p:cNvPr id="10" name="Text 7"/>
          <p:cNvSpPr/>
          <p:nvPr/>
        </p:nvSpPr>
        <p:spPr>
          <a:xfrm>
            <a:off x="8046720" y="2907792"/>
            <a:ext cx="3383280" cy="82296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Falsas alarmas (FP)</a:t>
            </a:r>
            <a:endParaRPr lang="en-US" sz="1300" dirty="0"/>
          </a:p>
        </p:txBody>
      </p:sp>
      <p:sp>
        <p:nvSpPr>
          <p:cNvPr id="11" name="Shape 8"/>
          <p:cNvSpPr/>
          <p:nvPr/>
        </p:nvSpPr>
        <p:spPr>
          <a:xfrm>
            <a:off x="6217920" y="3895344"/>
            <a:ext cx="5394960" cy="822960"/>
          </a:xfrm>
          <a:prstGeom prst="roundRect">
            <a:avLst>
              <a:gd name="adj" fmla="val 13333"/>
            </a:avLst>
          </a:prstGeom>
          <a:solidFill>
            <a:srgbClr val="0D1B2A"/>
          </a:solidFill>
          <a:ln w="12700">
            <a:solidFill>
              <a:srgbClr val="1D3348"/>
            </a:solidFill>
            <a:prstDash val="solid"/>
          </a:ln>
        </p:spPr>
      </p:sp>
      <p:sp>
        <p:nvSpPr>
          <p:cNvPr id="12" name="Text 9"/>
          <p:cNvSpPr/>
          <p:nvPr/>
        </p:nvSpPr>
        <p:spPr>
          <a:xfrm>
            <a:off x="6446520" y="3895344"/>
            <a:ext cx="1554480" cy="822960"/>
          </a:xfrm>
          <a:prstGeom prst="rect">
            <a:avLst/>
          </a:prstGeom>
          <a:noFill/>
          <a:ln/>
        </p:spPr>
        <p:txBody>
          <a:bodyPr wrap="square" lIns="0" tIns="0" rIns="0" bIns="0" rtlCol="0" anchor="ctr"/>
          <a:lstStyle/>
          <a:p>
            <a:pPr algn="l" indent="0" marL="0">
              <a:buNone/>
            </a:pPr>
            <a:r>
              <a:rPr lang="en-US" sz="2800" b="1" dirty="0">
                <a:solidFill>
                  <a:srgbClr val="F0687A"/>
                </a:solidFill>
                <a:latin typeface="Cambria" pitchFamily="34" charset="0"/>
                <a:ea typeface="Cambria" pitchFamily="34" charset="-122"/>
                <a:cs typeface="Cambria" pitchFamily="34" charset="-120"/>
              </a:rPr>
              <a:t>380</a:t>
            </a:r>
            <a:endParaRPr lang="en-US" sz="2800" dirty="0"/>
          </a:p>
        </p:txBody>
      </p:sp>
      <p:sp>
        <p:nvSpPr>
          <p:cNvPr id="13" name="Text 10"/>
          <p:cNvSpPr/>
          <p:nvPr/>
        </p:nvSpPr>
        <p:spPr>
          <a:xfrm>
            <a:off x="8046720" y="3895344"/>
            <a:ext cx="3383280" cy="82296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Riesgo NO detectado (FN)</a:t>
            </a:r>
            <a:endParaRPr lang="en-US" sz="1300" dirty="0"/>
          </a:p>
        </p:txBody>
      </p:sp>
      <p:sp>
        <p:nvSpPr>
          <p:cNvPr id="14" name="Shape 11"/>
          <p:cNvSpPr/>
          <p:nvPr/>
        </p:nvSpPr>
        <p:spPr>
          <a:xfrm>
            <a:off x="6217920" y="4882896"/>
            <a:ext cx="5394960" cy="822960"/>
          </a:xfrm>
          <a:prstGeom prst="roundRect">
            <a:avLst>
              <a:gd name="adj" fmla="val 13333"/>
            </a:avLst>
          </a:prstGeom>
          <a:solidFill>
            <a:srgbClr val="0D1B2A"/>
          </a:solidFill>
          <a:ln w="12700">
            <a:solidFill>
              <a:srgbClr val="1D3348"/>
            </a:solidFill>
            <a:prstDash val="solid"/>
          </a:ln>
        </p:spPr>
      </p:sp>
      <p:sp>
        <p:nvSpPr>
          <p:cNvPr id="15" name="Text 12"/>
          <p:cNvSpPr/>
          <p:nvPr/>
        </p:nvSpPr>
        <p:spPr>
          <a:xfrm>
            <a:off x="6446520" y="4882896"/>
            <a:ext cx="1554480" cy="822960"/>
          </a:xfrm>
          <a:prstGeom prst="rect">
            <a:avLst/>
          </a:prstGeom>
          <a:noFill/>
          <a:ln/>
        </p:spPr>
        <p:txBody>
          <a:bodyPr wrap="square" lIns="0" tIns="0" rIns="0" bIns="0" rtlCol="0" anchor="ctr"/>
          <a:lstStyle/>
          <a:p>
            <a:pPr algn="l" indent="0" marL="0">
              <a:buNone/>
            </a:pPr>
            <a:r>
              <a:rPr lang="en-US" sz="2800" b="1" dirty="0">
                <a:solidFill>
                  <a:srgbClr val="4FD8C4"/>
                </a:solidFill>
                <a:latin typeface="Cambria" pitchFamily="34" charset="0"/>
                <a:ea typeface="Cambria" pitchFamily="34" charset="-122"/>
                <a:cs typeface="Cambria" pitchFamily="34" charset="-120"/>
              </a:rPr>
              <a:t>149</a:t>
            </a:r>
            <a:endParaRPr lang="en-US" sz="2800" dirty="0"/>
          </a:p>
        </p:txBody>
      </p:sp>
      <p:sp>
        <p:nvSpPr>
          <p:cNvPr id="16" name="Text 13"/>
          <p:cNvSpPr/>
          <p:nvPr/>
        </p:nvSpPr>
        <p:spPr>
          <a:xfrm>
            <a:off x="8046720" y="4882896"/>
            <a:ext cx="3383280" cy="822960"/>
          </a:xfrm>
          <a:prstGeom prst="rect">
            <a:avLst/>
          </a:prstGeom>
          <a:noFill/>
          <a:ln/>
        </p:spPr>
        <p:txBody>
          <a:bodyPr wrap="square" lIns="0" tIns="0" rIns="0" bIns="0" rtlCol="0" anchor="ctr"/>
          <a:lstStyle/>
          <a:p>
            <a:pPr algn="l" indent="0" marL="0">
              <a:buNone/>
            </a:pPr>
            <a:r>
              <a:rPr lang="en-US" sz="1300" dirty="0">
                <a:solidFill>
                  <a:srgbClr val="EAF2F5"/>
                </a:solidFill>
                <a:latin typeface="Calibri" pitchFamily="34" charset="0"/>
                <a:ea typeface="Calibri" pitchFamily="34" charset="-122"/>
                <a:cs typeface="Calibri" pitchFamily="34" charset="-120"/>
              </a:rPr>
              <a:t>Riesgo detectado (TP)</a:t>
            </a:r>
            <a:endParaRPr lang="en-US" sz="1300" dirty="0"/>
          </a:p>
        </p:txBody>
      </p:sp>
      <p:sp>
        <p:nvSpPr>
          <p:cNvPr id="17" name="Text 14"/>
          <p:cNvSpPr/>
          <p:nvPr/>
        </p:nvSpPr>
        <p:spPr>
          <a:xfrm>
            <a:off x="6217920" y="5486400"/>
            <a:ext cx="5394960" cy="640080"/>
          </a:xfrm>
          <a:prstGeom prst="rect">
            <a:avLst/>
          </a:prstGeom>
          <a:noFill/>
          <a:ln/>
        </p:spPr>
        <p:txBody>
          <a:bodyPr wrap="square" lIns="0" tIns="0" rIns="0" bIns="0" rtlCol="0" anchor="ctr"/>
          <a:lstStyle/>
          <a:p>
            <a:pPr algn="l" indent="0" marL="0">
              <a:lnSpc>
                <a:spcPct val="115000"/>
              </a:lnSpc>
              <a:buNone/>
            </a:pPr>
            <a:r>
              <a:rPr lang="en-US" sz="1200" i="1" dirty="0">
                <a:solidFill>
                  <a:srgbClr val="8AA0B2"/>
                </a:solidFill>
                <a:latin typeface="Calibri" pitchFamily="34" charset="0"/>
                <a:ea typeface="Calibri" pitchFamily="34" charset="-122"/>
                <a:cs typeface="Calibri" pitchFamily="34" charset="-120"/>
              </a:rPr>
              <a:t>De 529 casos de riesgo real, detectamos 149 (28%). Es una primera version: la Fase 6 del roadmap mejora esto con datos reales en vivo.</a:t>
            </a:r>
            <a:endParaRPr lang="en-US" sz="1200" dirty="0"/>
          </a:p>
        </p:txBody>
      </p:sp>
      <p:sp>
        <p:nvSpPr>
          <p:cNvPr id="18"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19" name="Text 16"/>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EL PRODUCTO</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El Indice de Riesgo: 4 señales, 100 puntos</a:t>
            </a:r>
            <a:endParaRPr lang="en-US" sz="3200" dirty="0"/>
          </a:p>
        </p:txBody>
      </p:sp>
      <p:sp>
        <p:nvSpPr>
          <p:cNvPr id="4" name="Shape 2"/>
          <p:cNvSpPr/>
          <p:nvPr/>
        </p:nvSpPr>
        <p:spPr>
          <a:xfrm>
            <a:off x="548640" y="1920240"/>
            <a:ext cx="2697480" cy="2194560"/>
          </a:xfrm>
          <a:prstGeom prst="roundRect">
            <a:avLst>
              <a:gd name="adj" fmla="val 5000"/>
            </a:avLst>
          </a:prstGeom>
          <a:solidFill>
            <a:srgbClr val="101F30"/>
          </a:solidFill>
          <a:ln w="12700">
            <a:solidFill>
              <a:srgbClr val="1D3348"/>
            </a:solidFill>
            <a:prstDash val="solid"/>
          </a:ln>
        </p:spPr>
      </p:sp>
      <p:sp>
        <p:nvSpPr>
          <p:cNvPr id="5" name="Shape 3"/>
          <p:cNvSpPr/>
          <p:nvPr/>
        </p:nvSpPr>
        <p:spPr>
          <a:xfrm>
            <a:off x="822960" y="2194560"/>
            <a:ext cx="502920" cy="502920"/>
          </a:xfrm>
          <a:prstGeom prst="ellipse">
            <a:avLst/>
          </a:prstGeom>
          <a:solidFill>
            <a:srgbClr val="4FD8C4"/>
          </a:solidFill>
          <a:ln/>
        </p:spPr>
      </p:sp>
      <p:sp>
        <p:nvSpPr>
          <p:cNvPr id="6" name="Text 4"/>
          <p:cNvSpPr/>
          <p:nvPr/>
        </p:nvSpPr>
        <p:spPr>
          <a:xfrm>
            <a:off x="822960" y="2194560"/>
            <a:ext cx="502920" cy="502920"/>
          </a:xfrm>
          <a:prstGeom prst="rect">
            <a:avLst/>
          </a:prstGeom>
          <a:noFill/>
          <a:ln/>
        </p:spPr>
        <p:txBody>
          <a:bodyPr wrap="square" lIns="0" tIns="0" rIns="0" bIns="0" rtlCol="0" anchor="ctr"/>
          <a:lstStyle/>
          <a:p>
            <a:pPr algn="ctr" indent="0" marL="0">
              <a:buNone/>
            </a:pPr>
            <a:r>
              <a:rPr lang="en-US" sz="1400" b="1" dirty="0">
                <a:solidFill>
                  <a:srgbClr val="0A1420"/>
                </a:solidFill>
                <a:latin typeface="Cambria" pitchFamily="34" charset="0"/>
                <a:ea typeface="Cambria" pitchFamily="34" charset="-122"/>
                <a:cs typeface="Cambria" pitchFamily="34" charset="-120"/>
              </a:rPr>
              <a:t>+25</a:t>
            </a:r>
            <a:endParaRPr lang="en-US" sz="1400" dirty="0"/>
          </a:p>
        </p:txBody>
      </p:sp>
      <p:sp>
        <p:nvSpPr>
          <p:cNvPr id="7" name="Text 5"/>
          <p:cNvSpPr/>
          <p:nvPr/>
        </p:nvSpPr>
        <p:spPr>
          <a:xfrm>
            <a:off x="822960" y="2834640"/>
            <a:ext cx="2194560" cy="548640"/>
          </a:xfrm>
          <a:prstGeom prst="rect">
            <a:avLst/>
          </a:prstGeom>
          <a:noFill/>
          <a:ln/>
        </p:spPr>
        <p:txBody>
          <a:bodyPr wrap="square" lIns="0" tIns="0" rIns="0" bIns="0" rtlCol="0" anchor="ctr"/>
          <a:lstStyle/>
          <a:p>
            <a:pPr algn="l" indent="0" marL="0">
              <a:buNone/>
            </a:pPr>
            <a:r>
              <a:rPr lang="en-US" sz="1400" b="1" dirty="0">
                <a:solidFill>
                  <a:srgbClr val="EAF2F5"/>
                </a:solidFill>
                <a:latin typeface="Cambria" pitchFamily="34" charset="0"/>
                <a:ea typeface="Cambria" pitchFamily="34" charset="-122"/>
                <a:cs typeface="Cambria" pitchFamily="34" charset="-120"/>
              </a:rPr>
              <a:t>Control estadistico</a:t>
            </a:r>
            <a:endParaRPr lang="en-US" sz="1400" dirty="0"/>
          </a:p>
        </p:txBody>
      </p:sp>
      <p:sp>
        <p:nvSpPr>
          <p:cNvPr id="8" name="Text 6"/>
          <p:cNvSpPr/>
          <p:nvPr/>
        </p:nvSpPr>
        <p:spPr>
          <a:xfrm>
            <a:off x="822960" y="3383280"/>
            <a:ext cx="2194560" cy="640080"/>
          </a:xfrm>
          <a:prstGeom prst="rect">
            <a:avLst/>
          </a:prstGeom>
          <a:noFill/>
          <a:ln/>
        </p:spPr>
        <p:txBody>
          <a:bodyPr wrap="square" lIns="0" tIns="0" rIns="0" bIns="0" rtlCol="0" anchor="ctr"/>
          <a:lstStyle/>
          <a:p>
            <a:pPr algn="l" indent="0" marL="0">
              <a:lnSpc>
                <a:spcPct val="110000"/>
              </a:lnSpc>
              <a:buNone/>
            </a:pPr>
            <a:r>
              <a:rPr lang="en-US" sz="1150" dirty="0">
                <a:solidFill>
                  <a:srgbClr val="8AA0B2"/>
                </a:solidFill>
                <a:latin typeface="Calibri" pitchFamily="34" charset="0"/>
                <a:ea typeface="Calibri" pitchFamily="34" charset="-122"/>
                <a:cs typeface="Calibri" pitchFamily="34" charset="-120"/>
              </a:rPr>
              <a:t>Anomalías z-score vs. tu base</a:t>
            </a:r>
            <a:endParaRPr lang="en-US" sz="1150" dirty="0"/>
          </a:p>
        </p:txBody>
      </p:sp>
      <p:sp>
        <p:nvSpPr>
          <p:cNvPr id="9" name="Shape 7"/>
          <p:cNvSpPr/>
          <p:nvPr/>
        </p:nvSpPr>
        <p:spPr>
          <a:xfrm>
            <a:off x="3246120" y="1920240"/>
            <a:ext cx="2697480" cy="2194560"/>
          </a:xfrm>
          <a:prstGeom prst="roundRect">
            <a:avLst>
              <a:gd name="adj" fmla="val 5000"/>
            </a:avLst>
          </a:prstGeom>
          <a:solidFill>
            <a:srgbClr val="101F30"/>
          </a:solidFill>
          <a:ln w="12700">
            <a:solidFill>
              <a:srgbClr val="1D3348"/>
            </a:solidFill>
            <a:prstDash val="solid"/>
          </a:ln>
        </p:spPr>
      </p:sp>
      <p:sp>
        <p:nvSpPr>
          <p:cNvPr id="10" name="Shape 8"/>
          <p:cNvSpPr/>
          <p:nvPr/>
        </p:nvSpPr>
        <p:spPr>
          <a:xfrm>
            <a:off x="3520440" y="2194560"/>
            <a:ext cx="502920" cy="502920"/>
          </a:xfrm>
          <a:prstGeom prst="ellipse">
            <a:avLst/>
          </a:prstGeom>
          <a:solidFill>
            <a:srgbClr val="9BA8F2"/>
          </a:solidFill>
          <a:ln/>
        </p:spPr>
      </p:sp>
      <p:sp>
        <p:nvSpPr>
          <p:cNvPr id="11" name="Text 9"/>
          <p:cNvSpPr/>
          <p:nvPr/>
        </p:nvSpPr>
        <p:spPr>
          <a:xfrm>
            <a:off x="3520440" y="2194560"/>
            <a:ext cx="502920" cy="502920"/>
          </a:xfrm>
          <a:prstGeom prst="rect">
            <a:avLst/>
          </a:prstGeom>
          <a:noFill/>
          <a:ln/>
        </p:spPr>
        <p:txBody>
          <a:bodyPr wrap="square" lIns="0" tIns="0" rIns="0" bIns="0" rtlCol="0" anchor="ctr"/>
          <a:lstStyle/>
          <a:p>
            <a:pPr algn="ctr" indent="0" marL="0">
              <a:buNone/>
            </a:pPr>
            <a:r>
              <a:rPr lang="en-US" sz="1400" b="1" dirty="0">
                <a:solidFill>
                  <a:srgbClr val="0A1420"/>
                </a:solidFill>
                <a:latin typeface="Cambria" pitchFamily="34" charset="0"/>
                <a:ea typeface="Cambria" pitchFamily="34" charset="-122"/>
                <a:cs typeface="Cambria" pitchFamily="34" charset="-120"/>
              </a:rPr>
              <a:t>+25</a:t>
            </a:r>
            <a:endParaRPr lang="en-US" sz="1400" dirty="0"/>
          </a:p>
        </p:txBody>
      </p:sp>
      <p:sp>
        <p:nvSpPr>
          <p:cNvPr id="12" name="Text 10"/>
          <p:cNvSpPr/>
          <p:nvPr/>
        </p:nvSpPr>
        <p:spPr>
          <a:xfrm>
            <a:off x="3520440" y="2834640"/>
            <a:ext cx="2194560" cy="548640"/>
          </a:xfrm>
          <a:prstGeom prst="rect">
            <a:avLst/>
          </a:prstGeom>
          <a:noFill/>
          <a:ln/>
        </p:spPr>
        <p:txBody>
          <a:bodyPr wrap="square" lIns="0" tIns="0" rIns="0" bIns="0" rtlCol="0" anchor="ctr"/>
          <a:lstStyle/>
          <a:p>
            <a:pPr algn="l" indent="0" marL="0">
              <a:buNone/>
            </a:pPr>
            <a:r>
              <a:rPr lang="en-US" sz="1400" b="1" dirty="0">
                <a:solidFill>
                  <a:srgbClr val="EAF2F5"/>
                </a:solidFill>
                <a:latin typeface="Cambria" pitchFamily="34" charset="0"/>
                <a:ea typeface="Cambria" pitchFamily="34" charset="-122"/>
                <a:cs typeface="Cambria" pitchFamily="34" charset="-120"/>
              </a:rPr>
              <a:t>ApEn complejidad</a:t>
            </a:r>
            <a:endParaRPr lang="en-US" sz="1400" dirty="0"/>
          </a:p>
        </p:txBody>
      </p:sp>
      <p:sp>
        <p:nvSpPr>
          <p:cNvPr id="13" name="Text 11"/>
          <p:cNvSpPr/>
          <p:nvPr/>
        </p:nvSpPr>
        <p:spPr>
          <a:xfrm>
            <a:off x="3520440" y="3383280"/>
            <a:ext cx="2194560" cy="640080"/>
          </a:xfrm>
          <a:prstGeom prst="rect">
            <a:avLst/>
          </a:prstGeom>
          <a:noFill/>
          <a:ln/>
        </p:spPr>
        <p:txBody>
          <a:bodyPr wrap="square" lIns="0" tIns="0" rIns="0" bIns="0" rtlCol="0" anchor="ctr"/>
          <a:lstStyle/>
          <a:p>
            <a:pPr algn="l" indent="0" marL="0">
              <a:lnSpc>
                <a:spcPct val="110000"/>
              </a:lnSpc>
              <a:buNone/>
            </a:pPr>
            <a:r>
              <a:rPr lang="en-US" sz="1150" dirty="0">
                <a:solidFill>
                  <a:srgbClr val="8AA0B2"/>
                </a:solidFill>
                <a:latin typeface="Calibri" pitchFamily="34" charset="0"/>
                <a:ea typeface="Calibri" pitchFamily="34" charset="-122"/>
                <a:cs typeface="Calibri" pitchFamily="34" charset="-120"/>
              </a:rPr>
              <a:t>Caida de variabilidad HRV/RHR</a:t>
            </a:r>
            <a:endParaRPr lang="en-US" sz="1150" dirty="0"/>
          </a:p>
        </p:txBody>
      </p:sp>
      <p:sp>
        <p:nvSpPr>
          <p:cNvPr id="14" name="Shape 12"/>
          <p:cNvSpPr/>
          <p:nvPr/>
        </p:nvSpPr>
        <p:spPr>
          <a:xfrm>
            <a:off x="5943600" y="1920240"/>
            <a:ext cx="2697480" cy="2194560"/>
          </a:xfrm>
          <a:prstGeom prst="roundRect">
            <a:avLst>
              <a:gd name="adj" fmla="val 5000"/>
            </a:avLst>
          </a:prstGeom>
          <a:solidFill>
            <a:srgbClr val="101F30"/>
          </a:solidFill>
          <a:ln w="12700">
            <a:solidFill>
              <a:srgbClr val="1D3348"/>
            </a:solidFill>
            <a:prstDash val="solid"/>
          </a:ln>
        </p:spPr>
      </p:sp>
      <p:sp>
        <p:nvSpPr>
          <p:cNvPr id="15" name="Shape 13"/>
          <p:cNvSpPr/>
          <p:nvPr/>
        </p:nvSpPr>
        <p:spPr>
          <a:xfrm>
            <a:off x="6217920" y="2194560"/>
            <a:ext cx="502920" cy="502920"/>
          </a:xfrm>
          <a:prstGeom prst="ellipse">
            <a:avLst/>
          </a:prstGeom>
          <a:solidFill>
            <a:srgbClr val="F2B84B"/>
          </a:solidFill>
          <a:ln/>
        </p:spPr>
      </p:sp>
      <p:sp>
        <p:nvSpPr>
          <p:cNvPr id="16" name="Text 14"/>
          <p:cNvSpPr/>
          <p:nvPr/>
        </p:nvSpPr>
        <p:spPr>
          <a:xfrm>
            <a:off x="6217920" y="2194560"/>
            <a:ext cx="502920" cy="502920"/>
          </a:xfrm>
          <a:prstGeom prst="rect">
            <a:avLst/>
          </a:prstGeom>
          <a:noFill/>
          <a:ln/>
        </p:spPr>
        <p:txBody>
          <a:bodyPr wrap="square" lIns="0" tIns="0" rIns="0" bIns="0" rtlCol="0" anchor="ctr"/>
          <a:lstStyle/>
          <a:p>
            <a:pPr algn="ctr" indent="0" marL="0">
              <a:buNone/>
            </a:pPr>
            <a:r>
              <a:rPr lang="en-US" sz="1400" b="1" dirty="0">
                <a:solidFill>
                  <a:srgbClr val="0A1420"/>
                </a:solidFill>
                <a:latin typeface="Cambria" pitchFamily="34" charset="0"/>
                <a:ea typeface="Cambria" pitchFamily="34" charset="-122"/>
                <a:cs typeface="Cambria" pitchFamily="34" charset="-120"/>
              </a:rPr>
              <a:t>+25</a:t>
            </a:r>
            <a:endParaRPr lang="en-US" sz="1400" dirty="0"/>
          </a:p>
        </p:txBody>
      </p:sp>
      <p:sp>
        <p:nvSpPr>
          <p:cNvPr id="17" name="Text 15"/>
          <p:cNvSpPr/>
          <p:nvPr/>
        </p:nvSpPr>
        <p:spPr>
          <a:xfrm>
            <a:off x="6217920" y="2834640"/>
            <a:ext cx="2194560" cy="548640"/>
          </a:xfrm>
          <a:prstGeom prst="rect">
            <a:avLst/>
          </a:prstGeom>
          <a:noFill/>
          <a:ln/>
        </p:spPr>
        <p:txBody>
          <a:bodyPr wrap="square" lIns="0" tIns="0" rIns="0" bIns="0" rtlCol="0" anchor="ctr"/>
          <a:lstStyle/>
          <a:p>
            <a:pPr algn="l" indent="0" marL="0">
              <a:buNone/>
            </a:pPr>
            <a:r>
              <a:rPr lang="en-US" sz="1400" b="1" dirty="0">
                <a:solidFill>
                  <a:srgbClr val="EAF2F5"/>
                </a:solidFill>
                <a:latin typeface="Cambria" pitchFamily="34" charset="0"/>
                <a:ea typeface="Cambria" pitchFamily="34" charset="-122"/>
                <a:cs typeface="Cambria" pitchFamily="34" charset="-120"/>
              </a:rPr>
              <a:t>Patron agudo</a:t>
            </a:r>
            <a:endParaRPr lang="en-US" sz="1400" dirty="0"/>
          </a:p>
        </p:txBody>
      </p:sp>
      <p:sp>
        <p:nvSpPr>
          <p:cNvPr id="18" name="Text 16"/>
          <p:cNvSpPr/>
          <p:nvPr/>
        </p:nvSpPr>
        <p:spPr>
          <a:xfrm>
            <a:off x="6217920" y="3383280"/>
            <a:ext cx="2194560" cy="640080"/>
          </a:xfrm>
          <a:prstGeom prst="rect">
            <a:avLst/>
          </a:prstGeom>
          <a:noFill/>
          <a:ln/>
        </p:spPr>
        <p:txBody>
          <a:bodyPr wrap="square" lIns="0" tIns="0" rIns="0" bIns="0" rtlCol="0" anchor="ctr"/>
          <a:lstStyle/>
          <a:p>
            <a:pPr algn="l" indent="0" marL="0">
              <a:lnSpc>
                <a:spcPct val="110000"/>
              </a:lnSpc>
              <a:buNone/>
            </a:pPr>
            <a:r>
              <a:rPr lang="en-US" sz="1150" dirty="0">
                <a:solidFill>
                  <a:srgbClr val="8AA0B2"/>
                </a:solidFill>
                <a:latin typeface="Calibri" pitchFamily="34" charset="0"/>
                <a:ea typeface="Calibri" pitchFamily="34" charset="-122"/>
                <a:cs typeface="Calibri" pitchFamily="34" charset="-120"/>
              </a:rPr>
              <a:t>Recup. + HRV bajos, RHR alto</a:t>
            </a:r>
            <a:endParaRPr lang="en-US" sz="1150" dirty="0"/>
          </a:p>
        </p:txBody>
      </p:sp>
      <p:sp>
        <p:nvSpPr>
          <p:cNvPr id="19" name="Shape 17"/>
          <p:cNvSpPr/>
          <p:nvPr/>
        </p:nvSpPr>
        <p:spPr>
          <a:xfrm>
            <a:off x="8641080" y="1920240"/>
            <a:ext cx="2697480" cy="2194560"/>
          </a:xfrm>
          <a:prstGeom prst="roundRect">
            <a:avLst>
              <a:gd name="adj" fmla="val 5000"/>
            </a:avLst>
          </a:prstGeom>
          <a:solidFill>
            <a:srgbClr val="101F30"/>
          </a:solidFill>
          <a:ln w="12700">
            <a:solidFill>
              <a:srgbClr val="1D3348"/>
            </a:solidFill>
            <a:prstDash val="solid"/>
          </a:ln>
        </p:spPr>
      </p:sp>
      <p:sp>
        <p:nvSpPr>
          <p:cNvPr id="20" name="Shape 18"/>
          <p:cNvSpPr/>
          <p:nvPr/>
        </p:nvSpPr>
        <p:spPr>
          <a:xfrm>
            <a:off x="8915400" y="2194560"/>
            <a:ext cx="502920" cy="502920"/>
          </a:xfrm>
          <a:prstGeom prst="ellipse">
            <a:avLst/>
          </a:prstGeom>
          <a:solidFill>
            <a:srgbClr val="F0687A"/>
          </a:solidFill>
          <a:ln/>
        </p:spPr>
      </p:sp>
      <p:sp>
        <p:nvSpPr>
          <p:cNvPr id="21" name="Text 19"/>
          <p:cNvSpPr/>
          <p:nvPr/>
        </p:nvSpPr>
        <p:spPr>
          <a:xfrm>
            <a:off x="8915400" y="2194560"/>
            <a:ext cx="502920" cy="502920"/>
          </a:xfrm>
          <a:prstGeom prst="rect">
            <a:avLst/>
          </a:prstGeom>
          <a:noFill/>
          <a:ln/>
        </p:spPr>
        <p:txBody>
          <a:bodyPr wrap="square" lIns="0" tIns="0" rIns="0" bIns="0" rtlCol="0" anchor="ctr"/>
          <a:lstStyle/>
          <a:p>
            <a:pPr algn="ctr" indent="0" marL="0">
              <a:buNone/>
            </a:pPr>
            <a:r>
              <a:rPr lang="en-US" sz="1400" b="1" dirty="0">
                <a:solidFill>
                  <a:srgbClr val="0A1420"/>
                </a:solidFill>
                <a:latin typeface="Cambria" pitchFamily="34" charset="0"/>
                <a:ea typeface="Cambria" pitchFamily="34" charset="-122"/>
                <a:cs typeface="Cambria" pitchFamily="34" charset="-120"/>
              </a:rPr>
              <a:t>+25</a:t>
            </a:r>
            <a:endParaRPr lang="en-US" sz="1400" dirty="0"/>
          </a:p>
        </p:txBody>
      </p:sp>
      <p:sp>
        <p:nvSpPr>
          <p:cNvPr id="22" name="Text 20"/>
          <p:cNvSpPr/>
          <p:nvPr/>
        </p:nvSpPr>
        <p:spPr>
          <a:xfrm>
            <a:off x="8915400" y="2834640"/>
            <a:ext cx="2194560" cy="548640"/>
          </a:xfrm>
          <a:prstGeom prst="rect">
            <a:avLst/>
          </a:prstGeom>
          <a:noFill/>
          <a:ln/>
        </p:spPr>
        <p:txBody>
          <a:bodyPr wrap="square" lIns="0" tIns="0" rIns="0" bIns="0" rtlCol="0" anchor="ctr"/>
          <a:lstStyle/>
          <a:p>
            <a:pPr algn="l" indent="0" marL="0">
              <a:buNone/>
            </a:pPr>
            <a:r>
              <a:rPr lang="en-US" sz="1400" b="1" dirty="0">
                <a:solidFill>
                  <a:srgbClr val="EAF2F5"/>
                </a:solidFill>
                <a:latin typeface="Cambria" pitchFamily="34" charset="0"/>
                <a:ea typeface="Cambria" pitchFamily="34" charset="-122"/>
                <a:cs typeface="Cambria" pitchFamily="34" charset="-120"/>
              </a:rPr>
              <a:t>Proceso infeccioso</a:t>
            </a:r>
            <a:endParaRPr lang="en-US" sz="1400" dirty="0"/>
          </a:p>
        </p:txBody>
      </p:sp>
      <p:sp>
        <p:nvSpPr>
          <p:cNvPr id="23" name="Text 21"/>
          <p:cNvSpPr/>
          <p:nvPr/>
        </p:nvSpPr>
        <p:spPr>
          <a:xfrm>
            <a:off x="8915400" y="3383280"/>
            <a:ext cx="2194560" cy="640080"/>
          </a:xfrm>
          <a:prstGeom prst="rect">
            <a:avLst/>
          </a:prstGeom>
          <a:noFill/>
          <a:ln/>
        </p:spPr>
        <p:txBody>
          <a:bodyPr wrap="square" lIns="0" tIns="0" rIns="0" bIns="0" rtlCol="0" anchor="ctr"/>
          <a:lstStyle/>
          <a:p>
            <a:pPr algn="l" indent="0" marL="0">
              <a:lnSpc>
                <a:spcPct val="110000"/>
              </a:lnSpc>
              <a:buNone/>
            </a:pPr>
            <a:r>
              <a:rPr lang="en-US" sz="1150" dirty="0">
                <a:solidFill>
                  <a:srgbClr val="8AA0B2"/>
                </a:solidFill>
                <a:latin typeface="Calibri" pitchFamily="34" charset="0"/>
                <a:ea typeface="Calibri" pitchFamily="34" charset="-122"/>
                <a:cs typeface="Calibri" pitchFamily="34" charset="-120"/>
              </a:rPr>
              <a:t>Temp. y resp. elevadas</a:t>
            </a:r>
            <a:endParaRPr lang="en-US" sz="1150" dirty="0"/>
          </a:p>
        </p:txBody>
      </p:sp>
      <p:sp>
        <p:nvSpPr>
          <p:cNvPr id="24" name="Shape 22"/>
          <p:cNvSpPr/>
          <p:nvPr/>
        </p:nvSpPr>
        <p:spPr>
          <a:xfrm>
            <a:off x="548640" y="4480560"/>
            <a:ext cx="11064240" cy="1463040"/>
          </a:xfrm>
          <a:prstGeom prst="roundRect">
            <a:avLst>
              <a:gd name="adj" fmla="val 7500"/>
            </a:avLst>
          </a:prstGeom>
          <a:solidFill>
            <a:srgbClr val="0D1B2A"/>
          </a:solidFill>
          <a:ln w="12700">
            <a:solidFill>
              <a:srgbClr val="4FD8C4"/>
            </a:solidFill>
            <a:prstDash val="solid"/>
          </a:ln>
        </p:spPr>
      </p:sp>
      <p:sp>
        <p:nvSpPr>
          <p:cNvPr id="25" name="Text 23"/>
          <p:cNvSpPr/>
          <p:nvPr/>
        </p:nvSpPr>
        <p:spPr>
          <a:xfrm>
            <a:off x="822960" y="4617720"/>
            <a:ext cx="10515600" cy="1188720"/>
          </a:xfrm>
          <a:prstGeom prst="rect">
            <a:avLst/>
          </a:prstGeom>
          <a:noFill/>
          <a:ln/>
        </p:spPr>
        <p:txBody>
          <a:bodyPr wrap="square" lIns="0" tIns="0" rIns="0" bIns="0" rtlCol="0" anchor="ctr"/>
          <a:lstStyle/>
          <a:p>
            <a:pPr algn="l" indent="0" marL="0">
              <a:buNone/>
            </a:pPr>
            <a:r>
              <a:rPr lang="en-US" sz="1400" dirty="0">
                <a:solidFill>
                  <a:srgbClr val="8AA0B2"/>
                </a:solidFill>
                <a:latin typeface="Calibri" pitchFamily="34" charset="0"/>
                <a:ea typeface="Calibri" pitchFamily="34" charset="-122"/>
                <a:cs typeface="Calibri" pitchFamily="34" charset="-120"/>
              </a:rPr>
              <a:t>NIVEL = </a:t>
            </a:r>
            <a:pPr algn="l" indent="0" marL="0">
              <a:buNone/>
            </a:pPr>
            <a:r>
              <a:rPr lang="en-US" sz="1600" b="1" dirty="0">
                <a:solidFill>
                  <a:srgbClr val="EAF2F5"/>
                </a:solidFill>
                <a:latin typeface="Cambria" pitchFamily="34" charset="0"/>
                <a:ea typeface="Cambria" pitchFamily="34" charset="-122"/>
                <a:cs typeface="Cambria" pitchFamily="34" charset="-120"/>
              </a:rPr>
              <a:t>BAJO (0-29)  ·  MODERADO (30-59)  ·  ALTO (60+)</a:t>
            </a:r>
            <a:endParaRPr lang="en-US" sz="1400" dirty="0"/>
          </a:p>
          <a:p>
            <a:pPr algn="l" indent="0" marL="0">
              <a:lnSpc>
                <a:spcPct val="115000"/>
              </a:lnSpc>
              <a:buNone/>
            </a:pPr>
            <a:r>
              <a:rPr lang="en-US" sz="1300" dirty="0">
                <a:solidFill>
                  <a:srgbClr val="8AA0B2"/>
                </a:solidFill>
                <a:latin typeface="Calibri" pitchFamily="34" charset="0"/>
                <a:ea typeface="Calibri" pitchFamily="34" charset="-122"/>
                <a:cs typeface="Calibri" pitchFamily="34" charset="-120"/>
              </a:rPr>
              <a:t>Cada motor suma hasta 25 puntos. El total dispara una alerta con la causa exacta (no una caja negra) — listo para mostrar en la app y en el panel medico.</a:t>
            </a:r>
            <a:endParaRPr lang="en-US" sz="1400" dirty="0"/>
          </a:p>
        </p:txBody>
      </p:sp>
      <p:sp>
        <p:nvSpPr>
          <p:cNvPr id="26" name="Text 2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27" name="Text 25"/>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EL PRODUCTO</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Pensado para el usuario: claridad, contexto y control</a:t>
            </a:r>
            <a:endParaRPr lang="en-US" sz="3200" dirty="0"/>
          </a:p>
        </p:txBody>
      </p:sp>
      <p:sp>
        <p:nvSpPr>
          <p:cNvPr id="4" name="Shape 2"/>
          <p:cNvSpPr/>
          <p:nvPr/>
        </p:nvSpPr>
        <p:spPr>
          <a:xfrm>
            <a:off x="548640" y="1783080"/>
            <a:ext cx="5349240" cy="1783080"/>
          </a:xfrm>
          <a:prstGeom prst="roundRect">
            <a:avLst>
              <a:gd name="adj" fmla="val 6154"/>
            </a:avLst>
          </a:prstGeom>
          <a:solidFill>
            <a:srgbClr val="101F30"/>
          </a:solidFill>
          <a:ln w="12700">
            <a:solidFill>
              <a:srgbClr val="1D3348"/>
            </a:solidFill>
            <a:prstDash val="solid"/>
          </a:ln>
        </p:spPr>
      </p:sp>
      <p:sp>
        <p:nvSpPr>
          <p:cNvPr id="5" name="Shape 3"/>
          <p:cNvSpPr/>
          <p:nvPr/>
        </p:nvSpPr>
        <p:spPr>
          <a:xfrm>
            <a:off x="822960" y="2057400"/>
            <a:ext cx="411480" cy="411480"/>
          </a:xfrm>
          <a:prstGeom prst="ellipse">
            <a:avLst/>
          </a:prstGeom>
          <a:solidFill>
            <a:srgbClr val="4FD8C4"/>
          </a:solidFill>
          <a:ln/>
        </p:spPr>
      </p:sp>
      <p:sp>
        <p:nvSpPr>
          <p:cNvPr id="6" name="Text 4"/>
          <p:cNvSpPr/>
          <p:nvPr/>
        </p:nvSpPr>
        <p:spPr>
          <a:xfrm>
            <a:off x="1417320" y="2011680"/>
            <a:ext cx="4297680" cy="502920"/>
          </a:xfrm>
          <a:prstGeom prst="rect">
            <a:avLst/>
          </a:prstGeom>
          <a:noFill/>
          <a:ln/>
        </p:spPr>
        <p:txBody>
          <a:bodyPr wrap="square" lIns="0" tIns="0" rIns="0" bIns="0" rtlCol="0" anchor="ctr"/>
          <a:lstStyle/>
          <a:p>
            <a:pPr algn="l" indent="0" marL="0">
              <a:buNone/>
            </a:pPr>
            <a:r>
              <a:rPr lang="en-US" sz="1500" b="1" dirty="0">
                <a:solidFill>
                  <a:srgbClr val="EAF2F5"/>
                </a:solidFill>
                <a:latin typeface="Cambria" pitchFamily="34" charset="0"/>
                <a:ea typeface="Cambria" pitchFamily="34" charset="-122"/>
                <a:cs typeface="Cambria" pitchFamily="34" charset="-120"/>
              </a:rPr>
              <a:t>Historial 7 / 14 / 30 días</a:t>
            </a:r>
            <a:endParaRPr lang="en-US" sz="1500" dirty="0"/>
          </a:p>
        </p:txBody>
      </p:sp>
      <p:sp>
        <p:nvSpPr>
          <p:cNvPr id="7" name="Text 5"/>
          <p:cNvSpPr/>
          <p:nvPr/>
        </p:nvSpPr>
        <p:spPr>
          <a:xfrm>
            <a:off x="1417320" y="2514600"/>
            <a:ext cx="4297680" cy="960120"/>
          </a:xfrm>
          <a:prstGeom prst="rect">
            <a:avLst/>
          </a:prstGeom>
          <a:noFill/>
          <a:ln/>
        </p:spPr>
        <p:txBody>
          <a:bodyPr wrap="square" lIns="0" tIns="0" rIns="0" bIns="0" rtlCol="0" anchor="ctr"/>
          <a:lstStyle/>
          <a:p>
            <a:pPr algn="l" indent="0" marL="0">
              <a:lnSpc>
                <a:spcPct val="115000"/>
              </a:lnSpc>
              <a:buNone/>
            </a:pPr>
            <a:r>
              <a:rPr lang="en-US" sz="1150" dirty="0">
                <a:solidFill>
                  <a:srgbClr val="8AA0B2"/>
                </a:solidFill>
                <a:latin typeface="Calibri" pitchFamily="34" charset="0"/>
                <a:ea typeface="Calibri" pitchFamily="34" charset="-122"/>
                <a:cs typeface="Calibri" pitchFamily="34" charset="-120"/>
              </a:rPr>
              <a:t>El usuario elige la ventana y la métrica (riesgo, HRV, RHR, recuperación...) y ve su evolución con su umbral marcado en la gráfica.</a:t>
            </a:r>
            <a:endParaRPr lang="en-US" sz="1150" dirty="0"/>
          </a:p>
        </p:txBody>
      </p:sp>
      <p:sp>
        <p:nvSpPr>
          <p:cNvPr id="8" name="Shape 6"/>
          <p:cNvSpPr/>
          <p:nvPr/>
        </p:nvSpPr>
        <p:spPr>
          <a:xfrm>
            <a:off x="6172200" y="1783080"/>
            <a:ext cx="5349240" cy="1783080"/>
          </a:xfrm>
          <a:prstGeom prst="roundRect">
            <a:avLst>
              <a:gd name="adj" fmla="val 6154"/>
            </a:avLst>
          </a:prstGeom>
          <a:solidFill>
            <a:srgbClr val="101F30"/>
          </a:solidFill>
          <a:ln w="12700">
            <a:solidFill>
              <a:srgbClr val="1D3348"/>
            </a:solidFill>
            <a:prstDash val="solid"/>
          </a:ln>
        </p:spPr>
      </p:sp>
      <p:sp>
        <p:nvSpPr>
          <p:cNvPr id="9" name="Shape 7"/>
          <p:cNvSpPr/>
          <p:nvPr/>
        </p:nvSpPr>
        <p:spPr>
          <a:xfrm>
            <a:off x="6446520" y="2057400"/>
            <a:ext cx="411480" cy="411480"/>
          </a:xfrm>
          <a:prstGeom prst="ellipse">
            <a:avLst/>
          </a:prstGeom>
          <a:solidFill>
            <a:srgbClr val="9BA8F2"/>
          </a:solidFill>
          <a:ln/>
        </p:spPr>
      </p:sp>
      <p:sp>
        <p:nvSpPr>
          <p:cNvPr id="10" name="Text 8"/>
          <p:cNvSpPr/>
          <p:nvPr/>
        </p:nvSpPr>
        <p:spPr>
          <a:xfrm>
            <a:off x="7040880" y="2011680"/>
            <a:ext cx="4297680" cy="502920"/>
          </a:xfrm>
          <a:prstGeom prst="rect">
            <a:avLst/>
          </a:prstGeom>
          <a:noFill/>
          <a:ln/>
        </p:spPr>
        <p:txBody>
          <a:bodyPr wrap="square" lIns="0" tIns="0" rIns="0" bIns="0" rtlCol="0" anchor="ctr"/>
          <a:lstStyle/>
          <a:p>
            <a:pPr algn="l" indent="0" marL="0">
              <a:buNone/>
            </a:pPr>
            <a:r>
              <a:rPr lang="en-US" sz="1500" b="1" dirty="0">
                <a:solidFill>
                  <a:srgbClr val="EAF2F5"/>
                </a:solidFill>
                <a:latin typeface="Cambria" pitchFamily="34" charset="0"/>
                <a:ea typeface="Cambria" pitchFamily="34" charset="-122"/>
                <a:cs typeface="Cambria" pitchFamily="34" charset="-120"/>
              </a:rPr>
              <a:t>Línea de tiempo de eventos</a:t>
            </a:r>
            <a:endParaRPr lang="en-US" sz="1500" dirty="0"/>
          </a:p>
        </p:txBody>
      </p:sp>
      <p:sp>
        <p:nvSpPr>
          <p:cNvPr id="11" name="Text 9"/>
          <p:cNvSpPr/>
          <p:nvPr/>
        </p:nvSpPr>
        <p:spPr>
          <a:xfrm>
            <a:off x="7040880" y="2514600"/>
            <a:ext cx="4297680" cy="960120"/>
          </a:xfrm>
          <a:prstGeom prst="rect">
            <a:avLst/>
          </a:prstGeom>
          <a:noFill/>
          <a:ln/>
        </p:spPr>
        <p:txBody>
          <a:bodyPr wrap="square" lIns="0" tIns="0" rIns="0" bIns="0" rtlCol="0" anchor="ctr"/>
          <a:lstStyle/>
          <a:p>
            <a:pPr algn="l" indent="0" marL="0">
              <a:lnSpc>
                <a:spcPct val="115000"/>
              </a:lnSpc>
              <a:buNone/>
            </a:pPr>
            <a:r>
              <a:rPr lang="en-US" sz="1150" dirty="0">
                <a:solidFill>
                  <a:srgbClr val="8AA0B2"/>
                </a:solidFill>
                <a:latin typeface="Calibri" pitchFamily="34" charset="0"/>
                <a:ea typeface="Calibri" pitchFamily="34" charset="-122"/>
                <a:cs typeface="Calibri" pitchFamily="34" charset="-120"/>
              </a:rPr>
              <a:t>Cada día con señal de alerta aparece con su fecha y su causa exacta ("HRV 4 días bajo tu base"), no solo un número.</a:t>
            </a:r>
            <a:endParaRPr lang="en-US" sz="1150" dirty="0"/>
          </a:p>
        </p:txBody>
      </p:sp>
      <p:sp>
        <p:nvSpPr>
          <p:cNvPr id="12" name="Shape 10"/>
          <p:cNvSpPr/>
          <p:nvPr/>
        </p:nvSpPr>
        <p:spPr>
          <a:xfrm>
            <a:off x="548640" y="3749040"/>
            <a:ext cx="5349240" cy="1783080"/>
          </a:xfrm>
          <a:prstGeom prst="roundRect">
            <a:avLst>
              <a:gd name="adj" fmla="val 6154"/>
            </a:avLst>
          </a:prstGeom>
          <a:solidFill>
            <a:srgbClr val="101F30"/>
          </a:solidFill>
          <a:ln w="12700">
            <a:solidFill>
              <a:srgbClr val="1D3348"/>
            </a:solidFill>
            <a:prstDash val="solid"/>
          </a:ln>
        </p:spPr>
      </p:sp>
      <p:sp>
        <p:nvSpPr>
          <p:cNvPr id="13" name="Shape 11"/>
          <p:cNvSpPr/>
          <p:nvPr/>
        </p:nvSpPr>
        <p:spPr>
          <a:xfrm>
            <a:off x="822960" y="4023360"/>
            <a:ext cx="411480" cy="411480"/>
          </a:xfrm>
          <a:prstGeom prst="ellipse">
            <a:avLst/>
          </a:prstGeom>
          <a:solidFill>
            <a:srgbClr val="F2B84B"/>
          </a:solidFill>
          <a:ln/>
        </p:spPr>
      </p:sp>
      <p:sp>
        <p:nvSpPr>
          <p:cNvPr id="14" name="Text 12"/>
          <p:cNvSpPr/>
          <p:nvPr/>
        </p:nvSpPr>
        <p:spPr>
          <a:xfrm>
            <a:off x="1417320" y="3977640"/>
            <a:ext cx="4297680" cy="502920"/>
          </a:xfrm>
          <a:prstGeom prst="rect">
            <a:avLst/>
          </a:prstGeom>
          <a:noFill/>
          <a:ln/>
        </p:spPr>
        <p:txBody>
          <a:bodyPr wrap="square" lIns="0" tIns="0" rIns="0" bIns="0" rtlCol="0" anchor="ctr"/>
          <a:lstStyle/>
          <a:p>
            <a:pPr algn="l" indent="0" marL="0">
              <a:buNone/>
            </a:pPr>
            <a:r>
              <a:rPr lang="en-US" sz="1500" b="1" dirty="0">
                <a:solidFill>
                  <a:srgbClr val="EAF2F5"/>
                </a:solidFill>
                <a:latin typeface="Cambria" pitchFamily="34" charset="0"/>
                <a:ea typeface="Cambria" pitchFamily="34" charset="-122"/>
                <a:cs typeface="Cambria" pitchFamily="34" charset="-120"/>
              </a:rPr>
              <a:t>Alertas accionables + umbral propio</a:t>
            </a:r>
            <a:endParaRPr lang="en-US" sz="1500" dirty="0"/>
          </a:p>
        </p:txBody>
      </p:sp>
      <p:sp>
        <p:nvSpPr>
          <p:cNvPr id="15" name="Text 13"/>
          <p:cNvSpPr/>
          <p:nvPr/>
        </p:nvSpPr>
        <p:spPr>
          <a:xfrm>
            <a:off x="1417320" y="4480560"/>
            <a:ext cx="4297680" cy="960120"/>
          </a:xfrm>
          <a:prstGeom prst="rect">
            <a:avLst/>
          </a:prstGeom>
          <a:noFill/>
          <a:ln/>
        </p:spPr>
        <p:txBody>
          <a:bodyPr wrap="square" lIns="0" tIns="0" rIns="0" bIns="0" rtlCol="0" anchor="ctr"/>
          <a:lstStyle/>
          <a:p>
            <a:pPr algn="l" indent="0" marL="0">
              <a:lnSpc>
                <a:spcPct val="115000"/>
              </a:lnSpc>
              <a:buNone/>
            </a:pPr>
            <a:r>
              <a:rPr lang="en-US" sz="1150" dirty="0">
                <a:solidFill>
                  <a:srgbClr val="8AA0B2"/>
                </a:solidFill>
                <a:latin typeface="Calibri" pitchFamily="34" charset="0"/>
                <a:ea typeface="Calibri" pitchFamily="34" charset="-122"/>
                <a:cs typeface="Calibri" pitchFamily="34" charset="-120"/>
              </a:rPr>
              <a:t>El usuario define desde qué nivel de riesgo quiere ser alertado, y cada alerta llega con una recomendación concreta.</a:t>
            </a:r>
            <a:endParaRPr lang="en-US" sz="1150" dirty="0"/>
          </a:p>
        </p:txBody>
      </p:sp>
      <p:sp>
        <p:nvSpPr>
          <p:cNvPr id="16" name="Shape 14"/>
          <p:cNvSpPr/>
          <p:nvPr/>
        </p:nvSpPr>
        <p:spPr>
          <a:xfrm>
            <a:off x="6172200" y="3749040"/>
            <a:ext cx="5349240" cy="1783080"/>
          </a:xfrm>
          <a:prstGeom prst="roundRect">
            <a:avLst>
              <a:gd name="adj" fmla="val 6154"/>
            </a:avLst>
          </a:prstGeom>
          <a:solidFill>
            <a:srgbClr val="101F30"/>
          </a:solidFill>
          <a:ln w="12700">
            <a:solidFill>
              <a:srgbClr val="1D3348"/>
            </a:solidFill>
            <a:prstDash val="solid"/>
          </a:ln>
        </p:spPr>
      </p:sp>
      <p:sp>
        <p:nvSpPr>
          <p:cNvPr id="17" name="Shape 15"/>
          <p:cNvSpPr/>
          <p:nvPr/>
        </p:nvSpPr>
        <p:spPr>
          <a:xfrm>
            <a:off x="6446520" y="4023360"/>
            <a:ext cx="411480" cy="411480"/>
          </a:xfrm>
          <a:prstGeom prst="ellipse">
            <a:avLst/>
          </a:prstGeom>
          <a:solidFill>
            <a:srgbClr val="F0687A"/>
          </a:solidFill>
          <a:ln/>
        </p:spPr>
      </p:sp>
      <p:sp>
        <p:nvSpPr>
          <p:cNvPr id="18" name="Text 16"/>
          <p:cNvSpPr/>
          <p:nvPr/>
        </p:nvSpPr>
        <p:spPr>
          <a:xfrm>
            <a:off x="7040880" y="3977640"/>
            <a:ext cx="4297680" cy="502920"/>
          </a:xfrm>
          <a:prstGeom prst="rect">
            <a:avLst/>
          </a:prstGeom>
          <a:noFill/>
          <a:ln/>
        </p:spPr>
        <p:txBody>
          <a:bodyPr wrap="square" lIns="0" tIns="0" rIns="0" bIns="0" rtlCol="0" anchor="ctr"/>
          <a:lstStyle/>
          <a:p>
            <a:pPr algn="l" indent="0" marL="0">
              <a:buNone/>
            </a:pPr>
            <a:r>
              <a:rPr lang="en-US" sz="1500" b="1" dirty="0">
                <a:solidFill>
                  <a:srgbClr val="EAF2F5"/>
                </a:solidFill>
                <a:latin typeface="Cambria" pitchFamily="34" charset="0"/>
                <a:ea typeface="Cambria" pitchFamily="34" charset="-122"/>
                <a:cs typeface="Cambria" pitchFamily="34" charset="-120"/>
              </a:rPr>
              <a:t>Privacidad por diseño</a:t>
            </a:r>
            <a:endParaRPr lang="en-US" sz="1500" dirty="0"/>
          </a:p>
        </p:txBody>
      </p:sp>
      <p:sp>
        <p:nvSpPr>
          <p:cNvPr id="19" name="Text 17"/>
          <p:cNvSpPr/>
          <p:nvPr/>
        </p:nvSpPr>
        <p:spPr>
          <a:xfrm>
            <a:off x="7040880" y="4480560"/>
            <a:ext cx="4297680" cy="960120"/>
          </a:xfrm>
          <a:prstGeom prst="rect">
            <a:avLst/>
          </a:prstGeom>
          <a:noFill/>
          <a:ln/>
        </p:spPr>
        <p:txBody>
          <a:bodyPr wrap="square" lIns="0" tIns="0" rIns="0" bIns="0" rtlCol="0" anchor="ctr"/>
          <a:lstStyle/>
          <a:p>
            <a:pPr algn="l" indent="0" marL="0">
              <a:lnSpc>
                <a:spcPct val="115000"/>
              </a:lnSpc>
              <a:buNone/>
            </a:pPr>
            <a:r>
              <a:rPr lang="en-US" sz="1150" dirty="0">
                <a:solidFill>
                  <a:srgbClr val="8AA0B2"/>
                </a:solidFill>
                <a:latin typeface="Calibri" pitchFamily="34" charset="0"/>
                <a:ea typeface="Calibri" pitchFamily="34" charset="-122"/>
                <a:cs typeface="Calibri" pitchFamily="34" charset="-120"/>
              </a:rPr>
              <a:t>Todo se procesa y guarda en el dispositivo (localStorage). Nada viaja a un servidor, y el botón "Borrar mis datos" lo elimina todo.</a:t>
            </a:r>
            <a:endParaRPr lang="en-US" sz="1150" dirty="0"/>
          </a:p>
        </p:txBody>
      </p:sp>
      <p:sp>
        <p:nvSpPr>
          <p:cNvPr id="20" name="Text 18"/>
          <p:cNvSpPr/>
          <p:nvPr/>
        </p:nvSpPr>
        <p:spPr>
          <a:xfrm>
            <a:off x="548640" y="5760720"/>
            <a:ext cx="11064240" cy="777240"/>
          </a:xfrm>
          <a:prstGeom prst="rect">
            <a:avLst/>
          </a:prstGeom>
          <a:noFill/>
          <a:ln/>
        </p:spPr>
        <p:txBody>
          <a:bodyPr wrap="square" lIns="0" tIns="0" rIns="0" bIns="0" rtlCol="0" anchor="t"/>
          <a:lstStyle/>
          <a:p>
            <a:pPr algn="l" indent="0" marL="0">
              <a:buNone/>
            </a:pPr>
            <a:r>
              <a:rPr lang="en-US" sz="1100" b="1" spc="100" kern="0" dirty="0">
                <a:solidFill>
                  <a:srgbClr val="4FD8C4"/>
                </a:solidFill>
                <a:latin typeface="Calibri" pitchFamily="34" charset="0"/>
                <a:ea typeface="Calibri" pitchFamily="34" charset="-122"/>
                <a:cs typeface="Calibri" pitchFamily="34" charset="-120"/>
              </a:rPr>
              <a:t>POR QUÉ IMPORTA  ·  </a:t>
            </a:r>
            <a:pPr algn="l" indent="0" marL="0">
              <a:lnSpc>
                <a:spcPct val="115000"/>
              </a:lnSpc>
              <a:buNone/>
            </a:pPr>
            <a:r>
              <a:rPr lang="en-US" sz="1250" dirty="0">
                <a:solidFill>
                  <a:srgbClr val="8AA0B2"/>
                </a:solidFill>
                <a:latin typeface="Calibri" pitchFamily="34" charset="0"/>
                <a:ea typeface="Calibri" pitchFamily="34" charset="-122"/>
                <a:cs typeface="Calibri" pitchFamily="34" charset="-120"/>
              </a:rPr>
              <a:t>Un modelo predictivo solo genera valor si el usuario lo entiende y confía en él. Estas funciones convierten el índice de riesgo en una herramienta diaria, y el feedback de uso alimenta el reentrenamiento del modelo (fase 6 del roadmap).</a:t>
            </a:r>
            <a:endParaRPr lang="en-US" sz="1100" dirty="0"/>
          </a:p>
        </p:txBody>
      </p:sp>
      <p:sp>
        <p:nvSpPr>
          <p:cNvPr id="21" name="Text 19"/>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22" name="Text 20"/>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De la idea al despliegue en la nube</a:t>
            </a:r>
            <a:endParaRPr lang="en-US" sz="3200" dirty="0"/>
          </a:p>
        </p:txBody>
      </p:sp>
      <p:sp>
        <p:nvSpPr>
          <p:cNvPr id="4" name="Shape 2"/>
          <p:cNvSpPr/>
          <p:nvPr/>
        </p:nvSpPr>
        <p:spPr>
          <a:xfrm>
            <a:off x="548640" y="2103120"/>
            <a:ext cx="1737360" cy="2743200"/>
          </a:xfrm>
          <a:prstGeom prst="roundRect">
            <a:avLst>
              <a:gd name="adj" fmla="val 6316"/>
            </a:avLst>
          </a:prstGeom>
          <a:solidFill>
            <a:srgbClr val="0D1B2A"/>
          </a:solidFill>
          <a:ln w="12700">
            <a:solidFill>
              <a:srgbClr val="4FD8C4"/>
            </a:solidFill>
            <a:prstDash val="solid"/>
          </a:ln>
        </p:spPr>
      </p:sp>
      <p:sp>
        <p:nvSpPr>
          <p:cNvPr id="5" name="Shape 3"/>
          <p:cNvSpPr/>
          <p:nvPr/>
        </p:nvSpPr>
        <p:spPr>
          <a:xfrm>
            <a:off x="1143000" y="2377440"/>
            <a:ext cx="548640" cy="548640"/>
          </a:xfrm>
          <a:prstGeom prst="ellipse">
            <a:avLst/>
          </a:prstGeom>
          <a:solidFill>
            <a:srgbClr val="4FD8C4"/>
          </a:solidFill>
          <a:ln/>
        </p:spPr>
      </p:sp>
      <p:sp>
        <p:nvSpPr>
          <p:cNvPr id="6" name="Text 4"/>
          <p:cNvSpPr/>
          <p:nvPr/>
        </p:nvSpPr>
        <p:spPr>
          <a:xfrm>
            <a:off x="1143000" y="2377440"/>
            <a:ext cx="548640" cy="548640"/>
          </a:xfrm>
          <a:prstGeom prst="rect">
            <a:avLst/>
          </a:prstGeom>
          <a:noFill/>
          <a:ln/>
        </p:spPr>
        <p:txBody>
          <a:bodyPr wrap="square" lIns="0" tIns="0" rIns="0" bIns="0" rtlCol="0" anchor="ctr"/>
          <a:lstStyle/>
          <a:p>
            <a:pPr algn="ctr" indent="0" marL="0">
              <a:buNone/>
            </a:pPr>
            <a:r>
              <a:rPr lang="en-US" sz="1500" b="1" dirty="0">
                <a:solidFill>
                  <a:srgbClr val="0A1420"/>
                </a:solidFill>
                <a:latin typeface="Cambria" pitchFamily="34" charset="0"/>
                <a:ea typeface="Cambria" pitchFamily="34" charset="-122"/>
                <a:cs typeface="Cambria" pitchFamily="34" charset="-120"/>
              </a:rPr>
              <a:t>1-2</a:t>
            </a:r>
            <a:endParaRPr lang="en-US" sz="1500" dirty="0"/>
          </a:p>
        </p:txBody>
      </p:sp>
      <p:sp>
        <p:nvSpPr>
          <p:cNvPr id="7" name="Text 5"/>
          <p:cNvSpPr/>
          <p:nvPr/>
        </p:nvSpPr>
        <p:spPr>
          <a:xfrm>
            <a:off x="685800" y="3108960"/>
            <a:ext cx="1463040" cy="731520"/>
          </a:xfrm>
          <a:prstGeom prst="rect">
            <a:avLst/>
          </a:prstGeom>
          <a:noFill/>
          <a:ln/>
        </p:spPr>
        <p:txBody>
          <a:bodyPr wrap="square" lIns="0" tIns="0" rIns="0" bIns="0" rtlCol="0" anchor="t"/>
          <a:lstStyle/>
          <a:p>
            <a:pPr algn="ctr" indent="0" marL="0">
              <a:buNone/>
            </a:pPr>
            <a:r>
              <a:rPr lang="en-US" sz="1300" b="1" dirty="0">
                <a:solidFill>
                  <a:srgbClr val="EAF2F5"/>
                </a:solidFill>
                <a:latin typeface="Cambria" pitchFamily="34" charset="0"/>
                <a:ea typeface="Cambria" pitchFamily="34" charset="-122"/>
                <a:cs typeface="Cambria" pitchFamily="34" charset="-120"/>
              </a:rPr>
              <a:t>Definicion y desarrollo</a:t>
            </a:r>
            <a:endParaRPr lang="en-US" sz="1300" dirty="0"/>
          </a:p>
        </p:txBody>
      </p:sp>
      <p:sp>
        <p:nvSpPr>
          <p:cNvPr id="8" name="Text 6"/>
          <p:cNvSpPr/>
          <p:nvPr/>
        </p:nvSpPr>
        <p:spPr>
          <a:xfrm>
            <a:off x="685800" y="3840480"/>
            <a:ext cx="1463040" cy="822960"/>
          </a:xfrm>
          <a:prstGeom prst="rect">
            <a:avLst/>
          </a:prstGeom>
          <a:noFill/>
          <a:ln/>
        </p:spPr>
        <p:txBody>
          <a:bodyPr wrap="square" lIns="0" tIns="0" rIns="0" bIns="0" rtlCol="0" anchor="ctr"/>
          <a:lstStyle/>
          <a:p>
            <a:pPr algn="ctr" indent="0" marL="0">
              <a:lnSpc>
                <a:spcPct val="110000"/>
              </a:lnSpc>
              <a:buNone/>
            </a:pPr>
            <a:r>
              <a:rPr lang="en-US" sz="1100" dirty="0">
                <a:solidFill>
                  <a:srgbClr val="8AA0B2"/>
                </a:solidFill>
                <a:latin typeface="Calibri" pitchFamily="34" charset="0"/>
                <a:ea typeface="Calibri" pitchFamily="34" charset="-122"/>
                <a:cs typeface="Calibri" pitchFamily="34" charset="-120"/>
              </a:rPr>
              <a:t>Metricas y algoritmos</a:t>
            </a:r>
            <a:endParaRPr lang="en-US" sz="1100" dirty="0"/>
          </a:p>
        </p:txBody>
      </p:sp>
      <p:sp>
        <p:nvSpPr>
          <p:cNvPr id="9" name="Shape 7"/>
          <p:cNvSpPr/>
          <p:nvPr/>
        </p:nvSpPr>
        <p:spPr>
          <a:xfrm>
            <a:off x="2432304" y="2103120"/>
            <a:ext cx="1737360" cy="2743200"/>
          </a:xfrm>
          <a:prstGeom prst="roundRect">
            <a:avLst>
              <a:gd name="adj" fmla="val 6316"/>
            </a:avLst>
          </a:prstGeom>
          <a:solidFill>
            <a:srgbClr val="0D1B2A"/>
          </a:solidFill>
          <a:ln w="12700">
            <a:solidFill>
              <a:srgbClr val="4FD8C4"/>
            </a:solidFill>
            <a:prstDash val="solid"/>
          </a:ln>
        </p:spPr>
      </p:sp>
      <p:sp>
        <p:nvSpPr>
          <p:cNvPr id="10" name="Shape 8"/>
          <p:cNvSpPr/>
          <p:nvPr/>
        </p:nvSpPr>
        <p:spPr>
          <a:xfrm>
            <a:off x="3026664" y="2377440"/>
            <a:ext cx="548640" cy="548640"/>
          </a:xfrm>
          <a:prstGeom prst="ellipse">
            <a:avLst/>
          </a:prstGeom>
          <a:solidFill>
            <a:srgbClr val="4FD8C4"/>
          </a:solidFill>
          <a:ln/>
        </p:spPr>
      </p:sp>
      <p:sp>
        <p:nvSpPr>
          <p:cNvPr id="11" name="Text 9"/>
          <p:cNvSpPr/>
          <p:nvPr/>
        </p:nvSpPr>
        <p:spPr>
          <a:xfrm>
            <a:off x="3026664" y="2377440"/>
            <a:ext cx="548640" cy="548640"/>
          </a:xfrm>
          <a:prstGeom prst="rect">
            <a:avLst/>
          </a:prstGeom>
          <a:noFill/>
          <a:ln/>
        </p:spPr>
        <p:txBody>
          <a:bodyPr wrap="square" lIns="0" tIns="0" rIns="0" bIns="0" rtlCol="0" anchor="ctr"/>
          <a:lstStyle/>
          <a:p>
            <a:pPr algn="ctr" indent="0" marL="0">
              <a:buNone/>
            </a:pPr>
            <a:r>
              <a:rPr lang="en-US" sz="1500" b="1" dirty="0">
                <a:solidFill>
                  <a:srgbClr val="0A1420"/>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2569464" y="3108960"/>
            <a:ext cx="1463040" cy="731520"/>
          </a:xfrm>
          <a:prstGeom prst="rect">
            <a:avLst/>
          </a:prstGeom>
          <a:noFill/>
          <a:ln/>
        </p:spPr>
        <p:txBody>
          <a:bodyPr wrap="square" lIns="0" tIns="0" rIns="0" bIns="0" rtlCol="0" anchor="t"/>
          <a:lstStyle/>
          <a:p>
            <a:pPr algn="ctr" indent="0" marL="0">
              <a:buNone/>
            </a:pPr>
            <a:r>
              <a:rPr lang="en-US" sz="1300" b="1" dirty="0">
                <a:solidFill>
                  <a:srgbClr val="EAF2F5"/>
                </a:solidFill>
                <a:latin typeface="Cambria" pitchFamily="34" charset="0"/>
                <a:ea typeface="Cambria" pitchFamily="34" charset="-122"/>
                <a:cs typeface="Cambria" pitchFamily="34" charset="-120"/>
              </a:rPr>
              <a:t>Pruebas con usuarios</a:t>
            </a:r>
            <a:endParaRPr lang="en-US" sz="1300" dirty="0"/>
          </a:p>
        </p:txBody>
      </p:sp>
      <p:sp>
        <p:nvSpPr>
          <p:cNvPr id="13" name="Text 11"/>
          <p:cNvSpPr/>
          <p:nvPr/>
        </p:nvSpPr>
        <p:spPr>
          <a:xfrm>
            <a:off x="2569464" y="3840480"/>
            <a:ext cx="1463040" cy="822960"/>
          </a:xfrm>
          <a:prstGeom prst="rect">
            <a:avLst/>
          </a:prstGeom>
          <a:noFill/>
          <a:ln/>
        </p:spPr>
        <p:txBody>
          <a:bodyPr wrap="square" lIns="0" tIns="0" rIns="0" bIns="0" rtlCol="0" anchor="ctr"/>
          <a:lstStyle/>
          <a:p>
            <a:pPr algn="ctr" indent="0" marL="0">
              <a:lnSpc>
                <a:spcPct val="110000"/>
              </a:lnSpc>
              <a:buNone/>
            </a:pPr>
            <a:r>
              <a:rPr lang="en-US" sz="1100" dirty="0">
                <a:solidFill>
                  <a:srgbClr val="8AA0B2"/>
                </a:solidFill>
                <a:latin typeface="Calibri" pitchFamily="34" charset="0"/>
                <a:ea typeface="Calibri" pitchFamily="34" charset="-122"/>
                <a:cs typeface="Calibri" pitchFamily="34" charset="-120"/>
              </a:rPr>
              <a:t>Datos de otros usuarios</a:t>
            </a:r>
            <a:endParaRPr lang="en-US" sz="1100" dirty="0"/>
          </a:p>
        </p:txBody>
      </p:sp>
      <p:sp>
        <p:nvSpPr>
          <p:cNvPr id="14" name="Shape 12"/>
          <p:cNvSpPr/>
          <p:nvPr/>
        </p:nvSpPr>
        <p:spPr>
          <a:xfrm>
            <a:off x="4315968" y="2103120"/>
            <a:ext cx="1737360" cy="2743200"/>
          </a:xfrm>
          <a:prstGeom prst="roundRect">
            <a:avLst>
              <a:gd name="adj" fmla="val 6316"/>
            </a:avLst>
          </a:prstGeom>
          <a:solidFill>
            <a:srgbClr val="0D1B2A"/>
          </a:solidFill>
          <a:ln w="12700">
            <a:solidFill>
              <a:srgbClr val="4FD8C4"/>
            </a:solidFill>
            <a:prstDash val="solid"/>
          </a:ln>
        </p:spPr>
      </p:sp>
      <p:sp>
        <p:nvSpPr>
          <p:cNvPr id="15" name="Shape 13"/>
          <p:cNvSpPr/>
          <p:nvPr/>
        </p:nvSpPr>
        <p:spPr>
          <a:xfrm>
            <a:off x="4910328" y="2377440"/>
            <a:ext cx="548640" cy="548640"/>
          </a:xfrm>
          <a:prstGeom prst="ellipse">
            <a:avLst/>
          </a:prstGeom>
          <a:solidFill>
            <a:srgbClr val="F2B84B"/>
          </a:solidFill>
          <a:ln/>
        </p:spPr>
      </p:sp>
      <p:sp>
        <p:nvSpPr>
          <p:cNvPr id="16" name="Text 14"/>
          <p:cNvSpPr/>
          <p:nvPr/>
        </p:nvSpPr>
        <p:spPr>
          <a:xfrm>
            <a:off x="4910328" y="2377440"/>
            <a:ext cx="548640" cy="548640"/>
          </a:xfrm>
          <a:prstGeom prst="rect">
            <a:avLst/>
          </a:prstGeom>
          <a:noFill/>
          <a:ln/>
        </p:spPr>
        <p:txBody>
          <a:bodyPr wrap="square" lIns="0" tIns="0" rIns="0" bIns="0" rtlCol="0" anchor="ctr"/>
          <a:lstStyle/>
          <a:p>
            <a:pPr algn="ctr" indent="0" marL="0">
              <a:buNone/>
            </a:pPr>
            <a:r>
              <a:rPr lang="en-US" sz="1500" b="1" dirty="0">
                <a:solidFill>
                  <a:srgbClr val="0A1420"/>
                </a:solidFill>
                <a:latin typeface="Cambria" pitchFamily="34" charset="0"/>
                <a:ea typeface="Cambria" pitchFamily="34" charset="-122"/>
                <a:cs typeface="Cambria" pitchFamily="34" charset="-120"/>
              </a:rPr>
              <a:t>4</a:t>
            </a:r>
            <a:endParaRPr lang="en-US" sz="1500" dirty="0"/>
          </a:p>
        </p:txBody>
      </p:sp>
      <p:sp>
        <p:nvSpPr>
          <p:cNvPr id="17" name="Text 15"/>
          <p:cNvSpPr/>
          <p:nvPr/>
        </p:nvSpPr>
        <p:spPr>
          <a:xfrm>
            <a:off x="4453128" y="3108960"/>
            <a:ext cx="1463040" cy="731520"/>
          </a:xfrm>
          <a:prstGeom prst="rect">
            <a:avLst/>
          </a:prstGeom>
          <a:noFill/>
          <a:ln/>
        </p:spPr>
        <p:txBody>
          <a:bodyPr wrap="square" lIns="0" tIns="0" rIns="0" bIns="0" rtlCol="0" anchor="t"/>
          <a:lstStyle/>
          <a:p>
            <a:pPr algn="ctr" indent="0" marL="0">
              <a:buNone/>
            </a:pPr>
            <a:r>
              <a:rPr lang="en-US" sz="1300" b="1" dirty="0">
                <a:solidFill>
                  <a:srgbClr val="EAF2F5"/>
                </a:solidFill>
                <a:latin typeface="Cambria" pitchFamily="34" charset="0"/>
                <a:ea typeface="Cambria" pitchFamily="34" charset="-122"/>
                <a:cs typeface="Cambria" pitchFamily="34" charset="-120"/>
              </a:rPr>
              <a:t>MVP (HOY)</a:t>
            </a:r>
            <a:endParaRPr lang="en-US" sz="1300" dirty="0"/>
          </a:p>
        </p:txBody>
      </p:sp>
      <p:sp>
        <p:nvSpPr>
          <p:cNvPr id="18" name="Text 16"/>
          <p:cNvSpPr/>
          <p:nvPr/>
        </p:nvSpPr>
        <p:spPr>
          <a:xfrm>
            <a:off x="4453128" y="3840480"/>
            <a:ext cx="1463040" cy="822960"/>
          </a:xfrm>
          <a:prstGeom prst="rect">
            <a:avLst/>
          </a:prstGeom>
          <a:noFill/>
          <a:ln/>
        </p:spPr>
        <p:txBody>
          <a:bodyPr wrap="square" lIns="0" tIns="0" rIns="0" bIns="0" rtlCol="0" anchor="ctr"/>
          <a:lstStyle/>
          <a:p>
            <a:pPr algn="ctr" indent="0" marL="0">
              <a:lnSpc>
                <a:spcPct val="110000"/>
              </a:lnSpc>
              <a:buNone/>
            </a:pPr>
            <a:r>
              <a:rPr lang="en-US" sz="1100" dirty="0">
                <a:solidFill>
                  <a:srgbClr val="8AA0B2"/>
                </a:solidFill>
                <a:latin typeface="Calibri" pitchFamily="34" charset="0"/>
                <a:ea typeface="Calibri" pitchFamily="34" charset="-122"/>
                <a:cs typeface="Calibri" pitchFamily="34" charset="-120"/>
              </a:rPr>
              <a:t>App en vivo + 3 modelos</a:t>
            </a:r>
            <a:endParaRPr lang="en-US" sz="1100" dirty="0"/>
          </a:p>
        </p:txBody>
      </p:sp>
      <p:sp>
        <p:nvSpPr>
          <p:cNvPr id="19" name="Shape 17"/>
          <p:cNvSpPr/>
          <p:nvPr/>
        </p:nvSpPr>
        <p:spPr>
          <a:xfrm>
            <a:off x="6199632" y="2103120"/>
            <a:ext cx="1737360" cy="2743200"/>
          </a:xfrm>
          <a:prstGeom prst="roundRect">
            <a:avLst>
              <a:gd name="adj" fmla="val 6316"/>
            </a:avLst>
          </a:prstGeom>
          <a:solidFill>
            <a:srgbClr val="101F30"/>
          </a:solidFill>
          <a:ln w="12700">
            <a:solidFill>
              <a:srgbClr val="1D3348"/>
            </a:solidFill>
            <a:prstDash val="solid"/>
          </a:ln>
        </p:spPr>
      </p:sp>
      <p:sp>
        <p:nvSpPr>
          <p:cNvPr id="20" name="Shape 18"/>
          <p:cNvSpPr/>
          <p:nvPr/>
        </p:nvSpPr>
        <p:spPr>
          <a:xfrm>
            <a:off x="6793992" y="2377440"/>
            <a:ext cx="548640" cy="548640"/>
          </a:xfrm>
          <a:prstGeom prst="ellipse">
            <a:avLst/>
          </a:prstGeom>
          <a:solidFill>
            <a:srgbClr val="9BA8F2"/>
          </a:solidFill>
          <a:ln/>
        </p:spPr>
      </p:sp>
      <p:sp>
        <p:nvSpPr>
          <p:cNvPr id="21" name="Text 19"/>
          <p:cNvSpPr/>
          <p:nvPr/>
        </p:nvSpPr>
        <p:spPr>
          <a:xfrm>
            <a:off x="6793992" y="2377440"/>
            <a:ext cx="548640" cy="548640"/>
          </a:xfrm>
          <a:prstGeom prst="rect">
            <a:avLst/>
          </a:prstGeom>
          <a:noFill/>
          <a:ln/>
        </p:spPr>
        <p:txBody>
          <a:bodyPr wrap="square" lIns="0" tIns="0" rIns="0" bIns="0" rtlCol="0" anchor="ctr"/>
          <a:lstStyle/>
          <a:p>
            <a:pPr algn="ctr" indent="0" marL="0">
              <a:buNone/>
            </a:pPr>
            <a:r>
              <a:rPr lang="en-US" sz="1500" b="1" dirty="0">
                <a:solidFill>
                  <a:srgbClr val="0A1420"/>
                </a:solidFill>
                <a:latin typeface="Cambria" pitchFamily="34" charset="0"/>
                <a:ea typeface="Cambria" pitchFamily="34" charset="-122"/>
                <a:cs typeface="Cambria" pitchFamily="34" charset="-120"/>
              </a:rPr>
              <a:t>5</a:t>
            </a:r>
            <a:endParaRPr lang="en-US" sz="1500" dirty="0"/>
          </a:p>
        </p:txBody>
      </p:sp>
      <p:sp>
        <p:nvSpPr>
          <p:cNvPr id="22" name="Text 20"/>
          <p:cNvSpPr/>
          <p:nvPr/>
        </p:nvSpPr>
        <p:spPr>
          <a:xfrm>
            <a:off x="6336792" y="3108960"/>
            <a:ext cx="1463040" cy="731520"/>
          </a:xfrm>
          <a:prstGeom prst="rect">
            <a:avLst/>
          </a:prstGeom>
          <a:noFill/>
          <a:ln/>
        </p:spPr>
        <p:txBody>
          <a:bodyPr wrap="square" lIns="0" tIns="0" rIns="0" bIns="0" rtlCol="0" anchor="t"/>
          <a:lstStyle/>
          <a:p>
            <a:pPr algn="ctr" indent="0" marL="0">
              <a:buNone/>
            </a:pPr>
            <a:r>
              <a:rPr lang="en-US" sz="1300" b="1" dirty="0">
                <a:solidFill>
                  <a:srgbClr val="EAF2F5"/>
                </a:solidFill>
                <a:latin typeface="Cambria" pitchFamily="34" charset="0"/>
                <a:ea typeface="Cambria" pitchFamily="34" charset="-122"/>
                <a:cs typeface="Cambria" pitchFamily="34" charset="-120"/>
              </a:rPr>
              <a:t>API Fitbit/Whoop</a:t>
            </a:r>
            <a:endParaRPr lang="en-US" sz="1300" dirty="0"/>
          </a:p>
        </p:txBody>
      </p:sp>
      <p:sp>
        <p:nvSpPr>
          <p:cNvPr id="23" name="Text 21"/>
          <p:cNvSpPr/>
          <p:nvPr/>
        </p:nvSpPr>
        <p:spPr>
          <a:xfrm>
            <a:off x="6336792" y="3840480"/>
            <a:ext cx="1463040" cy="822960"/>
          </a:xfrm>
          <a:prstGeom prst="rect">
            <a:avLst/>
          </a:prstGeom>
          <a:noFill/>
          <a:ln/>
        </p:spPr>
        <p:txBody>
          <a:bodyPr wrap="square" lIns="0" tIns="0" rIns="0" bIns="0" rtlCol="0" anchor="ctr"/>
          <a:lstStyle/>
          <a:p>
            <a:pPr algn="ctr" indent="0" marL="0">
              <a:lnSpc>
                <a:spcPct val="110000"/>
              </a:lnSpc>
              <a:buNone/>
            </a:pPr>
            <a:r>
              <a:rPr lang="en-US" sz="1100" dirty="0">
                <a:solidFill>
                  <a:srgbClr val="8AA0B2"/>
                </a:solidFill>
                <a:latin typeface="Calibri" pitchFamily="34" charset="0"/>
                <a:ea typeface="Calibri" pitchFamily="34" charset="-122"/>
                <a:cs typeface="Calibri" pitchFamily="34" charset="-120"/>
              </a:rPr>
              <a:t>Integracion directa</a:t>
            </a:r>
            <a:endParaRPr lang="en-US" sz="1100" dirty="0"/>
          </a:p>
        </p:txBody>
      </p:sp>
      <p:sp>
        <p:nvSpPr>
          <p:cNvPr id="24" name="Shape 22"/>
          <p:cNvSpPr/>
          <p:nvPr/>
        </p:nvSpPr>
        <p:spPr>
          <a:xfrm>
            <a:off x="8083296" y="2103120"/>
            <a:ext cx="1737360" cy="2743200"/>
          </a:xfrm>
          <a:prstGeom prst="roundRect">
            <a:avLst>
              <a:gd name="adj" fmla="val 6316"/>
            </a:avLst>
          </a:prstGeom>
          <a:solidFill>
            <a:srgbClr val="101F30"/>
          </a:solidFill>
          <a:ln w="12700">
            <a:solidFill>
              <a:srgbClr val="1D3348"/>
            </a:solidFill>
            <a:prstDash val="solid"/>
          </a:ln>
        </p:spPr>
      </p:sp>
      <p:sp>
        <p:nvSpPr>
          <p:cNvPr id="25" name="Shape 23"/>
          <p:cNvSpPr/>
          <p:nvPr/>
        </p:nvSpPr>
        <p:spPr>
          <a:xfrm>
            <a:off x="8677656" y="2377440"/>
            <a:ext cx="548640" cy="548640"/>
          </a:xfrm>
          <a:prstGeom prst="ellipse">
            <a:avLst/>
          </a:prstGeom>
          <a:solidFill>
            <a:srgbClr val="9BA8F2"/>
          </a:solidFill>
          <a:ln/>
        </p:spPr>
      </p:sp>
      <p:sp>
        <p:nvSpPr>
          <p:cNvPr id="26" name="Text 24"/>
          <p:cNvSpPr/>
          <p:nvPr/>
        </p:nvSpPr>
        <p:spPr>
          <a:xfrm>
            <a:off x="8677656" y="2377440"/>
            <a:ext cx="548640" cy="548640"/>
          </a:xfrm>
          <a:prstGeom prst="rect">
            <a:avLst/>
          </a:prstGeom>
          <a:noFill/>
          <a:ln/>
        </p:spPr>
        <p:txBody>
          <a:bodyPr wrap="square" lIns="0" tIns="0" rIns="0" bIns="0" rtlCol="0" anchor="ctr"/>
          <a:lstStyle/>
          <a:p>
            <a:pPr algn="ctr" indent="0" marL="0">
              <a:buNone/>
            </a:pPr>
            <a:r>
              <a:rPr lang="en-US" sz="1500" b="1" dirty="0">
                <a:solidFill>
                  <a:srgbClr val="0A1420"/>
                </a:solidFill>
                <a:latin typeface="Cambria" pitchFamily="34" charset="0"/>
                <a:ea typeface="Cambria" pitchFamily="34" charset="-122"/>
                <a:cs typeface="Cambria" pitchFamily="34" charset="-120"/>
              </a:rPr>
              <a:t>6</a:t>
            </a:r>
            <a:endParaRPr lang="en-US" sz="1500" dirty="0"/>
          </a:p>
        </p:txBody>
      </p:sp>
      <p:sp>
        <p:nvSpPr>
          <p:cNvPr id="27" name="Text 25"/>
          <p:cNvSpPr/>
          <p:nvPr/>
        </p:nvSpPr>
        <p:spPr>
          <a:xfrm>
            <a:off x="8220456" y="3108960"/>
            <a:ext cx="1463040" cy="731520"/>
          </a:xfrm>
          <a:prstGeom prst="rect">
            <a:avLst/>
          </a:prstGeom>
          <a:noFill/>
          <a:ln/>
        </p:spPr>
        <p:txBody>
          <a:bodyPr wrap="square" lIns="0" tIns="0" rIns="0" bIns="0" rtlCol="0" anchor="t"/>
          <a:lstStyle/>
          <a:p>
            <a:pPr algn="ctr" indent="0" marL="0">
              <a:buNone/>
            </a:pPr>
            <a:r>
              <a:rPr lang="en-US" sz="1300" b="1" dirty="0">
                <a:solidFill>
                  <a:srgbClr val="EAF2F5"/>
                </a:solidFill>
                <a:latin typeface="Cambria" pitchFamily="34" charset="0"/>
                <a:ea typeface="Cambria" pitchFamily="34" charset="-122"/>
                <a:cs typeface="Cambria" pitchFamily="34" charset="-120"/>
              </a:rPr>
              <a:t>Usuarios en vivo</a:t>
            </a:r>
            <a:endParaRPr lang="en-US" sz="1300" dirty="0"/>
          </a:p>
        </p:txBody>
      </p:sp>
      <p:sp>
        <p:nvSpPr>
          <p:cNvPr id="28" name="Text 26"/>
          <p:cNvSpPr/>
          <p:nvPr/>
        </p:nvSpPr>
        <p:spPr>
          <a:xfrm>
            <a:off x="8220456" y="3840480"/>
            <a:ext cx="1463040" cy="822960"/>
          </a:xfrm>
          <a:prstGeom prst="rect">
            <a:avLst/>
          </a:prstGeom>
          <a:noFill/>
          <a:ln/>
        </p:spPr>
        <p:txBody>
          <a:bodyPr wrap="square" lIns="0" tIns="0" rIns="0" bIns="0" rtlCol="0" anchor="ctr"/>
          <a:lstStyle/>
          <a:p>
            <a:pPr algn="ctr" indent="0" marL="0">
              <a:lnSpc>
                <a:spcPct val="110000"/>
              </a:lnSpc>
              <a:buNone/>
            </a:pPr>
            <a:r>
              <a:rPr lang="en-US" sz="1100" dirty="0">
                <a:solidFill>
                  <a:srgbClr val="8AA0B2"/>
                </a:solidFill>
                <a:latin typeface="Calibri" pitchFamily="34" charset="0"/>
                <a:ea typeface="Calibri" pitchFamily="34" charset="-122"/>
                <a:cs typeface="Calibri" pitchFamily="34" charset="-120"/>
              </a:rPr>
              <a:t>Mejorar recall con datos reales</a:t>
            </a:r>
            <a:endParaRPr lang="en-US" sz="1100" dirty="0"/>
          </a:p>
        </p:txBody>
      </p:sp>
      <p:sp>
        <p:nvSpPr>
          <p:cNvPr id="29" name="Shape 27"/>
          <p:cNvSpPr/>
          <p:nvPr/>
        </p:nvSpPr>
        <p:spPr>
          <a:xfrm>
            <a:off x="9966960" y="2103120"/>
            <a:ext cx="1737360" cy="2743200"/>
          </a:xfrm>
          <a:prstGeom prst="roundRect">
            <a:avLst>
              <a:gd name="adj" fmla="val 6316"/>
            </a:avLst>
          </a:prstGeom>
          <a:solidFill>
            <a:srgbClr val="101F30"/>
          </a:solidFill>
          <a:ln w="12700">
            <a:solidFill>
              <a:srgbClr val="1D3348"/>
            </a:solidFill>
            <a:prstDash val="solid"/>
          </a:ln>
        </p:spPr>
      </p:sp>
      <p:sp>
        <p:nvSpPr>
          <p:cNvPr id="30" name="Shape 28"/>
          <p:cNvSpPr/>
          <p:nvPr/>
        </p:nvSpPr>
        <p:spPr>
          <a:xfrm>
            <a:off x="10561320" y="2377440"/>
            <a:ext cx="548640" cy="548640"/>
          </a:xfrm>
          <a:prstGeom prst="ellipse">
            <a:avLst/>
          </a:prstGeom>
          <a:solidFill>
            <a:srgbClr val="F0687A"/>
          </a:solidFill>
          <a:ln/>
        </p:spPr>
      </p:sp>
      <p:sp>
        <p:nvSpPr>
          <p:cNvPr id="31" name="Text 29"/>
          <p:cNvSpPr/>
          <p:nvPr/>
        </p:nvSpPr>
        <p:spPr>
          <a:xfrm>
            <a:off x="10561320" y="2377440"/>
            <a:ext cx="548640" cy="548640"/>
          </a:xfrm>
          <a:prstGeom prst="rect">
            <a:avLst/>
          </a:prstGeom>
          <a:noFill/>
          <a:ln/>
        </p:spPr>
        <p:txBody>
          <a:bodyPr wrap="square" lIns="0" tIns="0" rIns="0" bIns="0" rtlCol="0" anchor="ctr"/>
          <a:lstStyle/>
          <a:p>
            <a:pPr algn="ctr" indent="0" marL="0">
              <a:buNone/>
            </a:pPr>
            <a:r>
              <a:rPr lang="en-US" sz="1500" b="1" dirty="0">
                <a:solidFill>
                  <a:srgbClr val="0A1420"/>
                </a:solidFill>
                <a:latin typeface="Cambria" pitchFamily="34" charset="0"/>
                <a:ea typeface="Cambria" pitchFamily="34" charset="-122"/>
                <a:cs typeface="Cambria" pitchFamily="34" charset="-120"/>
              </a:rPr>
              <a:t>7-8</a:t>
            </a:r>
            <a:endParaRPr lang="en-US" sz="1500" dirty="0"/>
          </a:p>
        </p:txBody>
      </p:sp>
      <p:sp>
        <p:nvSpPr>
          <p:cNvPr id="32" name="Text 30"/>
          <p:cNvSpPr/>
          <p:nvPr/>
        </p:nvSpPr>
        <p:spPr>
          <a:xfrm>
            <a:off x="10104120" y="3108960"/>
            <a:ext cx="1463040" cy="731520"/>
          </a:xfrm>
          <a:prstGeom prst="rect">
            <a:avLst/>
          </a:prstGeom>
          <a:noFill/>
          <a:ln/>
        </p:spPr>
        <p:txBody>
          <a:bodyPr wrap="square" lIns="0" tIns="0" rIns="0" bIns="0" rtlCol="0" anchor="t"/>
          <a:lstStyle/>
          <a:p>
            <a:pPr algn="ctr" indent="0" marL="0">
              <a:buNone/>
            </a:pPr>
            <a:r>
              <a:rPr lang="en-US" sz="1300" b="1" dirty="0">
                <a:solidFill>
                  <a:srgbClr val="EAF2F5"/>
                </a:solidFill>
                <a:latin typeface="Cambria" pitchFamily="34" charset="0"/>
                <a:ea typeface="Cambria" pitchFamily="34" charset="-122"/>
                <a:cs typeface="Cambria" pitchFamily="34" charset="-120"/>
              </a:rPr>
              <a:t>Cambios y nube</a:t>
            </a:r>
            <a:endParaRPr lang="en-US" sz="1300" dirty="0"/>
          </a:p>
        </p:txBody>
      </p:sp>
      <p:sp>
        <p:nvSpPr>
          <p:cNvPr id="33" name="Text 31"/>
          <p:cNvSpPr/>
          <p:nvPr/>
        </p:nvSpPr>
        <p:spPr>
          <a:xfrm>
            <a:off x="10104120" y="3840480"/>
            <a:ext cx="1463040" cy="822960"/>
          </a:xfrm>
          <a:prstGeom prst="rect">
            <a:avLst/>
          </a:prstGeom>
          <a:noFill/>
          <a:ln/>
        </p:spPr>
        <p:txBody>
          <a:bodyPr wrap="square" lIns="0" tIns="0" rIns="0" bIns="0" rtlCol="0" anchor="ctr"/>
          <a:lstStyle/>
          <a:p>
            <a:pPr algn="ctr" indent="0" marL="0">
              <a:lnSpc>
                <a:spcPct val="110000"/>
              </a:lnSpc>
              <a:buNone/>
            </a:pPr>
            <a:r>
              <a:rPr lang="en-US" sz="1100" dirty="0">
                <a:solidFill>
                  <a:srgbClr val="8AA0B2"/>
                </a:solidFill>
                <a:latin typeface="Calibri" pitchFamily="34" charset="0"/>
                <a:ea typeface="Calibri" pitchFamily="34" charset="-122"/>
                <a:cs typeface="Calibri" pitchFamily="34" charset="-120"/>
              </a:rPr>
              <a:t>Despliegue produccion</a:t>
            </a:r>
            <a:endParaRPr lang="en-US" sz="1100" dirty="0"/>
          </a:p>
        </p:txBody>
      </p:sp>
      <p:sp>
        <p:nvSpPr>
          <p:cNvPr id="34" name="Text 32"/>
          <p:cNvSpPr/>
          <p:nvPr/>
        </p:nvSpPr>
        <p:spPr>
          <a:xfrm>
            <a:off x="548640" y="5212080"/>
            <a:ext cx="11064240" cy="640080"/>
          </a:xfrm>
          <a:prstGeom prst="rect">
            <a:avLst/>
          </a:prstGeom>
          <a:noFill/>
          <a:ln/>
        </p:spPr>
        <p:txBody>
          <a:bodyPr wrap="square" lIns="0" tIns="0" rIns="0" bIns="0" rtlCol="0" anchor="ctr"/>
          <a:lstStyle/>
          <a:p>
            <a:pPr algn="l" indent="0" marL="0">
              <a:lnSpc>
                <a:spcPct val="115000"/>
              </a:lnSpc>
              <a:buNone/>
            </a:pPr>
            <a:r>
              <a:rPr lang="en-US" sz="1400" i="1" dirty="0">
                <a:solidFill>
                  <a:srgbClr val="4FD8C4"/>
                </a:solidFill>
                <a:latin typeface="Calibri" pitchFamily="34" charset="0"/>
                <a:ea typeface="Calibri" pitchFamily="34" charset="-122"/>
                <a:cs typeface="Calibri" pitchFamily="34" charset="-120"/>
              </a:rPr>
              <a:t>Estamos en la Fase 4: el MVP funciona y los modelos estan validados. Buscamos capital para acelerar Fases 5-8.</a:t>
            </a:r>
            <a:endParaRPr lang="en-US" sz="1400" dirty="0"/>
          </a:p>
        </p:txBody>
      </p:sp>
      <p:sp>
        <p:nvSpPr>
          <p:cNvPr id="35" name="Text 33"/>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A0B2"/>
                </a:solidFill>
                <a:latin typeface="Calibri" pitchFamily="34" charset="0"/>
                <a:ea typeface="Calibri" pitchFamily="34" charset="-122"/>
                <a:cs typeface="Calibri" pitchFamily="34" charset="-120"/>
              </a:rPr>
              <a:t>BioPulse  ·  Predictive Biometric Analytics</a:t>
            </a:r>
            <a:endParaRPr lang="en-US" sz="900" dirty="0"/>
          </a:p>
        </p:txBody>
      </p:sp>
      <p:sp>
        <p:nvSpPr>
          <p:cNvPr id="36" name="Text 34"/>
          <p:cNvSpPr/>
          <p:nvPr/>
        </p:nvSpPr>
        <p:spPr>
          <a:xfrm>
            <a:off x="11155680" y="6473952"/>
            <a:ext cx="548640" cy="274320"/>
          </a:xfrm>
          <a:prstGeom prst="rect">
            <a:avLst/>
          </a:prstGeom>
          <a:noFill/>
          <a:ln/>
        </p:spPr>
        <p:txBody>
          <a:bodyPr wrap="square" lIns="0" tIns="0" rIns="0" bIns="0" rtlCol="0" anchor="ctr"/>
          <a:lstStyle/>
          <a:p>
            <a:pPr algn="r" indent="0" marL="0">
              <a:buNone/>
            </a:pPr>
            <a:r>
              <a:rPr lang="en-US" sz="900" dirty="0">
                <a:solidFill>
                  <a:srgbClr val="8AA0B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420"/>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spc="200" kern="0" dirty="0">
                <a:solidFill>
                  <a:srgbClr val="4FD8C4"/>
                </a:solidFill>
                <a:latin typeface="Calibri" pitchFamily="34" charset="0"/>
                <a:ea typeface="Calibri" pitchFamily="34" charset="-122"/>
                <a:cs typeface="Calibri" pitchFamily="34" charset="-120"/>
              </a:rPr>
              <a:t>LA INVERSION</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EAF2F5"/>
                </a:solidFill>
                <a:latin typeface="Cambria" pitchFamily="34" charset="0"/>
                <a:ea typeface="Cambria" pitchFamily="34" charset="-122"/>
                <a:cs typeface="Cambria" pitchFamily="34" charset="-120"/>
              </a:rPr>
              <a:t>Lo que buscamos y para que</a:t>
            </a:r>
            <a:endParaRPr lang="en-US" sz="3200" dirty="0"/>
          </a:p>
        </p:txBody>
      </p:sp>
      <p:sp>
        <p:nvSpPr>
          <p:cNvPr id="4" name="Shape 2"/>
          <p:cNvSpPr/>
          <p:nvPr/>
        </p:nvSpPr>
        <p:spPr>
          <a:xfrm>
            <a:off x="548640" y="1828800"/>
            <a:ext cx="3383280" cy="2103120"/>
          </a:xfrm>
          <a:prstGeom prst="roundRect">
            <a:avLst>
              <a:gd name="adj" fmla="val 5217"/>
            </a:avLst>
          </a:prstGeom>
          <a:solidFill>
            <a:srgbClr val="0D1B2A"/>
          </a:solidFill>
          <a:ln w="12700">
            <a:solidFill>
              <a:srgbClr val="4FD8C4"/>
            </a:solidFill>
            <a:prstDash val="solid"/>
          </a:ln>
        </p:spPr>
      </p:sp>
      <p:sp>
        <p:nvSpPr>
          <p:cNvPr id="5" name="Text 3"/>
          <p:cNvSpPr/>
          <p:nvPr/>
        </p:nvSpPr>
        <p:spPr>
          <a:xfrm>
            <a:off x="822960" y="2148840"/>
            <a:ext cx="2834640" cy="914400"/>
          </a:xfrm>
          <a:prstGeom prst="rect">
            <a:avLst/>
          </a:prstGeom>
          <a:noFill/>
          <a:ln/>
        </p:spPr>
        <p:txBody>
          <a:bodyPr wrap="square" lIns="0" tIns="0" rIns="0" bIns="0" rtlCol="0" anchor="ctr"/>
          <a:lstStyle/>
          <a:p>
            <a:pPr algn="l" indent="0" marL="0">
              <a:buNone/>
            </a:pPr>
            <a:r>
              <a:rPr lang="en-US" sz="4000" b="1" dirty="0">
                <a:solidFill>
                  <a:srgbClr val="4FD8C4"/>
                </a:solidFill>
                <a:latin typeface="Cambria" pitchFamily="34" charset="0"/>
                <a:ea typeface="Cambria" pitchFamily="34" charset="-122"/>
                <a:cs typeface="Cambria" pitchFamily="34" charset="-120"/>
              </a:rPr>
              <a:t>$X</a:t>
            </a:r>
            <a:endParaRPr lang="en-US" sz="4000" dirty="0"/>
          </a:p>
        </p:txBody>
      </p:sp>
      <p:sp>
        <p:nvSpPr>
          <p:cNvPr id="6" name="Text 4"/>
          <p:cNvSpPr/>
          <p:nvPr/>
        </p:nvSpPr>
        <p:spPr>
          <a:xfrm>
            <a:off x="822960" y="3108960"/>
            <a:ext cx="2834640" cy="731520"/>
          </a:xfrm>
          <a:prstGeom prst="rect">
            <a:avLst/>
          </a:prstGeom>
          <a:noFill/>
          <a:ln/>
        </p:spPr>
        <p:txBody>
          <a:bodyPr wrap="square" lIns="0" tIns="0" rIns="0" bIns="0" rtlCol="0" anchor="ctr"/>
          <a:lstStyle/>
          <a:p>
            <a:pPr algn="l" indent="0" marL="0">
              <a:lnSpc>
                <a:spcPct val="115000"/>
              </a:lnSpc>
              <a:buNone/>
            </a:pPr>
            <a:r>
              <a:rPr lang="en-US" sz="1300" dirty="0">
                <a:solidFill>
                  <a:srgbClr val="EAF2F5"/>
                </a:solidFill>
                <a:latin typeface="Calibri" pitchFamily="34" charset="0"/>
                <a:ea typeface="Calibri" pitchFamily="34" charset="-122"/>
                <a:cs typeface="Calibri" pitchFamily="34" charset="-120"/>
              </a:rPr>
              <a:t>Ronda Serie Semilla</a:t>
            </a:r>
            <a:endParaRPr lang="en-US" sz="1300" dirty="0"/>
          </a:p>
        </p:txBody>
      </p:sp>
      <p:sp>
        <p:nvSpPr>
          <p:cNvPr id="7" name="Shape 5"/>
          <p:cNvSpPr/>
          <p:nvPr/>
        </p:nvSpPr>
        <p:spPr>
          <a:xfrm>
            <a:off x="4343400" y="1828800"/>
            <a:ext cx="3383280" cy="2103120"/>
          </a:xfrm>
          <a:prstGeom prst="roundRect">
            <a:avLst>
              <a:gd name="adj" fmla="val 5217"/>
            </a:avLst>
          </a:prstGeom>
          <a:solidFill>
            <a:srgbClr val="0D1B2A"/>
          </a:solidFill>
          <a:ln w="12700">
            <a:solidFill>
              <a:srgbClr val="F2B84B"/>
            </a:solidFill>
            <a:prstDash val="solid"/>
          </a:ln>
        </p:spPr>
      </p:sp>
      <p:sp>
        <p:nvSpPr>
          <p:cNvPr id="8" name="Text 6"/>
          <p:cNvSpPr/>
          <p:nvPr/>
        </p:nvSpPr>
        <p:spPr>
          <a:xfrm>
            <a:off x="4617720" y="2148840"/>
            <a:ext cx="2834640" cy="914400"/>
          </a:xfrm>
          <a:prstGeom prst="rect">
            <a:avLst/>
          </a:prstGeom>
          <a:noFill/>
          <a:ln/>
        </p:spPr>
        <p:txBody>
          <a:bodyPr wrap="square" lIns="0" tIns="0" rIns="0" bIns="0" rtlCol="0" anchor="ctr"/>
          <a:lstStyle/>
          <a:p>
            <a:pPr algn="l" indent="0" marL="0">
              <a:buNone/>
            </a:pPr>
            <a:r>
              <a:rPr lang="en-US" sz="4000" b="1" dirty="0">
                <a:solidFill>
                  <a:srgbClr val="F2B84B"/>
                </a:solidFill>
                <a:latin typeface="Cambria" pitchFamily="34" charset="0"/>
                <a:ea typeface="Cambria" pitchFamily="34" charset="-122"/>
                <a:cs typeface="Cambria" pitchFamily="34" charset="-120"/>
              </a:rPr>
              <a:t>Fase 5-8</a:t>
            </a:r>
            <a:endParaRPr lang="en-US" sz="4000" dirty="0"/>
          </a:p>
        </p:txBody>
      </p:sp>
      <p:sp>
        <p:nvSpPr>
          <p:cNvPr id="9" name="Text 7"/>
          <p:cNvSpPr/>
          <p:nvPr/>
        </p:nvSpPr>
        <p:spPr>
          <a:xfrm>
            <a:off x="4617720" y="3108960"/>
            <a:ext cx="2834640" cy="731520"/>
          </a:xfrm>
          <a:prstGeom prst="rect">
            <a:avLst/>
          </a:prstGeom>
          <a:noFill/>
          <a:ln/>
        </p:spPr>
        <p:txBody>
          <a:bodyPr wrap="square" lIns="0" tIns="0" rIns="0" bIns="0" rtlCol="0" anchor="ctr"/>
          <a:lstStyle/>
          <a:p>
            <a:pPr algn="l" indent="0" marL="0">
              <a:lnSpc>
                <a:spcPct val="115000"/>
              </a:lnSpc>
              <a:buNone/>
            </a:pPr>
            <a:r>
              <a:rPr lang="en-US" sz="1300" dirty="0">
                <a:solidFill>
                  <a:srgbClr val="EAF2F5"/>
                </a:solidFill>
                <a:latin typeface="Calibri" pitchFamily="34" charset="0"/>
                <a:ea typeface="Calibri" pitchFamily="34" charset="-122"/>
                <a:cs typeface="Calibri" pitchFamily="34" charset="-120"/>
              </a:rPr>
              <a:t>Integracion API + datos en vivo + nube</a:t>
            </a:r>
            <a:endParaRPr lang="en-US" sz="1300" dirty="0"/>
          </a:p>
        </p:txBody>
      </p:sp>
      <p:sp>
        <p:nvSpPr>
          <p:cNvPr id="10" name="Shape 8"/>
          <p:cNvSpPr/>
          <p:nvPr/>
        </p:nvSpPr>
        <p:spPr>
          <a:xfrm>
            <a:off x="8138160" y="1828800"/>
            <a:ext cx="3383280" cy="2103120"/>
          </a:xfrm>
          <a:prstGeom prst="roundRect">
            <a:avLst>
              <a:gd name="adj" fmla="val 5217"/>
            </a:avLst>
          </a:prstGeom>
          <a:solidFill>
            <a:srgbClr val="0D1B2A"/>
          </a:solidFill>
          <a:ln w="12700">
            <a:solidFill>
              <a:srgbClr val="F0687A"/>
            </a:solidFill>
            <a:prstDash val="solid"/>
          </a:ln>
        </p:spPr>
      </p:sp>
      <p:sp>
        <p:nvSpPr>
          <p:cNvPr id="11" name="Text 9"/>
          <p:cNvSpPr/>
          <p:nvPr/>
        </p:nvSpPr>
        <p:spPr>
          <a:xfrm>
            <a:off x="8412480" y="2148840"/>
            <a:ext cx="2834640" cy="914400"/>
          </a:xfrm>
          <a:prstGeom prst="rect">
            <a:avLst/>
          </a:prstGeom>
          <a:noFill/>
          <a:ln/>
        </p:spPr>
        <p:txBody>
          <a:bodyPr wrap="square" lIns="0" tIns="0" rIns="0" bIns="0" rtlCol="0" anchor="ctr"/>
          <a:lstStyle/>
          <a:p>
            <a:pPr algn="l" indent="0" marL="0">
              <a:buNone/>
            </a:pPr>
            <a:r>
              <a:rPr lang="en-US" sz="4000" b="1" dirty="0">
                <a:solidFill>
                  <a:srgbClr val="F0687A"/>
                </a:solidFill>
                <a:latin typeface="Cambria" pitchFamily="34" charset="0"/>
                <a:ea typeface="Cambria" pitchFamily="34" charset="-122"/>
                <a:cs typeface="Cambria" pitchFamily="34" charset="-120"/>
              </a:rPr>
              <a:t>75+</a:t>
            </a:r>
            <a:endParaRPr lang="en-US" sz="4000" dirty="0"/>
          </a:p>
        </p:txBody>
      </p:sp>
      <p:sp>
        <p:nvSpPr>
          <p:cNvPr id="12" name="Text 10"/>
          <p:cNvSpPr/>
          <p:nvPr/>
        </p:nvSpPr>
        <p:spPr>
          <a:xfrm>
            <a:off x="8412480" y="3108960"/>
            <a:ext cx="2834640" cy="731520"/>
          </a:xfrm>
          <a:prstGeom prst="rect">
            <a:avLst/>
          </a:prstGeom>
          <a:noFill/>
          <a:ln/>
        </p:spPr>
        <p:txBody>
          <a:bodyPr wrap="square" lIns="0" tIns="0" rIns="0" bIns="0" rtlCol="0" anchor="ctr"/>
          <a:lstStyle/>
          <a:p>
            <a:pPr algn="l" indent="0" marL="0">
              <a:lnSpc>
                <a:spcPct val="115000"/>
              </a:lnSpc>
              <a:buNone/>
            </a:pPr>
            <a:r>
              <a:rPr lang="en-US" sz="1300" dirty="0">
                <a:solidFill>
                  <a:srgbClr val="EAF2F5"/>
                </a:solidFill>
                <a:latin typeface="Calibri" pitchFamily="34" charset="0"/>
                <a:ea typeface="Calibri" pitchFamily="34" charset="-122"/>
                <a:cs typeface="Calibri" pitchFamily="34" charset="-120"/>
              </a:rPr>
              <a:t>Cobertura de adultos mayores que hoy excluimos del dataset</a:t>
            </a:r>
            <a:endParaRPr lang="en-US" sz="1300" dirty="0"/>
          </a:p>
        </p:txBody>
      </p:sp>
      <p:sp>
        <p:nvSpPr>
          <p:cNvPr id="13" name="Shape 11"/>
          <p:cNvSpPr/>
          <p:nvPr/>
        </p:nvSpPr>
        <p:spPr>
          <a:xfrm>
            <a:off x="548640" y="4206240"/>
            <a:ext cx="11064240" cy="1737360"/>
          </a:xfrm>
          <a:prstGeom prst="roundRect">
            <a:avLst>
              <a:gd name="adj" fmla="val 6316"/>
            </a:avLst>
          </a:prstGeom>
          <a:solidFill>
            <a:srgbClr val="101F30"/>
          </a:solidFill>
          <a:ln w="12700">
            <a:solidFill>
              <a:srgbClr val="4FD8C4"/>
            </a:solidFill>
            <a:prstDash val="solid"/>
          </a:ln>
        </p:spPr>
      </p:sp>
      <p:sp>
        <p:nvSpPr>
          <p:cNvPr id="14" name="Text 12"/>
          <p:cNvSpPr/>
          <p:nvPr/>
        </p:nvSpPr>
        <p:spPr>
          <a:xfrm>
            <a:off x="822960" y="4343400"/>
            <a:ext cx="10515600" cy="1463040"/>
          </a:xfrm>
          <a:prstGeom prst="rect">
            <a:avLst/>
          </a:prstGeom>
          <a:noFill/>
          <a:ln/>
        </p:spPr>
        <p:txBody>
          <a:bodyPr wrap="square" lIns="0" tIns="0" rIns="0" bIns="0" rtlCol="0" anchor="ctr"/>
          <a:lstStyle/>
          <a:p>
            <a:pPr algn="l" indent="0" marL="0">
              <a:buNone/>
            </a:pPr>
            <a:r>
              <a:rPr lang="en-US" sz="1300" b="1" spc="100" kern="0" dirty="0">
                <a:solidFill>
                  <a:srgbClr val="4FD8C4"/>
                </a:solidFill>
                <a:latin typeface="Calibri" pitchFamily="34" charset="0"/>
                <a:ea typeface="Calibri" pitchFamily="34" charset="-122"/>
                <a:cs typeface="Calibri" pitchFamily="34" charset="-120"/>
              </a:rPr>
              <a:t>Nuestra ventaja</a:t>
            </a:r>
            <a:endParaRPr lang="en-US" sz="1300" dirty="0"/>
          </a:p>
          <a:p>
            <a:pPr algn="l" indent="0" marL="0">
              <a:lnSpc>
                <a:spcPct val="120000"/>
              </a:lnSpc>
              <a:buNone/>
            </a:pPr>
            <a:r>
              <a:rPr lang="en-US" sz="1400" dirty="0">
                <a:solidFill>
                  <a:srgbClr val="EAF2F5"/>
                </a:solidFill>
                <a:latin typeface="Calibri" pitchFamily="34" charset="0"/>
                <a:ea typeface="Calibri" pitchFamily="34" charset="-122"/>
                <a:cs typeface="Calibri" pitchFamily="34" charset="-120"/>
              </a:rPr>
              <a:t>Modelo explicables (no caja negra) + validación tecnica rigurosa (3 algoritmos, 5-fold CV, ROC, matriz de confusion) + un MVP ya funcionando sobre datos reales de wearable. El mercado de wearables crece; la capa de inteligencia predictiva de salud es el cuello de botella que resolvemos.</a:t>
            </a:r>
            <a:endParaRPr lang="en-US" sz="1300" dirty="0"/>
          </a:p>
        </p:txBody>
      </p:sp>
      <p:sp>
        <p:nvSpPr>
          <p:cNvPr id="15" name="Text 13"/>
          <p:cNvSpPr/>
          <p:nvPr/>
        </p:nvSpPr>
        <p:spPr>
          <a:xfrm>
            <a:off x="548640" y="6126480"/>
            <a:ext cx="10972800" cy="365760"/>
          </a:xfrm>
          <a:prstGeom prst="rect">
            <a:avLst/>
          </a:prstGeom>
          <a:noFill/>
          <a:ln/>
        </p:spPr>
        <p:txBody>
          <a:bodyPr wrap="square" lIns="0" tIns="0" rIns="0" bIns="0" rtlCol="0" anchor="ctr"/>
          <a:lstStyle/>
          <a:p>
            <a:pPr algn="ctr" indent="0" marL="0">
              <a:buNone/>
            </a:pPr>
            <a:r>
              <a:rPr lang="en-US" sz="1400" b="1" dirty="0">
                <a:solidFill>
                  <a:srgbClr val="8AA0B2"/>
                </a:solidFill>
                <a:latin typeface="Cambria" pitchFamily="34" charset="0"/>
                <a:ea typeface="Cambria" pitchFamily="34" charset="-122"/>
                <a:cs typeface="Cambria" pitchFamily="34" charset="-120"/>
              </a:rPr>
              <a:t>BioPulse  ·  Predictive Biometric Analytics  ·  gracias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2026-07-28T00:42:58Z</dcterms:created>
  <dcterms:modified xsi:type="dcterms:W3CDTF">2026-07-28T00:42:58Z</dcterms:modified>
</cp:coreProperties>
</file>