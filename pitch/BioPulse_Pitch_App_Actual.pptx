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p_hero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868680"/>
            <a:ext cx="566928" cy="566928"/>
          </a:xfrm>
          <a:prstGeom prst="roundRect">
            <a:avLst>
              <a:gd name="adj" fmla="val 25000"/>
            </a:avLst>
          </a:prstGeom>
          <a:solidFill>
            <a:srgbClr val="00C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686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1">
                <a:solidFill>
                  <a:srgbClr val="050A10"/>
                </a:solidFill>
                <a:latin typeface="Arial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1">
                <a:solidFill>
                  <a:srgbClr val="F2F6F8"/>
                </a:solidFill>
                <a:latin typeface="Arial"/>
              </a:rPr>
              <a:t>BioPulse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5661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200" b="0">
                <a:solidFill>
                  <a:srgbClr val="93A8BC"/>
                </a:solidFill>
                <a:latin typeface="Arial"/>
              </a:rPr>
              <a:t>Tu wearable ya sabe que algo va mal.
Nosotros te lo decimos — y qué hacer.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5212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PITCH DECK   ·   SERIE SEMILLA   ·   MVP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5A7288"/>
                </a:solidFill>
                <a:latin typeface="Arial"/>
              </a:rPr>
              <a:t>Emilio Cardona  ·  Miguel Vásquez  ·  Lucas Vélez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LA OPORTUNIDAD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000" b="1">
                <a:solidFill>
                  <a:srgbClr val="F2F6F8"/>
                </a:solidFill>
                <a:latin typeface="Arial"/>
              </a:rPr>
              <a:t>100.000 datos al día.
Casi ninguno se vuelve una decisión.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8229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93A8BC"/>
                </a:solidFill>
                <a:latin typeface="Arial"/>
              </a:rPr>
              <a:t>Los wearables capturan señales vitales continuas, pero el usuario solo ve números que no sabe traducir en acción. El hardware existe; la inteligencia que decide,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2286000"/>
            <a:ext cx="228600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7000" b="1">
                <a:solidFill>
                  <a:srgbClr val="00C8B4"/>
                </a:solidFill>
                <a:latin typeface="Arial"/>
              </a:rPr>
              <a:t>100k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3749039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5A7288"/>
                </a:solidFill>
                <a:latin typeface="Arial"/>
              </a:rPr>
              <a:t>señales / día sin usar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BioPulse  ·  Predictive Biometric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200" b="1">
                <a:solidFill>
                  <a:srgbClr val="F2F6F8"/>
                </a:solidFill>
                <a:latin typeface="Arial"/>
              </a:rPr>
              <a:t>Un número que entiendes.
Una acción que tomas.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017520"/>
            <a:ext cx="4937760" cy="2560320"/>
          </a:xfrm>
          <a:prstGeom prst="roundRect">
            <a:avLst>
              <a:gd name="adj" fmla="val 10000"/>
            </a:avLst>
          </a:prstGeom>
          <a:solidFill>
            <a:srgbClr val="00C8B4">
              <a:alpha val="12000"/>
            </a:srgbClr>
          </a:solidFill>
          <a:ln w="12700">
            <a:solidFill>
              <a:srgbClr val="00C8B4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310128"/>
            <a:ext cx="4315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F2F6F8"/>
                </a:solidFill>
                <a:latin typeface="Arial"/>
              </a:rPr>
              <a:t>Índice de Riesgo 0–100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858768"/>
            <a:ext cx="431596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400" b="0">
                <a:solidFill>
                  <a:srgbClr val="93A8BC"/>
                </a:solidFill>
                <a:latin typeface="Arial"/>
              </a:rPr>
              <a:t>Personal (te comparas con tu base, no con un extraño) y explicable: muestra la causa exacta — HRV, RHR, recuperación, sueño.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4937760" cy="2560320"/>
          </a:xfrm>
          <a:prstGeom prst="roundRect">
            <a:avLst>
              <a:gd name="adj" fmla="val 10000"/>
            </a:avLst>
          </a:prstGeom>
          <a:solidFill>
            <a:srgbClr val="F05C7A">
              <a:alpha val="12000"/>
            </a:srgbClr>
          </a:solidFill>
          <a:ln w="12700">
            <a:solidFill>
              <a:srgbClr val="F05C7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0256" y="3310128"/>
            <a:ext cx="4315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F2F6F8"/>
                </a:solidFill>
                <a:latin typeface="Arial"/>
              </a:rPr>
              <a:t>Plan de hoy accionable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3858768"/>
            <a:ext cx="431596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400" b="0">
                <a:solidFill>
                  <a:srgbClr val="93A8BC"/>
                </a:solidFill>
                <a:latin typeface="Arial"/>
              </a:rPr>
              <a:t>Si el riesgo sube, el Coach (IA) entrega 3 pasos concretos con tus métricas del día. Sin ser médico, sabes qué hacer ahora.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BioPulse  ·  Predictive Biometric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465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EL PRODUCTO,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3800" b="1">
                <a:solidFill>
                  <a:srgbClr val="F2F6F8"/>
                </a:solidFill>
                <a:latin typeface="Arial"/>
              </a:rPr>
              <a:t>Lo que ves al abrir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31720"/>
            <a:ext cx="2670048" cy="2286000"/>
          </a:xfrm>
          <a:prstGeom prst="roundRect">
            <a:avLst>
              <a:gd name="adj" fmla="val 10000"/>
            </a:avLst>
          </a:prstGeom>
          <a:solidFill>
            <a:srgbClr val="00C8B4">
              <a:alpha val="12000"/>
            </a:srgbClr>
          </a:solidFill>
          <a:ln w="12700">
            <a:solidFill>
              <a:srgbClr val="00C8B4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2624328"/>
            <a:ext cx="2048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BioScore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172968"/>
            <a:ext cx="20482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>
                <a:solidFill>
                  <a:srgbClr val="93A8BC"/>
                </a:solidFill>
                <a:latin typeface="Arial"/>
              </a:rPr>
              <a:t>Bienestar y rendimiento (mayor = mejor), desde HRV, RHR y sueño.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0" y="2331720"/>
            <a:ext cx="2670048" cy="2286000"/>
          </a:xfrm>
          <a:prstGeom prst="roundRect">
            <a:avLst>
              <a:gd name="adj" fmla="val 10000"/>
            </a:avLst>
          </a:prstGeom>
          <a:solidFill>
            <a:srgbClr val="F05C7A">
              <a:alpha val="12000"/>
            </a:srgbClr>
          </a:solidFill>
          <a:ln w="12700">
            <a:solidFill>
              <a:srgbClr val="F05C7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59936" y="2624328"/>
            <a:ext cx="2048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Índice de Riesgo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59936" y="3172968"/>
            <a:ext cx="20482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>
                <a:solidFill>
                  <a:srgbClr val="93A8BC"/>
                </a:solidFill>
                <a:latin typeface="Arial"/>
              </a:rPr>
              <a:t>Fatiga, anomalía o proceso infeccioso temprano. BAJO / MOD / ALTO.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331720"/>
            <a:ext cx="2670048" cy="2286000"/>
          </a:xfrm>
          <a:prstGeom prst="roundRect">
            <a:avLst>
              <a:gd name="adj" fmla="val 10000"/>
            </a:avLst>
          </a:prstGeom>
          <a:solidFill>
            <a:srgbClr val="7C84F8">
              <a:alpha val="12000"/>
            </a:srgbClr>
          </a:solidFill>
          <a:ln w="12700">
            <a:solidFill>
              <a:srgbClr val="7C84F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4576" y="2624328"/>
            <a:ext cx="2048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Sleep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4576" y="3172968"/>
            <a:ext cx="20482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>
                <a:solidFill>
                  <a:srgbClr val="93A8BC"/>
                </a:solidFill>
                <a:latin typeface="Arial"/>
              </a:rPr>
              <a:t>Sueño predictivo desde métricas reales: profundo, eficiencia, despertares.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0" y="2331720"/>
            <a:ext cx="2670048" cy="2286000"/>
          </a:xfrm>
          <a:prstGeom prst="roundRect">
            <a:avLst>
              <a:gd name="adj" fmla="val 10000"/>
            </a:avLst>
          </a:prstGeom>
          <a:solidFill>
            <a:srgbClr val="F2B84B">
              <a:alpha val="12000"/>
            </a:srgbClr>
          </a:solidFill>
          <a:ln w="12700">
            <a:solidFill>
              <a:srgbClr val="F2B84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2624328"/>
            <a:ext cx="2048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Coach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9216" y="3172968"/>
            <a:ext cx="20482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>
                <a:solidFill>
                  <a:srgbClr val="93A8BC"/>
                </a:solidFill>
                <a:latin typeface="Arial"/>
              </a:rPr>
              <a:t>Conversa sobre tus métricas y entrega el Plan de hoy.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93A8BC"/>
                </a:solidFill>
                <a:latin typeface="Arial"/>
              </a:rPr>
              <a:t>Diseño de vidrio iOS 26, modo claro/oscuro instantáneo, y respiración guiada de 2 min para calmar el sistema nervioso.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BioPulse  ·  Predictive Biometric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465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p_r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TU LABORATORIO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43000"/>
            <a:ext cx="8229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3800" b="1">
                <a:solidFill>
                  <a:srgbClr val="F2F6F8"/>
                </a:solidFill>
                <a:latin typeface="Arial"/>
              </a:rPr>
              <a:t>Predicción personal,
desde tus métricas.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43200"/>
            <a:ext cx="5120640" cy="1554480"/>
          </a:xfrm>
          <a:prstGeom prst="roundRect">
            <a:avLst>
              <a:gd name="adj" fmla="val 10000"/>
            </a:avLst>
          </a:prstGeom>
          <a:solidFill>
            <a:srgbClr val="00C8B4">
              <a:alpha val="12000"/>
            </a:srgbClr>
          </a:solidFill>
          <a:ln w="12700">
            <a:solidFill>
              <a:srgbClr val="00C8B4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3035808"/>
            <a:ext cx="44988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Mapa de energía del día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84448"/>
            <a:ext cx="44988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Curva 8:00–22:00 que infiere tus picos y valles para saber cuándo entrenar o reunirte.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480560"/>
            <a:ext cx="5120640" cy="1554480"/>
          </a:xfrm>
          <a:prstGeom prst="roundRect">
            <a:avLst>
              <a:gd name="adj" fmla="val 10000"/>
            </a:avLst>
          </a:prstGeom>
          <a:solidFill>
            <a:srgbClr val="7C84F8">
              <a:alpha val="12000"/>
            </a:srgbClr>
          </a:solidFill>
          <a:ln w="12700">
            <a:solidFill>
              <a:srgbClr val="7C84F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25296" y="4773168"/>
            <a:ext cx="44988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Proyección de riesgo a 3 días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5321808"/>
            <a:ext cx="44988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Regresión sobre tus 7 días: 'si sigues así, en 3 días tu riesgo llegaría a X'. Actúas hoy.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BioPulse  ·  Predictive Biometric Analytics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465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BIENESTAR + COACH ACCIONABLE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3800" b="1">
                <a:solidFill>
                  <a:srgbClr val="F2F6F8"/>
                </a:solidFill>
                <a:latin typeface="Arial"/>
              </a:rPr>
              <a:t>No solo el riesgo:
tu recuperación y un plan.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3429000" cy="2377440"/>
          </a:xfrm>
          <a:prstGeom prst="roundRect">
            <a:avLst>
              <a:gd name="adj" fmla="val 10000"/>
            </a:avLst>
          </a:prstGeom>
          <a:solidFill>
            <a:srgbClr val="00C8B4">
              <a:alpha val="12000"/>
            </a:srgbClr>
          </a:solidFill>
          <a:ln w="12700">
            <a:solidFill>
              <a:srgbClr val="00C8B4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035808"/>
            <a:ext cx="2807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BioScore + Sleep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584448"/>
            <a:ext cx="28072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Índice de bienestar (mayor = mejor) y sueño predictivo desde datos reales.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743200"/>
            <a:ext cx="3429000" cy="2377440"/>
          </a:xfrm>
          <a:prstGeom prst="roundRect">
            <a:avLst>
              <a:gd name="adj" fmla="val 10000"/>
            </a:avLst>
          </a:prstGeom>
          <a:solidFill>
            <a:srgbClr val="F2B84B">
              <a:alpha val="12000"/>
            </a:srgbClr>
          </a:solidFill>
          <a:ln w="12700">
            <a:solidFill>
              <a:srgbClr val="F2B84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37176" y="3035808"/>
            <a:ext cx="2807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Plan de hoy (IA)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7176" y="3584448"/>
            <a:ext cx="28072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3 pasos accionables personalizados con tus métricas cuando el riesgo sube.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743200"/>
            <a:ext cx="3108960" cy="2377440"/>
          </a:xfrm>
          <a:prstGeom prst="roundRect">
            <a:avLst>
              <a:gd name="adj" fmla="val 10000"/>
            </a:avLst>
          </a:prstGeom>
          <a:solidFill>
            <a:srgbClr val="F05C7A">
              <a:alpha val="12000"/>
            </a:srgbClr>
          </a:solidFill>
          <a:ln w="12700">
            <a:solidFill>
              <a:srgbClr val="F05C7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3035808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Respiración 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9056" y="3584448"/>
            <a:ext cx="248716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Anillo que respira contigo para calmar el sistema nervioso al instante.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BioPulse  ·  Predictive Biometric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POR QUÉ SOMOS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000" b="1">
                <a:solidFill>
                  <a:srgbClr val="F2F6F8"/>
                </a:solidFill>
                <a:latin typeface="Arial"/>
              </a:rPr>
              <a:t>Ellos dan el dato.
Nosotros damos la decisión.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26080"/>
            <a:ext cx="4937760" cy="2468880"/>
          </a:xfrm>
          <a:prstGeom prst="roundRect">
            <a:avLst>
              <a:gd name="adj" fmla="val 10000"/>
            </a:avLst>
          </a:prstGeom>
          <a:solidFill>
            <a:srgbClr val="93A8BC">
              <a:alpha val="12000"/>
            </a:srgbClr>
          </a:solidFill>
          <a:ln w="12700">
            <a:solidFill>
              <a:srgbClr val="93A8B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218688"/>
            <a:ext cx="4315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F2F6F8"/>
                </a:solidFill>
                <a:latin typeface="Arial"/>
              </a:rPr>
              <a:t>WHOOP · FITBIT · APPLE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767328"/>
            <a:ext cx="431596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400" b="0">
                <a:solidFill>
                  <a:srgbClr val="93A8BC"/>
                </a:solidFill>
                <a:latin typeface="Arial"/>
              </a:rPr>
              <a:t>Millones de números y gráficas. Promedios estáticos. Tú solo descubres lo malo cuando ya pasó.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926080"/>
            <a:ext cx="4937760" cy="2468880"/>
          </a:xfrm>
          <a:prstGeom prst="roundRect">
            <a:avLst>
              <a:gd name="adj" fmla="val 10000"/>
            </a:avLst>
          </a:prstGeom>
          <a:solidFill>
            <a:srgbClr val="00C8B4">
              <a:alpha val="12000"/>
            </a:srgbClr>
          </a:solidFill>
          <a:ln w="12700">
            <a:solidFill>
              <a:srgbClr val="00C8B4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0256" y="3218688"/>
            <a:ext cx="4315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F2F6F8"/>
                </a:solidFill>
                <a:latin typeface="Arial"/>
              </a:rPr>
              <a:t>BIOPULSE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3767328"/>
            <a:ext cx="431596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400" b="0">
                <a:solidFill>
                  <a:srgbClr val="93A8BC"/>
                </a:solidFill>
                <a:latin typeface="Arial"/>
              </a:rPr>
              <a:t>Un índice en lenguaje claro, el porqué con tus métricas, y una acción antes de que escale.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BioPulse  ·  Predictive Biometric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465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TRACCIÓN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3800" b="1">
                <a:solidFill>
                  <a:srgbClr val="F2F6F8"/>
                </a:solidFill>
                <a:latin typeface="Arial"/>
              </a:rPr>
              <a:t>No es una idea en papel. Ya corre.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2670048" cy="2011680"/>
          </a:xfrm>
          <a:prstGeom prst="roundRect">
            <a:avLst>
              <a:gd name="adj" fmla="val 10000"/>
            </a:avLst>
          </a:prstGeom>
          <a:solidFill>
            <a:srgbClr val="00C8B4">
              <a:alpha val="10000"/>
            </a:srgbClr>
          </a:solidFill>
          <a:ln w="12700">
            <a:solidFill>
              <a:srgbClr val="00C8B4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33472"/>
            <a:ext cx="2670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000" b="1">
                <a:solidFill>
                  <a:srgbClr val="00C8B4"/>
                </a:solidFill>
                <a:latin typeface="Arial"/>
              </a:rPr>
              <a:t>100k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23042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 b="0">
                <a:solidFill>
                  <a:srgbClr val="93A8BC"/>
                </a:solidFill>
                <a:latin typeface="Arial"/>
              </a:rPr>
              <a:t>registros de wearable procesados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0" y="2377440"/>
            <a:ext cx="2670048" cy="2011680"/>
          </a:xfrm>
          <a:prstGeom prst="roundRect">
            <a:avLst>
              <a:gd name="adj" fmla="val 10000"/>
            </a:avLst>
          </a:prstGeom>
          <a:solidFill>
            <a:srgbClr val="00C8B4">
              <a:alpha val="10000"/>
            </a:srgbClr>
          </a:solidFill>
          <a:ln w="12700">
            <a:solidFill>
              <a:srgbClr val="00C8B4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2633472"/>
            <a:ext cx="2670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000" b="1">
                <a:solidFill>
                  <a:srgbClr val="00C8B4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520440"/>
            <a:ext cx="23042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 b="0">
                <a:solidFill>
                  <a:srgbClr val="93A8BC"/>
                </a:solidFill>
                <a:latin typeface="Arial"/>
              </a:rPr>
              <a:t>motores de señal validados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377440"/>
            <a:ext cx="2670048" cy="2011680"/>
          </a:xfrm>
          <a:prstGeom prst="roundRect">
            <a:avLst>
              <a:gd name="adj" fmla="val 10000"/>
            </a:avLst>
          </a:prstGeom>
          <a:solidFill>
            <a:srgbClr val="00C8B4">
              <a:alpha val="10000"/>
            </a:srgbClr>
          </a:solidFill>
          <a:ln w="12700">
            <a:solidFill>
              <a:srgbClr val="00C8B4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633472"/>
            <a:ext cx="2670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000" b="1">
                <a:solidFill>
                  <a:srgbClr val="00C8B4"/>
                </a:solidFill>
                <a:latin typeface="Arial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520440"/>
            <a:ext cx="23042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 b="0">
                <a:solidFill>
                  <a:srgbClr val="93A8BC"/>
                </a:solidFill>
                <a:latin typeface="Arial"/>
              </a:rPr>
              <a:t>datasets realistas integrados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0" y="2377440"/>
            <a:ext cx="2670048" cy="2011680"/>
          </a:xfrm>
          <a:prstGeom prst="roundRect">
            <a:avLst>
              <a:gd name="adj" fmla="val 10000"/>
            </a:avLst>
          </a:prstGeom>
          <a:solidFill>
            <a:srgbClr val="F2B84B">
              <a:alpha val="10000"/>
            </a:srgbClr>
          </a:solidFill>
          <a:ln w="12700">
            <a:solidFill>
              <a:srgbClr val="F2B84B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2633472"/>
            <a:ext cx="2670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4000" b="1">
                <a:solidFill>
                  <a:srgbClr val="F2B84B"/>
                </a:solidFill>
                <a:latin typeface="Arial"/>
              </a:rPr>
              <a:t>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3520440"/>
            <a:ext cx="23042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 b="0">
                <a:solidFill>
                  <a:srgbClr val="93A8BC"/>
                </a:solidFill>
                <a:latin typeface="Arial"/>
              </a:rPr>
              <a:t>AUC de discriminación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9204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93A8BC"/>
                </a:solidFill>
                <a:latin typeface="Arial"/>
              </a:rPr>
              <a:t>MVP en vivo sobre datos reales, con backend seguro (Gemini) y fallback local. Modelo con 5-fold CV y matriz de confusión honesta.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BioPulse  ·  Predictive Biometric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465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000" b="1">
                <a:solidFill>
                  <a:srgbClr val="F2F6F8"/>
                </a:solidFill>
                <a:latin typeface="Arial"/>
              </a:rPr>
              <a:t>Una ventana abierta, justo ahora.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429000" cy="2377440"/>
          </a:xfrm>
          <a:prstGeom prst="roundRect">
            <a:avLst>
              <a:gd name="adj" fmla="val 10000"/>
            </a:avLst>
          </a:prstGeom>
          <a:solidFill>
            <a:srgbClr val="00C8B4">
              <a:alpha val="12000"/>
            </a:srgbClr>
          </a:solidFill>
          <a:ln w="12700">
            <a:solidFill>
              <a:srgbClr val="00C8B4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127248"/>
            <a:ext cx="2807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Wearables en auge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675888"/>
            <a:ext cx="28072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Más relojes en muñecas; la demanda de 'más que pasos' crece.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834640"/>
            <a:ext cx="3429000" cy="2377440"/>
          </a:xfrm>
          <a:prstGeom prst="roundRect">
            <a:avLst>
              <a:gd name="adj" fmla="val 10000"/>
            </a:avLst>
          </a:prstGeom>
          <a:solidFill>
            <a:srgbClr val="7C84F8">
              <a:alpha val="12000"/>
            </a:srgbClr>
          </a:solidFill>
          <a:ln w="12700">
            <a:solidFill>
              <a:srgbClr val="7C84F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37176" y="3127248"/>
            <a:ext cx="2807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Población que envejece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7176" y="3675888"/>
            <a:ext cx="28072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Más adultos mayores; caídas e infecciones prevenibles sin detectar.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834640"/>
            <a:ext cx="3108960" cy="2377440"/>
          </a:xfrm>
          <a:prstGeom prst="roundRect">
            <a:avLst>
              <a:gd name="adj" fmla="val 10000"/>
            </a:avLst>
          </a:prstGeom>
          <a:solidFill>
            <a:srgbClr val="F2B84B">
              <a:alpha val="12000"/>
            </a:srgbClr>
          </a:solidFill>
          <a:ln w="12700">
            <a:solidFill>
              <a:srgbClr val="F2B84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3127248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El cuello de botella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9056" y="3675888"/>
            <a:ext cx="248716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La capa de IA predictiva de salud está vacía. El hardware existe; la inteligencia 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BioPulse  ·  Predictive Biometric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000" b="1">
                <a:solidFill>
                  <a:srgbClr val="F2F6F8"/>
                </a:solidFill>
                <a:latin typeface="Arial"/>
              </a:rPr>
              <a:t>Dos formas de ganar,
un mismo motor.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4937760" cy="2468880"/>
          </a:xfrm>
          <a:prstGeom prst="roundRect">
            <a:avLst>
              <a:gd name="adj" fmla="val 10000"/>
            </a:avLst>
          </a:prstGeom>
          <a:solidFill>
            <a:srgbClr val="00C8B4">
              <a:alpha val="12000"/>
            </a:srgbClr>
          </a:solidFill>
          <a:ln w="12700">
            <a:solidFill>
              <a:srgbClr val="00C8B4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127248"/>
            <a:ext cx="4315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F2F6F8"/>
                </a:solidFill>
                <a:latin typeface="Arial"/>
              </a:rPr>
              <a:t>B2C · Suscripción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675888"/>
            <a:ext cx="431596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400" b="0">
                <a:solidFill>
                  <a:srgbClr val="93A8BC"/>
                </a:solidFill>
                <a:latin typeface="Arial"/>
              </a:rPr>
              <a:t>App de pago mensual. Plan familiar para cuidar mayores a distancia. Funciona con el wearable que ya tienes.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834640"/>
            <a:ext cx="4937760" cy="2468880"/>
          </a:xfrm>
          <a:prstGeom prst="roundRect">
            <a:avLst>
              <a:gd name="adj" fmla="val 10000"/>
            </a:avLst>
          </a:prstGeom>
          <a:solidFill>
            <a:srgbClr val="7C84F8">
              <a:alpha val="12000"/>
            </a:srgbClr>
          </a:solidFill>
          <a:ln w="12700">
            <a:solidFill>
              <a:srgbClr val="7C84F8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0256" y="3127248"/>
            <a:ext cx="4315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>
                <a:solidFill>
                  <a:srgbClr val="F2F6F8"/>
                </a:solidFill>
                <a:latin typeface="Arial"/>
              </a:rPr>
              <a:t>B2B · Datos y riesgo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3675888"/>
            <a:ext cx="431596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400" b="0">
                <a:solidFill>
                  <a:srgbClr val="93A8BC"/>
                </a:solidFill>
                <a:latin typeface="Arial"/>
              </a:rPr>
              <a:t>Aseguradoras y empleadores: menos eventos = menos costo. Índice de riesgo como API.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BioPulse  ·  Predictive Biometric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465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5A728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00C8B4"/>
                </a:solidFill>
                <a:latin typeface="Arial"/>
              </a:rPr>
              <a:t>LA INVERSIÓN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200" b="1">
                <a:solidFill>
                  <a:srgbClr val="F2F6F8"/>
                </a:solidFill>
                <a:latin typeface="Arial"/>
              </a:rPr>
              <a:t>Lo que buscamos,
para qué.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429000" cy="2377440"/>
          </a:xfrm>
          <a:prstGeom prst="roundRect">
            <a:avLst>
              <a:gd name="adj" fmla="val 10000"/>
            </a:avLst>
          </a:prstGeom>
          <a:solidFill>
            <a:srgbClr val="00C8B4">
              <a:alpha val="12000"/>
            </a:srgbClr>
          </a:solidFill>
          <a:ln w="12700">
            <a:solidFill>
              <a:srgbClr val="00C8B4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127248"/>
            <a:ext cx="2807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Fase 5–8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3675888"/>
            <a:ext cx="28072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API directa + datos en vivo + despliegue en la nube (ya en Vercel).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834640"/>
            <a:ext cx="3429000" cy="2377440"/>
          </a:xfrm>
          <a:prstGeom prst="roundRect">
            <a:avLst>
              <a:gd name="adj" fmla="val 10000"/>
            </a:avLst>
          </a:prstGeom>
          <a:solidFill>
            <a:srgbClr val="F2B84B">
              <a:alpha val="12000"/>
            </a:srgbClr>
          </a:solidFill>
          <a:ln w="12700">
            <a:solidFill>
              <a:srgbClr val="F2B84B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37176" y="3127248"/>
            <a:ext cx="28072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Escalar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7176" y="3675888"/>
            <a:ext cx="280720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Llevar el MVP a usuarios reales y crecer el modelo con más datos.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834640"/>
            <a:ext cx="3108960" cy="2377440"/>
          </a:xfrm>
          <a:prstGeom prst="roundRect">
            <a:avLst>
              <a:gd name="adj" fmla="val 10000"/>
            </a:avLst>
          </a:prstGeom>
          <a:solidFill>
            <a:srgbClr val="F05C7A">
              <a:alpha val="12000"/>
            </a:srgbClr>
          </a:solidFill>
          <a:ln w="12700">
            <a:solidFill>
              <a:srgbClr val="F05C7A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49056" y="3127248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Equipo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9056" y="3675888"/>
            <a:ext cx="248716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>
                <a:solidFill>
                  <a:srgbClr val="93A8BC"/>
                </a:solidFill>
                <a:latin typeface="Arial"/>
              </a:rPr>
              <a:t>Ciencia de datos + producto. Buscamos socio que abra puertas B2B y clínica.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23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>
                <a:solidFill>
                  <a:srgbClr val="F2F6F8"/>
                </a:solidFill>
                <a:latin typeface="Arial"/>
              </a:rPr>
              <a:t>Ronda Serie Semilla   ·   $X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