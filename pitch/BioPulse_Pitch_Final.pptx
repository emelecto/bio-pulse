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640080" cy="640080"/>
          </a:xfrm>
          <a:prstGeom prst="ellipse">
            <a:avLst/>
          </a:prstGeom>
          <a:solidFill>
            <a:srgbClr val="4FD8C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94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417320" y="5943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BioPulse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Tus wearables recogen </a:t>
            </a:r>
            <a:pPr algn="l"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4FD8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100.000 datos al día.</a:t>
            </a:r>
            <a:pPr algn="l" indent="0" marL="0">
              <a:lnSpc>
                <a:spcPct val="105000"/>
              </a:lnSpc>
              <a:buNone/>
            </a:pPr>
            <a:endParaRPr lang="en-US" sz="5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068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Ninguno te salva la vida.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640080" y="448056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Convertimos los datos de tu reloj inteligente en una alerta temprana que dice qué está pasando y qué hacer — antes de que sea tarde.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5623560"/>
            <a:ext cx="4480560" cy="502920"/>
          </a:xfrm>
          <a:prstGeom prst="roundRect">
            <a:avLst>
              <a:gd name="adj" fmla="val 49091"/>
            </a:avLst>
          </a:prstGeom>
          <a:solidFill>
            <a:srgbClr val="101F30"/>
          </a:solidFill>
          <a:ln w="12700">
            <a:solidFill>
              <a:srgbClr val="4FD8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6235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4FD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 ·  SERIE SEMILLA  ·  MVP EN VIVO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Emilio Cardona  ·  Miguel Vasquez  ·  Lucas Velez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4FD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dispositivos lo ven todo. Nadie avisa a tiempo.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74720" cy="2286000"/>
          </a:xfrm>
          <a:prstGeom prst="roundRect">
            <a:avLst>
              <a:gd name="adj" fmla="val 4800"/>
            </a:avLst>
          </a:prstGeom>
          <a:solidFill>
            <a:srgbClr val="101F30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488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4FD8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100k+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diarios que tu wearable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y deja sin usar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80560" y="1828800"/>
            <a:ext cx="3474720" cy="2286000"/>
          </a:xfrm>
          <a:prstGeom prst="roundRect">
            <a:avLst>
              <a:gd name="adj" fmla="val 4800"/>
            </a:avLst>
          </a:prstGeom>
          <a:solidFill>
            <a:srgbClr val="101F30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21488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068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de 4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754880" y="32004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adultos mayores sufre una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caída al año; muchas se previenen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321040" y="1828800"/>
            <a:ext cx="3474720" cy="2286000"/>
          </a:xfrm>
          <a:prstGeom prst="roundRect">
            <a:avLst>
              <a:gd name="adj" fmla="val 4800"/>
            </a:avLst>
          </a:prstGeom>
          <a:solidFill>
            <a:srgbClr val="101F30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0" y="21488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2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~0%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8595360" y="32004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esa señal se vuelve una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accionable a tiempo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0080" y="452628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i="1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infección, una caída o el agotamiento del sistema nervioso no aparecen de la noche a la mañana. Dejan señales semanas antes. Hoy esas señales se pierden en un mar de promedios.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BioPulse  ·  Predictive Biometric Analytics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4FD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BioPulse: un número que entiendes,</a:t>
            </a:r>
            <a:endParaRPr lang="en-US" sz="3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acción que puedes tomar.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D1B2A"/>
          </a:solidFill>
          <a:ln w="12700">
            <a:solidFill>
              <a:srgbClr val="4FD8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wearable ya sabe que algo va mal.
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 lo traducimos a un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4FD8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 de Riesgo (0-100)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el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2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el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68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hacer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Sin ser científico, sin ser médico.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402336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101F30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297680"/>
            <a:ext cx="457200" cy="457200"/>
          </a:xfrm>
          <a:prstGeom prst="ellipse">
            <a:avLst/>
          </a:prstGeom>
          <a:solidFill>
            <a:srgbClr val="4FD8C4"/>
          </a:solidFill>
          <a:ln/>
        </p:spPr>
      </p:sp>
      <p:sp>
        <p:nvSpPr>
          <p:cNvPr id="8" name="Text 6"/>
          <p:cNvSpPr/>
          <p:nvPr/>
        </p:nvSpPr>
        <p:spPr>
          <a:xfrm>
            <a:off x="1508760" y="42519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contigo mismo, no con un extraño.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80560" y="402336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101F30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4297680"/>
            <a:ext cx="457200" cy="457200"/>
          </a:xfrm>
          <a:prstGeom prst="ellipse">
            <a:avLst/>
          </a:prstGeom>
          <a:solidFill>
            <a:srgbClr val="9BA8F2"/>
          </a:solidFill>
          <a:ln/>
        </p:spPr>
      </p:sp>
      <p:sp>
        <p:nvSpPr>
          <p:cNvPr id="12" name="Text 10"/>
          <p:cNvSpPr/>
          <p:nvPr/>
        </p:nvSpPr>
        <p:spPr>
          <a:xfrm>
            <a:off x="5349240" y="42519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Explicable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4937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la causa exacta, no una caja negra.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21040" y="402336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101F30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95360" y="4297680"/>
            <a:ext cx="457200" cy="457200"/>
          </a:xfrm>
          <a:prstGeom prst="ellipse">
            <a:avLst/>
          </a:prstGeom>
          <a:solidFill>
            <a:srgbClr val="F0687A"/>
          </a:solidFill>
          <a:ln/>
        </p:spPr>
      </p:sp>
      <p:sp>
        <p:nvSpPr>
          <p:cNvPr id="16" name="Text 14"/>
          <p:cNvSpPr/>
          <p:nvPr/>
        </p:nvSpPr>
        <p:spPr>
          <a:xfrm>
            <a:off x="9189720" y="42519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Accionable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95360" y="4937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alerta llega con una recomendación.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BioPulse  ·  Predictive Biometric Analytics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4FD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Así se ve en tu teléfono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pantalla. El riesgo de hoy, por qué subió y qué hacer ahora mismo.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3108960"/>
            <a:ext cx="274320" cy="274320"/>
          </a:xfrm>
          <a:prstGeom prst="ellipse">
            <a:avLst/>
          </a:prstGeom>
          <a:solidFill>
            <a:srgbClr val="4FD8C4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30632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Gauge de riesgo claro: BAJO / MODERADO / ALTO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822192"/>
            <a:ext cx="274320" cy="274320"/>
          </a:xfrm>
          <a:prstGeom prst="ellipse">
            <a:avLst/>
          </a:prstGeom>
          <a:solidFill>
            <a:srgbClr val="4FD8C4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77647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exacta: “HRV 4 días bajo tu base”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535424"/>
            <a:ext cx="274320" cy="274320"/>
          </a:xfrm>
          <a:prstGeom prst="ellipse">
            <a:avLst/>
          </a:prstGeom>
          <a:solidFill>
            <a:srgbClr val="4FD8C4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489704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Recomendación del día lista para actuar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248656"/>
            <a:ext cx="274320" cy="274320"/>
          </a:xfrm>
          <a:prstGeom prst="ellipse">
            <a:avLst/>
          </a:prstGeom>
          <a:solidFill>
            <a:srgbClr val="4FD8C4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520293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7 / 14 / 30 días a un toque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1691640"/>
            <a:ext cx="5303520" cy="4480560"/>
          </a:xfrm>
          <a:prstGeom prst="roundRect">
            <a:avLst>
              <a:gd name="adj" fmla="val 2449"/>
            </a:avLst>
          </a:prstGeom>
          <a:solidFill>
            <a:srgbClr val="0D1B2A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29400" y="2057400"/>
            <a:ext cx="457200" cy="457200"/>
          </a:xfrm>
          <a:prstGeom prst="ellipse">
            <a:avLst/>
          </a:prstGeom>
          <a:solidFill>
            <a:srgbClr val="4FD8C4"/>
          </a:solidFill>
          <a:ln/>
        </p:spPr>
      </p:sp>
      <p:sp>
        <p:nvSpPr>
          <p:cNvPr id="15" name="Text 13"/>
          <p:cNvSpPr/>
          <p:nvPr/>
        </p:nvSpPr>
        <p:spPr>
          <a:xfrm>
            <a:off x="66294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178040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BioPulse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001000" y="2880360"/>
            <a:ext cx="1828800" cy="1828800"/>
          </a:xfrm>
          <a:prstGeom prst="ellipse">
            <a:avLst/>
          </a:prstGeom>
          <a:ln w="127000">
            <a:solidFill>
              <a:srgbClr val="1528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01000" y="2880360"/>
            <a:ext cx="1828800" cy="1828800"/>
          </a:xfrm>
          <a:prstGeom prst="ellipse">
            <a:avLst/>
          </a:prstGeom>
          <a:ln w="127000">
            <a:solidFill>
              <a:srgbClr val="F2B8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01000" y="347472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675120" y="4937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MODERADO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75120" y="53035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HRV 4 días bajo tu base. Baja la carga 24-48 h.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BioPulse  ·  Predictive Biometric Analytics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068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SOMOS DISTINTOS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Ellos te dan el dato.</a:t>
            </a:r>
            <a:endParaRPr lang="en-US" sz="3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Nosotros te decimos qué hacer.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57800" cy="2286000"/>
          </a:xfrm>
          <a:prstGeom prst="roundRect">
            <a:avLst>
              <a:gd name="adj" fmla="val 4800"/>
            </a:avLst>
          </a:prstGeom>
          <a:solidFill>
            <a:srgbClr val="0D1B2A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AA0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WHOOP · FITBIT · APPLE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6060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Millones de números y gráficas
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Promedios estáticos que tú interpretas
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Tú solo descubres lo malo cuando ya pasó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257800" cy="2286000"/>
          </a:xfrm>
          <a:prstGeom prst="roundRect">
            <a:avLst>
              <a:gd name="adj" fmla="val 4800"/>
            </a:avLst>
          </a:prstGeom>
          <a:solidFill>
            <a:srgbClr val="0D1B2A"/>
          </a:solidFill>
          <a:ln w="12700">
            <a:solidFill>
              <a:srgbClr val="4FD8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4FD8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BIOPULSE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92240" y="26060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 índice de riesgo en lenguaje claro
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 por qué, con tus propias métricas
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Una acción concreta antes de que pase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43484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101F30"/>
          </a:solidFill>
          <a:ln w="12700">
            <a:solidFill>
              <a:srgbClr val="F06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61772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F068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NUESTRO FOCO  ·  </a:t>
            </a:r>
            <a:pPr algn="l" indent="0" marL="0">
              <a:buNone/>
            </a:pPr>
            <a:r>
              <a:rPr lang="en-US" sz="20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coach accionable personalizado.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alerta se compone con TUS datos del día (no es un texto fijo). Convertir datos en comportamiento es donde está el valor de mercado — y donde ellos no compiten.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BioPulse  ·  Predictive Biometric Analytics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4FD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una idea en papel. Ya funciona.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101F30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4FD8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14400" y="30632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vivo y operando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datos reales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80560" y="18288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101F30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2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100k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754880" y="30632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wearable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reales ya procesados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321040" y="18288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101F30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9BA8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595360" y="30632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motores de señal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validados y combinados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0D1B2A"/>
          </a:solidFill>
          <a:ln w="12700">
            <a:solidFill>
              <a:srgbClr val="4FD8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38912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4FD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 EXISTE  ·  </a:t>
            </a:r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Tenemos una app funcionando, modelos entrenados y validados, y un índice de riesgo que corre de extremo a extremo. El riesgo de ejecución ya bajó: lo que sigue es escalar, no inventar.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BioPulse  ·  Predictive Biometric Analytics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9BA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 (EN SIMPLE)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motores, una sola señal que entiendes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101F30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03120"/>
            <a:ext cx="594360" cy="594360"/>
          </a:xfrm>
          <a:prstGeom prst="ellipse">
            <a:avLst/>
          </a:prstGeom>
          <a:solidFill>
            <a:srgbClr val="4FD8C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línea 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tus métricas de hoy contra tu propio promedio de 7 días. Si tu “yo normal” cambia, avisamos.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182880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101F30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2103120"/>
            <a:ext cx="594360" cy="594360"/>
          </a:xfrm>
          <a:prstGeom prst="ellipse">
            <a:avLst/>
          </a:prstGeom>
          <a:solidFill>
            <a:srgbClr val="9BA8F2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48640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cuerpo perdiendo flexibilidad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54880" y="2926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 cuánta variedad hay en tu ritmo cardíaco. Menos variedad = más rigidez = señal temprana.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21040" y="182880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101F30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95360" y="2103120"/>
            <a:ext cx="594360" cy="594360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32688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 expertos votando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595360" y="2926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modelo de árboles aprende qué variable importa y valida la alerta con datos reales.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937760"/>
            <a:ext cx="10881360" cy="1097280"/>
          </a:xfrm>
          <a:prstGeom prst="roundRect">
            <a:avLst>
              <a:gd name="adj" fmla="val 10000"/>
            </a:avLst>
          </a:prstGeom>
          <a:solidFill>
            <a:srgbClr val="0D1B2A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0749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4FD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 · 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motor suma hasta 25 puntos. El total (0-100) define BAJO / MODERADO / ALTO y dispara la alerta con su causa.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BioPulse  ·  Predictive Biometric Analytics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4FD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Esto es ciencia de verdad, no humo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101F30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4FD8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14400" y="29718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de discriminación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datos reales (100k)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80560" y="18288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101F30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20574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9BA8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5-fold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754880" y="29718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estable, no suerte de un split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321040" y="18288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101F30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0" y="20574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2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Honestos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8595360" y="29718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mostramos la matriz de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confusión, falsos positivos incluidos</a:t>
            </a:r>
            <a:endParaRPr lang="en-US" sz="1350" dirty="0"/>
          </a:p>
        </p:txBody>
      </p:sp>
      <p:pic>
        <p:nvPicPr>
          <p:cNvPr id="13" name="Image 0" descr="C:\Users\ecard\OneDrive\Escritorio\BIOPULSE PROYECTO CIENCIA DE DATOS\.worktrees\pitch\files\feature_importance_r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23360"/>
            <a:ext cx="3453003" cy="242316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434840" y="4023360"/>
            <a:ext cx="7086600" cy="2423160"/>
          </a:xfrm>
          <a:prstGeom prst="roundRect">
            <a:avLst>
              <a:gd name="adj" fmla="val 4528"/>
            </a:avLst>
          </a:prstGeom>
          <a:solidFill>
            <a:srgbClr val="0D1B2A"/>
          </a:solidFill>
          <a:ln w="12700">
            <a:solidFill>
              <a:srgbClr val="1D334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63440" y="4160520"/>
            <a:ext cx="66294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4FD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CONFIAR  ·  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aprendió solo que la temperatura de piel y la recuperación son las señales más predictivas — justo lo que dice la literatura clínica sobre infecciones y fatiga tempranas. La máquina coincide con los médicos.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BioPulse  ·  Predictive Biometric Analytics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ventana abierta, justo ahora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101F30"/>
          </a:solidFill>
          <a:ln w="12700">
            <a:solidFill>
              <a:srgbClr val="4FD8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48840"/>
            <a:ext cx="548640" cy="548640"/>
          </a:xfrm>
          <a:prstGeom prst="ellipse">
            <a:avLst/>
          </a:prstGeom>
          <a:solidFill>
            <a:srgbClr val="4FD8C4"/>
          </a:solidFill>
          <a:ln/>
        </p:spPr>
      </p:sp>
      <p:sp>
        <p:nvSpPr>
          <p:cNvPr id="6" name="Text 4"/>
          <p:cNvSpPr/>
          <p:nvPr/>
        </p:nvSpPr>
        <p:spPr>
          <a:xfrm>
            <a:off x="1600200" y="2148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Wearables en auge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vez más relojes y pulseras inteligentes en muñecas; la demanda de “más que pasos” crece.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80560" y="182880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101F30"/>
          </a:solidFill>
          <a:ln w="12700">
            <a:solidFill>
              <a:srgbClr val="F068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0" y="2148840"/>
            <a:ext cx="548640" cy="548640"/>
          </a:xfrm>
          <a:prstGeom prst="ellipse">
            <a:avLst/>
          </a:prstGeom>
          <a:solidFill>
            <a:srgbClr val="F0687A"/>
          </a:solidFill>
          <a:ln/>
        </p:spPr>
      </p:sp>
      <p:sp>
        <p:nvSpPr>
          <p:cNvPr id="10" name="Text 8"/>
          <p:cNvSpPr/>
          <p:nvPr/>
        </p:nvSpPr>
        <p:spPr>
          <a:xfrm>
            <a:off x="5440680" y="2148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Población que envejece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54880" y="297180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adultos mayores, más caídas e infecciones prevenibles que el sistema no detecta a tiempo.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321040" y="182880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101F30"/>
          </a:solidFill>
          <a:ln w="12700">
            <a:solidFill>
              <a:srgbClr val="9BA8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95360" y="2148840"/>
            <a:ext cx="548640" cy="548640"/>
          </a:xfrm>
          <a:prstGeom prst="ellipse">
            <a:avLst/>
          </a:prstGeom>
          <a:solidFill>
            <a:srgbClr val="9BA8F2"/>
          </a:solidFill>
          <a:ln/>
        </p:spPr>
      </p:sp>
      <p:sp>
        <p:nvSpPr>
          <p:cNvPr id="14" name="Text 12"/>
          <p:cNvSpPr/>
          <p:nvPr/>
        </p:nvSpPr>
        <p:spPr>
          <a:xfrm>
            <a:off x="9281160" y="2148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cuello de botella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95360" y="297180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 de IA predictiva de salud está vacía. El hardware existe; la inteligencia no.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49377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i="1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hardware ya está en la muñeca de millones. Solo falta la capa que convierta esos datos en cuidado. Esa capa somos nosotros.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BioPulse  ·  Predictive Biometric Analytics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4FD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formas de ganar, un mismo motor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3657600"/>
          </a:xfrm>
          <a:prstGeom prst="roundRect">
            <a:avLst>
              <a:gd name="adj" fmla="val 3000"/>
            </a:avLst>
          </a:prstGeom>
          <a:solidFill>
            <a:srgbClr val="0D1B2A"/>
          </a:solidFill>
          <a:ln w="12700">
            <a:solidFill>
              <a:srgbClr val="4FD8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D8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B2C · Suscripción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2834640"/>
            <a:ext cx="256032" cy="256032"/>
          </a:xfrm>
          <a:prstGeom prst="ellipse">
            <a:avLst/>
          </a:prstGeom>
          <a:solidFill>
            <a:srgbClr val="4FD8C4"/>
          </a:solidFill>
          <a:ln/>
        </p:spPr>
      </p:sp>
      <p:sp>
        <p:nvSpPr>
          <p:cNvPr id="7" name="Text 5"/>
          <p:cNvSpPr/>
          <p:nvPr/>
        </p:nvSpPr>
        <p:spPr>
          <a:xfrm>
            <a:off x="1325880" y="278892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 pago mensual para el usuario final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3611880"/>
            <a:ext cx="256032" cy="256032"/>
          </a:xfrm>
          <a:prstGeom prst="ellipse">
            <a:avLst/>
          </a:prstGeom>
          <a:solidFill>
            <a:srgbClr val="4FD8C4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356616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familiar: cuida a tus mayores a distancia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4389120"/>
            <a:ext cx="256032" cy="256032"/>
          </a:xfrm>
          <a:prstGeom prst="ellipse">
            <a:avLst/>
          </a:prstGeom>
          <a:solidFill>
            <a:srgbClr val="4FD8C4"/>
          </a:solidFill>
          <a:ln/>
        </p:spPr>
      </p:sp>
      <p:sp>
        <p:nvSpPr>
          <p:cNvPr id="11" name="Text 9"/>
          <p:cNvSpPr/>
          <p:nvPr/>
        </p:nvSpPr>
        <p:spPr>
          <a:xfrm>
            <a:off x="1325880" y="43434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con el wearable que ya tienes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63640" y="1828800"/>
            <a:ext cx="5257800" cy="3657600"/>
          </a:xfrm>
          <a:prstGeom prst="roundRect">
            <a:avLst>
              <a:gd name="adj" fmla="val 3000"/>
            </a:avLst>
          </a:prstGeom>
          <a:solidFill>
            <a:srgbClr val="0D1B2A"/>
          </a:solidFill>
          <a:ln w="12700">
            <a:solidFill>
              <a:srgbClr val="F2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20574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 · Datos y riesgo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537960" y="2834640"/>
            <a:ext cx="256032" cy="25603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278892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Aseguradoras: menos caídas = menos pagos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537960" y="3611880"/>
            <a:ext cx="256032" cy="25603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0" y="356616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Geriátricos y clínicas: alerta temprana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37960" y="4389120"/>
            <a:ext cx="256032" cy="25603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0" y="43434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Bienestar corporativo: prevenir bajas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6692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tecnología alimenta ambos ingresos: mientras más usuarios, mejor el modelo; mientras mejor el modelo, más clientes B2B.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BioPulse  ·  Predictive Biometric Analytics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4FD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INVERSIÓN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A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buscamos y para qué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0D1B2A"/>
          </a:solidFill>
          <a:ln w="12700">
            <a:solidFill>
              <a:srgbClr val="4FD8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488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FD8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$X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 Serie Semilla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0560" y="18288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0D1B2A"/>
          </a:solidFill>
          <a:ln w="12700">
            <a:solidFill>
              <a:srgbClr val="F2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21488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5-8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754880" y="31089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directa + datos en vivo + despliegue en la nube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321040" y="18288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0D1B2A"/>
          </a:solidFill>
          <a:ln w="12700">
            <a:solidFill>
              <a:srgbClr val="F06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0" y="21488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068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595360" y="31089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Llevar el MVP a usuarios reales y crecer el modelo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101F30"/>
          </a:solidFill>
          <a:ln w="12700">
            <a:solidFill>
              <a:srgbClr val="4FD8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38912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4FD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AHORA  ·  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 funciona, los modelos están validados y el mercado de wearables no para de crecer. El siguiente paso es integrar los datos en vivo y escalar. Ese es el momento de entrar.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A0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BioPulse  ·  Predictive Biometric Analytics  ·  gracias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BioPulse  ·  Predictive Biometric Analytics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2026-08-02T17:19:57Z</dcterms:created>
  <dcterms:modified xsi:type="dcterms:W3CDTF">2026-08-02T17:19:57Z</dcterms:modified>
</cp:coreProperties>
</file>